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 id="302" r:id="rId14"/>
    <p:sldId id="303" r:id="rId15"/>
    <p:sldId id="314" r:id="rId16"/>
    <p:sldId id="317" r:id="rId17"/>
    <p:sldId id="320" r:id="rId18"/>
    <p:sldId id="319" r:id="rId19"/>
    <p:sldId id="318" r:id="rId20"/>
    <p:sldId id="316" r:id="rId21"/>
  </p:sldIdLst>
  <p:sldSz cx="18288000" cy="10287000"/>
  <p:notesSz cx="6858000" cy="9144000"/>
  <p:embeddedFontLst>
    <p:embeddedFont>
      <p:font typeface="Canva Sans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82" autoAdjust="0"/>
    <p:restoredTop sz="94622" autoAdjust="0"/>
  </p:normalViewPr>
  <p:slideViewPr>
    <p:cSldViewPr>
      <p:cViewPr varScale="1">
        <p:scale>
          <a:sx n="42" d="100"/>
          <a:sy n="42" d="100"/>
        </p:scale>
        <p:origin x="68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F314E-E8B8-F1AB-DB75-D2009FED5E9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7C81D4C-C0D6-8D33-E955-89EEACD4A4F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A54BDC6-54C1-D469-974E-6C24486CE97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4AAA4C5-7A4E-A704-52DF-3A80438CC45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BD9B53A-8E2C-9B20-6219-944C742DA57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07E7B91F-6F31-13B4-255A-22FC164CE17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BB1628E-32CF-2ADF-FD18-15678C6C8E3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604677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EC6B6-ED92-AB18-588B-816917A03D1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70292C-2CA6-9B76-5125-E390F5FFE05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BCAA3F1-635F-F99B-452A-2B25E91F9C5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976E567-DD57-0345-169C-31F9DF82AA9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DA0076F-A9DD-6F3A-2052-AFAF3CBFBBB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4439F1B2-1D24-2FEA-4302-6D196B05AAA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5D7CF2F-B590-7AAB-CDDA-197310EBC85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715139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81FBD-CE1A-1BFF-78F3-241893E8B8E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17CF12-E2A5-A9E4-8538-8C84D6EE0C6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75D7D31-C6C6-2B77-49A0-B98ADAEA1F7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ABE843F-1945-6EFB-9081-77614FE024B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44D0023-BF80-62BA-C952-BD2AB2D855C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259DDB99-B379-EC5A-2A05-A99A22CF30C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8B4FDF5-22AF-C7B1-3E60-5BDDF7C908F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4926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5ED48-B92F-8ED7-BA56-AF4F11BBE14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E5BB680-C05D-9959-7632-AE72B7F87A5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F0B9885-CCBE-882C-A676-6931B137E35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125AEAE-C593-0AA2-5965-A2431B35156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1363765-8A18-0A55-C8AF-D8377725C64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DD44FFF0-7991-81AA-E0B3-8B68A01DC71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5D36268-CDBC-863B-9601-67C4D33B5E8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839563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1.png"/><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8.jpeg"/><Relationship Id="rId11" Type="http://schemas.openxmlformats.org/officeDocument/2006/relationships/image" Target="../media/image13.jpeg"/><Relationship Id="rId5" Type="http://schemas.openxmlformats.org/officeDocument/2006/relationships/image" Target="../media/image3.png"/><Relationship Id="rId10" Type="http://schemas.openxmlformats.org/officeDocument/2006/relationships/image" Target="../media/image12.jpeg"/><Relationship Id="rId4" Type="http://schemas.openxmlformats.org/officeDocument/2006/relationships/image" Target="../media/image2.png"/><Relationship Id="rId9" Type="http://schemas.openxmlformats.org/officeDocument/2006/relationships/image" Target="../media/image11.jpg"/></Relationships>
</file>

<file path=ppt/slides/_rels/slide15.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png"/><Relationship Id="rId7" Type="http://schemas.openxmlformats.org/officeDocument/2006/relationships/image" Target="../media/image16.jpeg"/><Relationship Id="rId12"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5.jpeg"/><Relationship Id="rId11" Type="http://schemas.openxmlformats.org/officeDocument/2006/relationships/image" Target="../media/image20.png"/><Relationship Id="rId5" Type="http://schemas.openxmlformats.org/officeDocument/2006/relationships/image" Target="../media/image3.png"/><Relationship Id="rId10" Type="http://schemas.openxmlformats.org/officeDocument/2006/relationships/image" Target="../media/image19.jpeg"/><Relationship Id="rId4" Type="http://schemas.openxmlformats.org/officeDocument/2006/relationships/image" Target="../media/image2.png"/><Relationship Id="rId9" Type="http://schemas.openxmlformats.org/officeDocument/2006/relationships/image" Target="../media/image18.jpeg"/></Relationships>
</file>

<file path=ppt/slides/_rels/slide16.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png"/><Relationship Id="rId7" Type="http://schemas.openxmlformats.org/officeDocument/2006/relationships/image" Target="../media/image16.jpeg"/><Relationship Id="rId12"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5.jpeg"/><Relationship Id="rId11" Type="http://schemas.openxmlformats.org/officeDocument/2006/relationships/image" Target="../media/image20.png"/><Relationship Id="rId5" Type="http://schemas.openxmlformats.org/officeDocument/2006/relationships/image" Target="../media/image3.png"/><Relationship Id="rId10" Type="http://schemas.openxmlformats.org/officeDocument/2006/relationships/image" Target="../media/image19.jpeg"/><Relationship Id="rId4" Type="http://schemas.openxmlformats.org/officeDocument/2006/relationships/image" Target="../media/image2.png"/><Relationship Id="rId9" Type="http://schemas.openxmlformats.org/officeDocument/2006/relationships/image" Target="../media/image18.jpeg"/></Relationships>
</file>

<file path=ppt/slides/_rels/slide17.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png"/><Relationship Id="rId7" Type="http://schemas.openxmlformats.org/officeDocument/2006/relationships/image" Target="../media/image16.jpeg"/><Relationship Id="rId12"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5.jpeg"/><Relationship Id="rId11" Type="http://schemas.openxmlformats.org/officeDocument/2006/relationships/image" Target="../media/image20.png"/><Relationship Id="rId5" Type="http://schemas.openxmlformats.org/officeDocument/2006/relationships/image" Target="../media/image3.png"/><Relationship Id="rId10" Type="http://schemas.openxmlformats.org/officeDocument/2006/relationships/image" Target="../media/image19.jpeg"/><Relationship Id="rId4" Type="http://schemas.openxmlformats.org/officeDocument/2006/relationships/image" Target="../media/image2.png"/><Relationship Id="rId9" Type="http://schemas.openxmlformats.org/officeDocument/2006/relationships/image" Target="../media/image18.jpeg"/></Relationships>
</file>

<file path=ppt/slides/_rels/slide18.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png"/><Relationship Id="rId7" Type="http://schemas.openxmlformats.org/officeDocument/2006/relationships/image" Target="../media/image16.jpeg"/><Relationship Id="rId12"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5.jpeg"/><Relationship Id="rId11" Type="http://schemas.openxmlformats.org/officeDocument/2006/relationships/image" Target="../media/image20.png"/><Relationship Id="rId5" Type="http://schemas.openxmlformats.org/officeDocument/2006/relationships/image" Target="../media/image3.png"/><Relationship Id="rId10" Type="http://schemas.openxmlformats.org/officeDocument/2006/relationships/image" Target="../media/image19.jpeg"/><Relationship Id="rId4" Type="http://schemas.openxmlformats.org/officeDocument/2006/relationships/image" Target="../media/image2.png"/><Relationship Id="rId9" Type="http://schemas.openxmlformats.org/officeDocument/2006/relationships/image" Target="../media/image18.jpeg"/></Relationships>
</file>

<file path=ppt/slides/_rels/slide19.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png"/><Relationship Id="rId7" Type="http://schemas.openxmlformats.org/officeDocument/2006/relationships/image" Target="../media/image16.jpeg"/><Relationship Id="rId12"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5.jpeg"/><Relationship Id="rId11" Type="http://schemas.openxmlformats.org/officeDocument/2006/relationships/image" Target="../media/image20.png"/><Relationship Id="rId5" Type="http://schemas.openxmlformats.org/officeDocument/2006/relationships/image" Target="../media/image3.png"/><Relationship Id="rId10" Type="http://schemas.openxmlformats.org/officeDocument/2006/relationships/image" Target="../media/image19.jpeg"/><Relationship Id="rId4" Type="http://schemas.openxmlformats.org/officeDocument/2006/relationships/image" Target="../media/image2.png"/><Relationship Id="rId9" Type="http://schemas.openxmlformats.org/officeDocument/2006/relationships/image" Target="../media/image18.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sp>
        <p:nvSpPr>
          <p:cNvPr id="6" name="TextBox 6"/>
          <p:cNvSpPr txBox="1"/>
          <p:nvPr/>
        </p:nvSpPr>
        <p:spPr>
          <a:xfrm>
            <a:off x="4800600" y="3651597"/>
            <a:ext cx="9243655" cy="1459246"/>
          </a:xfrm>
          <a:prstGeom prst="rect">
            <a:avLst/>
          </a:prstGeom>
        </p:spPr>
        <p:txBody>
          <a:bodyPr wrap="square" lIns="0" tIns="0" rIns="0" bIns="0" rtlCol="0" anchor="t">
            <a:spAutoFit/>
          </a:bodyPr>
          <a:lstStyle/>
          <a:p>
            <a:pPr algn="ctr">
              <a:lnSpc>
                <a:spcPts val="12880"/>
              </a:lnSpc>
            </a:pPr>
            <a:r>
              <a:rPr lang="en-US" sz="6600" b="1" dirty="0">
                <a:solidFill>
                  <a:srgbClr val="336EA8"/>
                </a:solidFill>
                <a:latin typeface="Canva Sans Bold"/>
                <a:ea typeface="Canva Sans Bold"/>
                <a:cs typeface="Canva Sans Bold"/>
                <a:sym typeface="Canva Sans Bold"/>
              </a:rPr>
              <a:t>Manufacturing Project</a:t>
            </a:r>
          </a:p>
        </p:txBody>
      </p:sp>
      <p:sp>
        <p:nvSpPr>
          <p:cNvPr id="7" name="TextBox 7"/>
          <p:cNvSpPr txBox="1"/>
          <p:nvPr/>
        </p:nvSpPr>
        <p:spPr>
          <a:xfrm>
            <a:off x="6410433" y="5339983"/>
            <a:ext cx="5467134" cy="612502"/>
          </a:xfrm>
          <a:prstGeom prst="rect">
            <a:avLst/>
          </a:prstGeom>
        </p:spPr>
        <p:txBody>
          <a:bodyPr lIns="0" tIns="0" rIns="0" bIns="0" rtlCol="0" anchor="t">
            <a:spAutoFit/>
          </a:bodyPr>
          <a:lstStyle/>
          <a:p>
            <a:pPr algn="ctr">
              <a:lnSpc>
                <a:spcPts val="5090"/>
              </a:lnSpc>
            </a:pPr>
            <a:r>
              <a:rPr lang="en-US" sz="3635" b="1" dirty="0">
                <a:solidFill>
                  <a:srgbClr val="0FAB7D"/>
                </a:solidFill>
                <a:latin typeface="Canva Sans Bold"/>
                <a:ea typeface="Canva Sans Bold"/>
                <a:cs typeface="Canva Sans Bold"/>
                <a:sym typeface="Canva Sans Bold"/>
              </a:rPr>
              <a:t>By Mohamed Emad</a:t>
            </a:r>
          </a:p>
        </p:txBody>
      </p:sp>
      <p:pic>
        <p:nvPicPr>
          <p:cNvPr id="12" name="Picture 11">
            <a:extLst>
              <a:ext uri="{FF2B5EF4-FFF2-40B4-BE49-F238E27FC236}">
                <a16:creationId xmlns:a16="http://schemas.microsoft.com/office/drawing/2014/main" id="{C1E39C4C-F460-27CF-2A2B-C769387F776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8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347741" y="4999489"/>
            <a:ext cx="6948552" cy="1291840"/>
            <a:chOff x="0" y="0"/>
            <a:chExt cx="1830071" cy="340238"/>
          </a:xfrm>
        </p:grpSpPr>
        <p:sp>
          <p:nvSpPr>
            <p:cNvPr id="7" name="Freeform 7"/>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8" name="TextBox 8"/>
            <p:cNvSpPr txBox="1"/>
            <p:nvPr/>
          </p:nvSpPr>
          <p:spPr>
            <a:xfrm>
              <a:off x="0" y="-38100"/>
              <a:ext cx="1830071" cy="378338"/>
            </a:xfrm>
            <a:prstGeom prst="rect">
              <a:avLst/>
            </a:prstGeom>
          </p:spPr>
          <p:txBody>
            <a:bodyPr lIns="50800" tIns="50800" rIns="50800" bIns="50800" rtlCol="0" anchor="ctr"/>
            <a:lstStyle/>
            <a:p>
              <a:pPr algn="ctr">
                <a:lnSpc>
                  <a:spcPts val="2879"/>
                </a:lnSpc>
              </a:pPr>
              <a:endParaRPr/>
            </a:p>
          </p:txBody>
        </p:sp>
      </p:grpSp>
      <p:sp>
        <p:nvSpPr>
          <p:cNvPr id="9" name="TextBox 9"/>
          <p:cNvSpPr txBox="1"/>
          <p:nvPr/>
        </p:nvSpPr>
        <p:spPr>
          <a:xfrm>
            <a:off x="398537" y="5141219"/>
            <a:ext cx="6846960" cy="903605"/>
          </a:xfrm>
          <a:prstGeom prst="rect">
            <a:avLst/>
          </a:prstGeom>
        </p:spPr>
        <p:txBody>
          <a:bodyPr lIns="0" tIns="0" rIns="0" bIns="0" rtlCol="0" anchor="t">
            <a:spAutoFit/>
          </a:bodyPr>
          <a:lstStyle/>
          <a:p>
            <a:pPr algn="ctr">
              <a:lnSpc>
                <a:spcPts val="7419"/>
              </a:lnSpc>
            </a:pPr>
            <a:r>
              <a:rPr lang="en-US" sz="5299" b="1">
                <a:solidFill>
                  <a:srgbClr val="336EA8"/>
                </a:solidFill>
                <a:latin typeface="Canva Sans Bold"/>
                <a:ea typeface="Canva Sans Bold"/>
                <a:cs typeface="Canva Sans Bold"/>
                <a:sym typeface="Canva Sans Bold"/>
              </a:rPr>
              <a:t>Project Wireframe</a:t>
            </a:r>
          </a:p>
        </p:txBody>
      </p:sp>
      <p:grpSp>
        <p:nvGrpSpPr>
          <p:cNvPr id="10" name="Group 10"/>
          <p:cNvGrpSpPr/>
          <p:nvPr/>
        </p:nvGrpSpPr>
        <p:grpSpPr>
          <a:xfrm>
            <a:off x="9062697" y="4930890"/>
            <a:ext cx="6948552" cy="1291840"/>
            <a:chOff x="0" y="0"/>
            <a:chExt cx="9264737" cy="1722453"/>
          </a:xfrm>
        </p:grpSpPr>
        <p:grpSp>
          <p:nvGrpSpPr>
            <p:cNvPr id="11" name="Group 11"/>
            <p:cNvGrpSpPr/>
            <p:nvPr/>
          </p:nvGrpSpPr>
          <p:grpSpPr>
            <a:xfrm>
              <a:off x="0" y="0"/>
              <a:ext cx="9264737" cy="1722453"/>
              <a:chOff x="0" y="0"/>
              <a:chExt cx="1830071" cy="340238"/>
            </a:xfrm>
          </p:grpSpPr>
          <p:sp>
            <p:nvSpPr>
              <p:cNvPr id="12" name="Freeform 12"/>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13" name="TextBox 13"/>
              <p:cNvSpPr txBox="1"/>
              <p:nvPr/>
            </p:nvSpPr>
            <p:spPr>
              <a:xfrm>
                <a:off x="0" y="-38100"/>
                <a:ext cx="1830071" cy="378338"/>
              </a:xfrm>
              <a:prstGeom prst="rect">
                <a:avLst/>
              </a:prstGeom>
            </p:spPr>
            <p:txBody>
              <a:bodyPr lIns="50800" tIns="50800" rIns="50800" bIns="50800" rtlCol="0" anchor="ctr"/>
              <a:lstStyle/>
              <a:p>
                <a:pPr algn="ctr">
                  <a:lnSpc>
                    <a:spcPts val="2879"/>
                  </a:lnSpc>
                </a:pPr>
                <a:endParaRPr/>
              </a:p>
            </p:txBody>
          </p:sp>
        </p:grpSp>
        <p:sp>
          <p:nvSpPr>
            <p:cNvPr id="14" name="Freeform 14"/>
            <p:cNvSpPr/>
            <p:nvPr/>
          </p:nvSpPr>
          <p:spPr>
            <a:xfrm>
              <a:off x="711390" y="123289"/>
              <a:ext cx="1481799" cy="1481799"/>
            </a:xfrm>
            <a:custGeom>
              <a:avLst/>
              <a:gdLst/>
              <a:ahLst/>
              <a:cxnLst/>
              <a:rect l="l" t="t" r="r" b="b"/>
              <a:pathLst>
                <a:path w="1481799" h="1481799">
                  <a:moveTo>
                    <a:pt x="0" y="0"/>
                  </a:moveTo>
                  <a:lnTo>
                    <a:pt x="1481799" y="0"/>
                  </a:lnTo>
                  <a:lnTo>
                    <a:pt x="1481799" y="1481799"/>
                  </a:lnTo>
                  <a:lnTo>
                    <a:pt x="0" y="1481799"/>
                  </a:lnTo>
                  <a:lnTo>
                    <a:pt x="0" y="0"/>
                  </a:lnTo>
                  <a:close/>
                </a:path>
              </a:pathLst>
            </a:custGeom>
            <a:blipFill>
              <a:blip r:embed="rId6"/>
              <a:stretch>
                <a:fillRect/>
              </a:stretch>
            </a:blipFill>
          </p:spPr>
          <p:txBody>
            <a:bodyPr/>
            <a:lstStyle/>
            <a:p>
              <a:endParaRPr lang="en-US"/>
            </a:p>
          </p:txBody>
        </p:sp>
        <p:sp>
          <p:nvSpPr>
            <p:cNvPr id="15" name="TextBox 15"/>
            <p:cNvSpPr txBox="1"/>
            <p:nvPr/>
          </p:nvSpPr>
          <p:spPr>
            <a:xfrm>
              <a:off x="2997318" y="307955"/>
              <a:ext cx="4351595" cy="1038318"/>
            </a:xfrm>
            <a:prstGeom prst="rect">
              <a:avLst/>
            </a:prstGeom>
          </p:spPr>
          <p:txBody>
            <a:bodyPr wrap="square" lIns="0" tIns="0" rIns="0" bIns="0" rtlCol="0" anchor="t">
              <a:spAutoFit/>
            </a:bodyPr>
            <a:lstStyle/>
            <a:p>
              <a:pPr algn="ctr">
                <a:lnSpc>
                  <a:spcPts val="6494"/>
                </a:lnSpc>
                <a:spcBef>
                  <a:spcPct val="0"/>
                </a:spcBef>
              </a:pPr>
              <a:r>
                <a:rPr lang="en-US" sz="4638" b="1" dirty="0">
                  <a:solidFill>
                    <a:srgbClr val="336EA8"/>
                  </a:solidFill>
                  <a:latin typeface="Canva Sans Bold"/>
                  <a:ea typeface="Canva Sans Bold"/>
                  <a:cs typeface="Canva Sans Bold"/>
                  <a:sym typeface="Canva Sans Bold"/>
                </a:rPr>
                <a:t>Dashboard</a:t>
              </a:r>
            </a:p>
          </p:txBody>
        </p:sp>
      </p:grpSp>
      <p:grpSp>
        <p:nvGrpSpPr>
          <p:cNvPr id="28" name="Group 28"/>
          <p:cNvGrpSpPr/>
          <p:nvPr/>
        </p:nvGrpSpPr>
        <p:grpSpPr>
          <a:xfrm>
            <a:off x="9055957" y="7081933"/>
            <a:ext cx="6948552" cy="1291840"/>
            <a:chOff x="0" y="0"/>
            <a:chExt cx="9264737" cy="1722453"/>
          </a:xfrm>
        </p:grpSpPr>
        <p:grpSp>
          <p:nvGrpSpPr>
            <p:cNvPr id="29" name="Group 29"/>
            <p:cNvGrpSpPr/>
            <p:nvPr/>
          </p:nvGrpSpPr>
          <p:grpSpPr>
            <a:xfrm>
              <a:off x="0" y="0"/>
              <a:ext cx="9264737" cy="1722453"/>
              <a:chOff x="0" y="0"/>
              <a:chExt cx="1830071" cy="340238"/>
            </a:xfrm>
          </p:grpSpPr>
          <p:sp>
            <p:nvSpPr>
              <p:cNvPr id="30" name="Freeform 30"/>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31" name="TextBox 31"/>
              <p:cNvSpPr txBox="1"/>
              <p:nvPr/>
            </p:nvSpPr>
            <p:spPr>
              <a:xfrm>
                <a:off x="0" y="-38100"/>
                <a:ext cx="1830071" cy="378338"/>
              </a:xfrm>
              <a:prstGeom prst="rect">
                <a:avLst/>
              </a:prstGeom>
            </p:spPr>
            <p:txBody>
              <a:bodyPr lIns="50800" tIns="50800" rIns="50800" bIns="50800" rtlCol="0" anchor="ctr"/>
              <a:lstStyle/>
              <a:p>
                <a:pPr algn="ctr">
                  <a:lnSpc>
                    <a:spcPts val="2879"/>
                  </a:lnSpc>
                </a:pPr>
                <a:endParaRPr/>
              </a:p>
            </p:txBody>
          </p:sp>
        </p:grpSp>
        <p:sp>
          <p:nvSpPr>
            <p:cNvPr id="32" name="Freeform 32"/>
            <p:cNvSpPr/>
            <p:nvPr/>
          </p:nvSpPr>
          <p:spPr>
            <a:xfrm>
              <a:off x="434927" y="127000"/>
              <a:ext cx="2562391" cy="1441345"/>
            </a:xfrm>
            <a:custGeom>
              <a:avLst/>
              <a:gdLst/>
              <a:ahLst/>
              <a:cxnLst/>
              <a:rect l="l" t="t" r="r" b="b"/>
              <a:pathLst>
                <a:path w="2562391" h="1441345">
                  <a:moveTo>
                    <a:pt x="0" y="0"/>
                  </a:moveTo>
                  <a:lnTo>
                    <a:pt x="2562391" y="0"/>
                  </a:lnTo>
                  <a:lnTo>
                    <a:pt x="2562391" y="1441345"/>
                  </a:lnTo>
                  <a:lnTo>
                    <a:pt x="0" y="1441345"/>
                  </a:lnTo>
                  <a:lnTo>
                    <a:pt x="0" y="0"/>
                  </a:lnTo>
                  <a:close/>
                </a:path>
              </a:pathLst>
            </a:custGeom>
            <a:blipFill>
              <a:blip r:embed="rId7"/>
              <a:stretch>
                <a:fillRect/>
              </a:stretch>
            </a:blipFill>
          </p:spPr>
          <p:txBody>
            <a:bodyPr/>
            <a:lstStyle/>
            <a:p>
              <a:endParaRPr lang="en-US"/>
            </a:p>
          </p:txBody>
        </p:sp>
        <p:sp>
          <p:nvSpPr>
            <p:cNvPr id="33" name="TextBox 33"/>
            <p:cNvSpPr txBox="1"/>
            <p:nvPr/>
          </p:nvSpPr>
          <p:spPr>
            <a:xfrm>
              <a:off x="3629878" y="294401"/>
              <a:ext cx="4328635" cy="1038318"/>
            </a:xfrm>
            <a:prstGeom prst="rect">
              <a:avLst/>
            </a:prstGeom>
          </p:spPr>
          <p:txBody>
            <a:bodyPr wrap="square" lIns="0" tIns="0" rIns="0" bIns="0" rtlCol="0" anchor="t">
              <a:spAutoFit/>
            </a:bodyPr>
            <a:lstStyle/>
            <a:p>
              <a:pPr algn="ctr">
                <a:lnSpc>
                  <a:spcPts val="6494"/>
                </a:lnSpc>
                <a:spcBef>
                  <a:spcPct val="0"/>
                </a:spcBef>
              </a:pPr>
              <a:r>
                <a:rPr lang="en-US" sz="4638" b="1" dirty="0">
                  <a:solidFill>
                    <a:srgbClr val="336EA8"/>
                  </a:solidFill>
                  <a:latin typeface="Canva Sans Bold"/>
                  <a:ea typeface="Canva Sans Bold"/>
                  <a:cs typeface="Canva Sans Bold"/>
                  <a:sym typeface="Canva Sans Bold"/>
                </a:rPr>
                <a:t>Dashboard</a:t>
              </a:r>
            </a:p>
          </p:txBody>
        </p:sp>
      </p:grpSp>
      <p:grpSp>
        <p:nvGrpSpPr>
          <p:cNvPr id="40" name="Group 39">
            <a:extLst>
              <a:ext uri="{FF2B5EF4-FFF2-40B4-BE49-F238E27FC236}">
                <a16:creationId xmlns:a16="http://schemas.microsoft.com/office/drawing/2014/main" id="{777B6672-14AE-D556-196A-AC1D0A8A4436}"/>
              </a:ext>
            </a:extLst>
          </p:cNvPr>
          <p:cNvGrpSpPr/>
          <p:nvPr/>
        </p:nvGrpSpPr>
        <p:grpSpPr>
          <a:xfrm>
            <a:off x="9062697" y="2559147"/>
            <a:ext cx="6948552" cy="1436501"/>
            <a:chOff x="9144000" y="1307297"/>
            <a:chExt cx="6948552" cy="1436501"/>
          </a:xfrm>
        </p:grpSpPr>
        <p:grpSp>
          <p:nvGrpSpPr>
            <p:cNvPr id="34" name="Group 34"/>
            <p:cNvGrpSpPr/>
            <p:nvPr/>
          </p:nvGrpSpPr>
          <p:grpSpPr>
            <a:xfrm>
              <a:off x="9144000" y="1307297"/>
              <a:ext cx="6948552" cy="1436501"/>
              <a:chOff x="0" y="-38100"/>
              <a:chExt cx="1830071" cy="378338"/>
            </a:xfrm>
          </p:grpSpPr>
          <p:sp>
            <p:nvSpPr>
              <p:cNvPr id="35" name="Freeform 35"/>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36" name="TextBox 36"/>
              <p:cNvSpPr txBox="1"/>
              <p:nvPr/>
            </p:nvSpPr>
            <p:spPr>
              <a:xfrm>
                <a:off x="0" y="-38100"/>
                <a:ext cx="1830071" cy="378338"/>
              </a:xfrm>
              <a:prstGeom prst="rect">
                <a:avLst/>
              </a:prstGeom>
            </p:spPr>
            <p:txBody>
              <a:bodyPr lIns="50800" tIns="50800" rIns="50800" bIns="50800" rtlCol="0" anchor="ctr"/>
              <a:lstStyle/>
              <a:p>
                <a:pPr algn="ctr">
                  <a:lnSpc>
                    <a:spcPts val="2879"/>
                  </a:lnSpc>
                </a:pPr>
                <a:endParaRPr/>
              </a:p>
            </p:txBody>
          </p:sp>
        </p:grpSp>
        <p:sp>
          <p:nvSpPr>
            <p:cNvPr id="37" name="Freeform 37"/>
            <p:cNvSpPr/>
            <p:nvPr/>
          </p:nvSpPr>
          <p:spPr>
            <a:xfrm>
              <a:off x="9652258" y="1539981"/>
              <a:ext cx="1203816" cy="1203816"/>
            </a:xfrm>
            <a:custGeom>
              <a:avLst/>
              <a:gdLst/>
              <a:ahLst/>
              <a:cxnLst/>
              <a:rect l="l" t="t" r="r" b="b"/>
              <a:pathLst>
                <a:path w="1203816" h="1203816">
                  <a:moveTo>
                    <a:pt x="0" y="0"/>
                  </a:moveTo>
                  <a:lnTo>
                    <a:pt x="1203816" y="0"/>
                  </a:lnTo>
                  <a:lnTo>
                    <a:pt x="1203816" y="1203817"/>
                  </a:lnTo>
                  <a:lnTo>
                    <a:pt x="0" y="1203817"/>
                  </a:lnTo>
                  <a:lnTo>
                    <a:pt x="0" y="0"/>
                  </a:lnTo>
                  <a:close/>
                </a:path>
              </a:pathLst>
            </a:custGeom>
            <a:blipFill>
              <a:blip r:embed="rId8"/>
              <a:stretch>
                <a:fillRect/>
              </a:stretch>
            </a:blipFill>
          </p:spPr>
          <p:txBody>
            <a:bodyPr/>
            <a:lstStyle/>
            <a:p>
              <a:endParaRPr lang="en-US"/>
            </a:p>
          </p:txBody>
        </p:sp>
        <p:sp>
          <p:nvSpPr>
            <p:cNvPr id="38" name="TextBox 38"/>
            <p:cNvSpPr txBox="1"/>
            <p:nvPr/>
          </p:nvSpPr>
          <p:spPr>
            <a:xfrm>
              <a:off x="10856074" y="1718641"/>
              <a:ext cx="5122518" cy="646429"/>
            </a:xfrm>
            <a:prstGeom prst="rect">
              <a:avLst/>
            </a:prstGeom>
          </p:spPr>
          <p:txBody>
            <a:bodyPr lIns="0" tIns="0" rIns="0" bIns="0" rtlCol="0" anchor="t">
              <a:spAutoFit/>
            </a:bodyPr>
            <a:lstStyle/>
            <a:p>
              <a:pPr algn="ctr">
                <a:lnSpc>
                  <a:spcPts val="5320"/>
                </a:lnSpc>
              </a:pPr>
              <a:r>
                <a:rPr lang="en-US" sz="3800" b="1" dirty="0">
                  <a:solidFill>
                    <a:srgbClr val="336EA8"/>
                  </a:solidFill>
                  <a:latin typeface="Canva Sans Bold"/>
                  <a:ea typeface="Canva Sans Bold"/>
                  <a:cs typeface="Canva Sans Bold"/>
                  <a:sym typeface="Canva Sans Bold"/>
                </a:rPr>
                <a:t>Analysis / Dashboard</a:t>
              </a:r>
            </a:p>
          </p:txBody>
        </p:sp>
      </p:grpSp>
      <p:pic>
        <p:nvPicPr>
          <p:cNvPr id="39" name="Picture 38">
            <a:extLst>
              <a:ext uri="{FF2B5EF4-FFF2-40B4-BE49-F238E27FC236}">
                <a16:creationId xmlns:a16="http://schemas.microsoft.com/office/drawing/2014/main" id="{28D7273A-1681-0D97-E438-A6D1C1C7DD4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5669724" y="5299017"/>
            <a:ext cx="7208076" cy="1291840"/>
            <a:chOff x="0" y="0"/>
            <a:chExt cx="1830071" cy="340238"/>
          </a:xfrm>
        </p:grpSpPr>
        <p:sp>
          <p:nvSpPr>
            <p:cNvPr id="7" name="Freeform 7"/>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8" name="TextBox 8"/>
            <p:cNvSpPr txBox="1"/>
            <p:nvPr/>
          </p:nvSpPr>
          <p:spPr>
            <a:xfrm>
              <a:off x="0" y="-38100"/>
              <a:ext cx="1830071" cy="378338"/>
            </a:xfrm>
            <a:prstGeom prst="rect">
              <a:avLst/>
            </a:prstGeom>
          </p:spPr>
          <p:txBody>
            <a:bodyPr lIns="50800" tIns="50800" rIns="50800" bIns="50800" rtlCol="0" anchor="ctr"/>
            <a:lstStyle/>
            <a:p>
              <a:pPr algn="ctr">
                <a:lnSpc>
                  <a:spcPts val="2879"/>
                </a:lnSpc>
              </a:pPr>
              <a:endParaRPr/>
            </a:p>
          </p:txBody>
        </p:sp>
      </p:grpSp>
      <p:sp>
        <p:nvSpPr>
          <p:cNvPr id="10" name="TextBox 10"/>
          <p:cNvSpPr txBox="1"/>
          <p:nvPr/>
        </p:nvSpPr>
        <p:spPr>
          <a:xfrm>
            <a:off x="5669724" y="5387723"/>
            <a:ext cx="6979476" cy="1009651"/>
          </a:xfrm>
          <a:prstGeom prst="rect">
            <a:avLst/>
          </a:prstGeom>
        </p:spPr>
        <p:txBody>
          <a:bodyPr wrap="square" lIns="0" tIns="0" rIns="0" bIns="0" rtlCol="0" anchor="t">
            <a:spAutoFit/>
          </a:bodyPr>
          <a:lstStyle/>
          <a:p>
            <a:pPr algn="ctr">
              <a:lnSpc>
                <a:spcPts val="8399"/>
              </a:lnSpc>
            </a:pPr>
            <a:r>
              <a:rPr lang="en-US" sz="5999" b="1" dirty="0">
                <a:solidFill>
                  <a:srgbClr val="336EA8"/>
                </a:solidFill>
                <a:latin typeface="Canva Sans Bold"/>
                <a:ea typeface="Canva Sans Bold"/>
                <a:cs typeface="Canva Sans Bold"/>
                <a:sym typeface="Canva Sans Bold"/>
              </a:rPr>
              <a:t>Project Idea</a:t>
            </a:r>
          </a:p>
        </p:txBody>
      </p:sp>
      <p:pic>
        <p:nvPicPr>
          <p:cNvPr id="11" name="Picture 10">
            <a:extLst>
              <a:ext uri="{FF2B5EF4-FFF2-40B4-BE49-F238E27FC236}">
                <a16:creationId xmlns:a16="http://schemas.microsoft.com/office/drawing/2014/main" id="{018B532A-BF0F-038A-26E0-BA28D109E1B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
        <p:nvSpPr>
          <p:cNvPr id="13" name="TextBox 6">
            <a:extLst>
              <a:ext uri="{FF2B5EF4-FFF2-40B4-BE49-F238E27FC236}">
                <a16:creationId xmlns:a16="http://schemas.microsoft.com/office/drawing/2014/main" id="{D12116EC-7CD4-879F-87BA-4E8F4FFF3DD5}"/>
              </a:ext>
            </a:extLst>
          </p:cNvPr>
          <p:cNvSpPr txBox="1"/>
          <p:nvPr/>
        </p:nvSpPr>
        <p:spPr>
          <a:xfrm>
            <a:off x="4800600" y="3651597"/>
            <a:ext cx="9243655" cy="1459246"/>
          </a:xfrm>
          <a:prstGeom prst="rect">
            <a:avLst/>
          </a:prstGeom>
        </p:spPr>
        <p:txBody>
          <a:bodyPr wrap="square" lIns="0" tIns="0" rIns="0" bIns="0" rtlCol="0" anchor="t">
            <a:spAutoFit/>
          </a:bodyPr>
          <a:lstStyle/>
          <a:p>
            <a:pPr algn="ctr">
              <a:lnSpc>
                <a:spcPts val="12880"/>
              </a:lnSpc>
            </a:pPr>
            <a:r>
              <a:rPr lang="en-US" sz="6600" b="1" dirty="0">
                <a:solidFill>
                  <a:srgbClr val="336EA8"/>
                </a:solidFill>
                <a:latin typeface="Canva Sans Bold"/>
                <a:ea typeface="Canva Sans Bold"/>
                <a:cs typeface="Canva Sans Bold"/>
                <a:sym typeface="Canva Sans Bold"/>
              </a:rPr>
              <a:t>Manufacturing Project</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139976" y="4990963"/>
            <a:ext cx="5372394" cy="998808"/>
            <a:chOff x="0" y="0"/>
            <a:chExt cx="1830071" cy="340238"/>
          </a:xfrm>
        </p:grpSpPr>
        <p:sp>
          <p:nvSpPr>
            <p:cNvPr id="7" name="Freeform 7"/>
            <p:cNvSpPr/>
            <p:nvPr/>
          </p:nvSpPr>
          <p:spPr>
            <a:xfrm>
              <a:off x="0" y="0"/>
              <a:ext cx="1830071" cy="340238"/>
            </a:xfrm>
            <a:custGeom>
              <a:avLst/>
              <a:gdLst/>
              <a:ahLst/>
              <a:cxnLst/>
              <a:rect l="l" t="t" r="r" b="b"/>
              <a:pathLst>
                <a:path w="1830071" h="340238">
                  <a:moveTo>
                    <a:pt x="73494" y="0"/>
                  </a:moveTo>
                  <a:lnTo>
                    <a:pt x="1756578" y="0"/>
                  </a:lnTo>
                  <a:cubicBezTo>
                    <a:pt x="1776069" y="0"/>
                    <a:pt x="1794763" y="7743"/>
                    <a:pt x="1808546" y="21526"/>
                  </a:cubicBezTo>
                  <a:cubicBezTo>
                    <a:pt x="1822328" y="35309"/>
                    <a:pt x="1830071" y="54002"/>
                    <a:pt x="1830071" y="73494"/>
                  </a:cubicBezTo>
                  <a:lnTo>
                    <a:pt x="1830071" y="266744"/>
                  </a:lnTo>
                  <a:cubicBezTo>
                    <a:pt x="1830071" y="307333"/>
                    <a:pt x="1797167" y="340238"/>
                    <a:pt x="1756578" y="340238"/>
                  </a:cubicBezTo>
                  <a:lnTo>
                    <a:pt x="73494" y="340238"/>
                  </a:lnTo>
                  <a:cubicBezTo>
                    <a:pt x="32904" y="340238"/>
                    <a:pt x="0" y="307333"/>
                    <a:pt x="0" y="266744"/>
                  </a:cubicBezTo>
                  <a:lnTo>
                    <a:pt x="0" y="73494"/>
                  </a:lnTo>
                  <a:cubicBezTo>
                    <a:pt x="0" y="32904"/>
                    <a:pt x="32904" y="0"/>
                    <a:pt x="73494" y="0"/>
                  </a:cubicBezTo>
                  <a:close/>
                </a:path>
              </a:pathLst>
            </a:custGeom>
            <a:solidFill>
              <a:srgbClr val="84E4A8"/>
            </a:solidFill>
          </p:spPr>
          <p:txBody>
            <a:bodyPr/>
            <a:lstStyle/>
            <a:p>
              <a:endParaRPr lang="en-US"/>
            </a:p>
          </p:txBody>
        </p:sp>
        <p:sp>
          <p:nvSpPr>
            <p:cNvPr id="8" name="TextBox 8"/>
            <p:cNvSpPr txBox="1"/>
            <p:nvPr/>
          </p:nvSpPr>
          <p:spPr>
            <a:xfrm>
              <a:off x="0" y="-38100"/>
              <a:ext cx="1830071" cy="378338"/>
            </a:xfrm>
            <a:prstGeom prst="rect">
              <a:avLst/>
            </a:prstGeom>
          </p:spPr>
          <p:txBody>
            <a:bodyPr lIns="39277" tIns="39277" rIns="39277" bIns="39277" rtlCol="0" anchor="ctr"/>
            <a:lstStyle/>
            <a:p>
              <a:pPr algn="ctr">
                <a:lnSpc>
                  <a:spcPts val="2879"/>
                </a:lnSpc>
              </a:pPr>
              <a:endParaRPr/>
            </a:p>
          </p:txBody>
        </p:sp>
      </p:grpSp>
      <p:sp>
        <p:nvSpPr>
          <p:cNvPr id="9" name="TextBox 9"/>
          <p:cNvSpPr txBox="1"/>
          <p:nvPr/>
        </p:nvSpPr>
        <p:spPr>
          <a:xfrm>
            <a:off x="1093232" y="5054832"/>
            <a:ext cx="3554967" cy="785345"/>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Project Idea</a:t>
            </a:r>
          </a:p>
        </p:txBody>
      </p:sp>
      <p:grpSp>
        <p:nvGrpSpPr>
          <p:cNvPr id="10" name="Group 10"/>
          <p:cNvGrpSpPr/>
          <p:nvPr/>
        </p:nvGrpSpPr>
        <p:grpSpPr>
          <a:xfrm>
            <a:off x="6041994" y="2079955"/>
            <a:ext cx="10813382" cy="2153085"/>
            <a:chOff x="0" y="0"/>
            <a:chExt cx="14417842" cy="2870779"/>
          </a:xfrm>
        </p:grpSpPr>
        <p:grpSp>
          <p:nvGrpSpPr>
            <p:cNvPr id="11" name="Group 11"/>
            <p:cNvGrpSpPr/>
            <p:nvPr/>
          </p:nvGrpSpPr>
          <p:grpSpPr>
            <a:xfrm rot="-5400000">
              <a:off x="5773532" y="-5773532"/>
              <a:ext cx="2870779" cy="14417842"/>
              <a:chOff x="0" y="0"/>
              <a:chExt cx="567068" cy="2847969"/>
            </a:xfrm>
          </p:grpSpPr>
          <p:sp>
            <p:nvSpPr>
              <p:cNvPr id="12" name="Freeform 12"/>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3" name="TextBox 13"/>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14" name="TextBox 14"/>
            <p:cNvSpPr txBox="1"/>
            <p:nvPr/>
          </p:nvSpPr>
          <p:spPr>
            <a:xfrm>
              <a:off x="3096100" y="883251"/>
              <a:ext cx="8225643" cy="1018552"/>
            </a:xfrm>
            <a:prstGeom prst="rect">
              <a:avLst/>
            </a:prstGeom>
          </p:spPr>
          <p:txBody>
            <a:bodyPr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Problem description</a:t>
              </a:r>
            </a:p>
          </p:txBody>
        </p:sp>
      </p:grpSp>
      <p:grpSp>
        <p:nvGrpSpPr>
          <p:cNvPr id="15" name="Group 15"/>
          <p:cNvGrpSpPr/>
          <p:nvPr/>
        </p:nvGrpSpPr>
        <p:grpSpPr>
          <a:xfrm>
            <a:off x="6041994" y="4592585"/>
            <a:ext cx="10813382" cy="2153085"/>
            <a:chOff x="0" y="0"/>
            <a:chExt cx="14417842" cy="2870779"/>
          </a:xfrm>
        </p:grpSpPr>
        <p:grpSp>
          <p:nvGrpSpPr>
            <p:cNvPr id="16" name="Group 16"/>
            <p:cNvGrpSpPr/>
            <p:nvPr/>
          </p:nvGrpSpPr>
          <p:grpSpPr>
            <a:xfrm rot="-5400000">
              <a:off x="5773532" y="-5773532"/>
              <a:ext cx="2870779" cy="14417842"/>
              <a:chOff x="0" y="0"/>
              <a:chExt cx="567068" cy="2847969"/>
            </a:xfrm>
          </p:grpSpPr>
          <p:sp>
            <p:nvSpPr>
              <p:cNvPr id="17" name="Freeform 17"/>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8" name="TextBox 18"/>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19" name="TextBox 19"/>
            <p:cNvSpPr txBox="1"/>
            <p:nvPr/>
          </p:nvSpPr>
          <p:spPr>
            <a:xfrm>
              <a:off x="3096100" y="883251"/>
              <a:ext cx="8225643" cy="1018552"/>
            </a:xfrm>
            <a:prstGeom prst="rect">
              <a:avLst/>
            </a:prstGeom>
          </p:spPr>
          <p:txBody>
            <a:bodyPr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Proposed solution</a:t>
              </a:r>
            </a:p>
          </p:txBody>
        </p:sp>
      </p:grpSp>
      <p:grpSp>
        <p:nvGrpSpPr>
          <p:cNvPr id="20" name="Group 20"/>
          <p:cNvGrpSpPr/>
          <p:nvPr/>
        </p:nvGrpSpPr>
        <p:grpSpPr>
          <a:xfrm>
            <a:off x="6041994" y="7105215"/>
            <a:ext cx="10813382" cy="2153085"/>
            <a:chOff x="0" y="0"/>
            <a:chExt cx="14417842" cy="2870779"/>
          </a:xfrm>
        </p:grpSpPr>
        <p:grpSp>
          <p:nvGrpSpPr>
            <p:cNvPr id="21" name="Group 21"/>
            <p:cNvGrpSpPr/>
            <p:nvPr/>
          </p:nvGrpSpPr>
          <p:grpSpPr>
            <a:xfrm rot="-5400000">
              <a:off x="5773532" y="-5773532"/>
              <a:ext cx="2870779" cy="14417842"/>
              <a:chOff x="0" y="0"/>
              <a:chExt cx="567068" cy="2847969"/>
            </a:xfrm>
          </p:grpSpPr>
          <p:sp>
            <p:nvSpPr>
              <p:cNvPr id="22" name="Freeform 22"/>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23" name="TextBox 23"/>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24" name="TextBox 24"/>
            <p:cNvSpPr txBox="1"/>
            <p:nvPr/>
          </p:nvSpPr>
          <p:spPr>
            <a:xfrm>
              <a:off x="2073455" y="882681"/>
              <a:ext cx="10270933" cy="1018552"/>
            </a:xfrm>
            <a:prstGeom prst="rect">
              <a:avLst/>
            </a:prstGeom>
          </p:spPr>
          <p:txBody>
            <a:bodyPr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Unique value proposition</a:t>
              </a:r>
            </a:p>
          </p:txBody>
        </p:sp>
      </p:grpSp>
      <p:pic>
        <p:nvPicPr>
          <p:cNvPr id="25" name="Picture 24">
            <a:extLst>
              <a:ext uri="{FF2B5EF4-FFF2-40B4-BE49-F238E27FC236}">
                <a16:creationId xmlns:a16="http://schemas.microsoft.com/office/drawing/2014/main" id="{E0712DDA-2201-C300-1FF3-79B87F28E9A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139976" y="4990963"/>
            <a:ext cx="5372394" cy="998808"/>
            <a:chOff x="0" y="0"/>
            <a:chExt cx="7163192" cy="1331744"/>
          </a:xfrm>
        </p:grpSpPr>
        <p:grpSp>
          <p:nvGrpSpPr>
            <p:cNvPr id="7" name="Group 7"/>
            <p:cNvGrpSpPr/>
            <p:nvPr/>
          </p:nvGrpSpPr>
          <p:grpSpPr>
            <a:xfrm>
              <a:off x="0" y="0"/>
              <a:ext cx="7163192" cy="1331744"/>
              <a:chOff x="0" y="0"/>
              <a:chExt cx="1830071" cy="340238"/>
            </a:xfrm>
          </p:grpSpPr>
          <p:sp>
            <p:nvSpPr>
              <p:cNvPr id="8" name="Freeform 8"/>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9" name="TextBox 9"/>
              <p:cNvSpPr txBox="1"/>
              <p:nvPr/>
            </p:nvSpPr>
            <p:spPr>
              <a:xfrm>
                <a:off x="0" y="-38100"/>
                <a:ext cx="1830071" cy="378338"/>
              </a:xfrm>
              <a:prstGeom prst="rect">
                <a:avLst/>
              </a:prstGeom>
            </p:spPr>
            <p:txBody>
              <a:bodyPr lIns="50800" tIns="50800" rIns="50800" bIns="50800" rtlCol="0" anchor="ctr"/>
              <a:lstStyle/>
              <a:p>
                <a:pPr algn="ctr">
                  <a:lnSpc>
                    <a:spcPts val="2880"/>
                  </a:lnSpc>
                </a:pPr>
                <a:endParaRPr/>
              </a:p>
            </p:txBody>
          </p:sp>
        </p:grpSp>
        <p:sp>
          <p:nvSpPr>
            <p:cNvPr id="10" name="TextBox 10"/>
            <p:cNvSpPr txBox="1"/>
            <p:nvPr/>
          </p:nvSpPr>
          <p:spPr>
            <a:xfrm>
              <a:off x="1271008" y="113735"/>
              <a:ext cx="4739956" cy="1038319"/>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Project Idea</a:t>
              </a:r>
            </a:p>
          </p:txBody>
        </p:sp>
      </p:grpSp>
      <p:grpSp>
        <p:nvGrpSpPr>
          <p:cNvPr id="11" name="Group 11"/>
          <p:cNvGrpSpPr/>
          <p:nvPr/>
        </p:nvGrpSpPr>
        <p:grpSpPr>
          <a:xfrm>
            <a:off x="5898453" y="1722434"/>
            <a:ext cx="10813382" cy="2153085"/>
            <a:chOff x="0" y="0"/>
            <a:chExt cx="14417842" cy="2870779"/>
          </a:xfrm>
        </p:grpSpPr>
        <p:grpSp>
          <p:nvGrpSpPr>
            <p:cNvPr id="12" name="Group 12"/>
            <p:cNvGrpSpPr/>
            <p:nvPr/>
          </p:nvGrpSpPr>
          <p:grpSpPr>
            <a:xfrm rot="-5400000">
              <a:off x="5773532" y="-5773532"/>
              <a:ext cx="2870779" cy="14417842"/>
              <a:chOff x="0" y="0"/>
              <a:chExt cx="567068" cy="2847969"/>
            </a:xfrm>
          </p:grpSpPr>
          <p:sp>
            <p:nvSpPr>
              <p:cNvPr id="13" name="Freeform 13"/>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4" name="TextBox 14"/>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15" name="TextBox 15"/>
            <p:cNvSpPr txBox="1"/>
            <p:nvPr/>
          </p:nvSpPr>
          <p:spPr>
            <a:xfrm>
              <a:off x="2073455" y="882681"/>
              <a:ext cx="1027093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Unique value proposition</a:t>
              </a:r>
            </a:p>
          </p:txBody>
        </p:sp>
      </p:grpSp>
      <p:grpSp>
        <p:nvGrpSpPr>
          <p:cNvPr id="16" name="Group 16"/>
          <p:cNvGrpSpPr/>
          <p:nvPr/>
        </p:nvGrpSpPr>
        <p:grpSpPr>
          <a:xfrm>
            <a:off x="5898453" y="1722434"/>
            <a:ext cx="10813382" cy="2153085"/>
            <a:chOff x="0" y="0"/>
            <a:chExt cx="14417842" cy="2870779"/>
          </a:xfrm>
        </p:grpSpPr>
        <p:grpSp>
          <p:nvGrpSpPr>
            <p:cNvPr id="17" name="Group 17"/>
            <p:cNvGrpSpPr/>
            <p:nvPr/>
          </p:nvGrpSpPr>
          <p:grpSpPr>
            <a:xfrm rot="-5400000">
              <a:off x="5773532" y="-5773532"/>
              <a:ext cx="2870779" cy="14417842"/>
              <a:chOff x="0" y="0"/>
              <a:chExt cx="567068" cy="2847969"/>
            </a:xfrm>
          </p:grpSpPr>
          <p:sp>
            <p:nvSpPr>
              <p:cNvPr id="18" name="Freeform 18"/>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9" name="TextBox 19"/>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20" name="TextBox 20"/>
            <p:cNvSpPr txBox="1"/>
            <p:nvPr/>
          </p:nvSpPr>
          <p:spPr>
            <a:xfrm>
              <a:off x="3096100" y="883251"/>
              <a:ext cx="822564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Proposed solution</a:t>
              </a:r>
            </a:p>
          </p:txBody>
        </p:sp>
      </p:grpSp>
      <p:grpSp>
        <p:nvGrpSpPr>
          <p:cNvPr id="21" name="Group 21"/>
          <p:cNvGrpSpPr/>
          <p:nvPr/>
        </p:nvGrpSpPr>
        <p:grpSpPr>
          <a:xfrm rot="-5400000">
            <a:off x="7382079" y="166477"/>
            <a:ext cx="7701470" cy="10813382"/>
            <a:chOff x="0" y="0"/>
            <a:chExt cx="2028371" cy="2847969"/>
          </a:xfrm>
        </p:grpSpPr>
        <p:sp>
          <p:nvSpPr>
            <p:cNvPr id="22" name="Freeform 22"/>
            <p:cNvSpPr/>
            <p:nvPr/>
          </p:nvSpPr>
          <p:spPr>
            <a:xfrm>
              <a:off x="0" y="0"/>
              <a:ext cx="2028371" cy="2847969"/>
            </a:xfrm>
            <a:custGeom>
              <a:avLst/>
              <a:gdLst/>
              <a:ahLst/>
              <a:cxnLst/>
              <a:rect l="l" t="t" r="r" b="b"/>
              <a:pathLst>
                <a:path w="2028371" h="2847969">
                  <a:moveTo>
                    <a:pt x="51268" y="0"/>
                  </a:moveTo>
                  <a:lnTo>
                    <a:pt x="1977103" y="0"/>
                  </a:lnTo>
                  <a:cubicBezTo>
                    <a:pt x="2005417" y="0"/>
                    <a:pt x="2028371" y="22953"/>
                    <a:pt x="2028371" y="51268"/>
                  </a:cubicBezTo>
                  <a:lnTo>
                    <a:pt x="2028371" y="2796701"/>
                  </a:lnTo>
                  <a:cubicBezTo>
                    <a:pt x="2028371" y="2825015"/>
                    <a:pt x="2005417" y="2847969"/>
                    <a:pt x="1977103" y="2847969"/>
                  </a:cubicBezTo>
                  <a:lnTo>
                    <a:pt x="51268" y="2847969"/>
                  </a:lnTo>
                  <a:cubicBezTo>
                    <a:pt x="22953" y="2847969"/>
                    <a:pt x="0" y="2825015"/>
                    <a:pt x="0" y="2796701"/>
                  </a:cubicBezTo>
                  <a:lnTo>
                    <a:pt x="0" y="51268"/>
                  </a:lnTo>
                  <a:cubicBezTo>
                    <a:pt x="0" y="22953"/>
                    <a:pt x="22953" y="0"/>
                    <a:pt x="51268" y="0"/>
                  </a:cubicBezTo>
                  <a:close/>
                </a:path>
              </a:pathLst>
            </a:custGeom>
            <a:solidFill>
              <a:srgbClr val="84E4A8"/>
            </a:solidFill>
          </p:spPr>
          <p:txBody>
            <a:bodyPr/>
            <a:lstStyle/>
            <a:p>
              <a:endParaRPr lang="en-US"/>
            </a:p>
          </p:txBody>
        </p:sp>
        <p:sp>
          <p:nvSpPr>
            <p:cNvPr id="23" name="TextBox 23"/>
            <p:cNvSpPr txBox="1"/>
            <p:nvPr/>
          </p:nvSpPr>
          <p:spPr>
            <a:xfrm>
              <a:off x="0" y="-38100"/>
              <a:ext cx="2028371" cy="2886069"/>
            </a:xfrm>
            <a:prstGeom prst="rect">
              <a:avLst/>
            </a:prstGeom>
          </p:spPr>
          <p:txBody>
            <a:bodyPr lIns="50800" tIns="50800" rIns="50800" bIns="50800" rtlCol="0" anchor="ctr"/>
            <a:lstStyle/>
            <a:p>
              <a:pPr algn="ctr">
                <a:lnSpc>
                  <a:spcPts val="2879"/>
                </a:lnSpc>
              </a:pPr>
              <a:endParaRPr/>
            </a:p>
          </p:txBody>
        </p:sp>
      </p:grpSp>
      <p:sp>
        <p:nvSpPr>
          <p:cNvPr id="25" name="TextBox 25"/>
          <p:cNvSpPr txBox="1"/>
          <p:nvPr/>
        </p:nvSpPr>
        <p:spPr>
          <a:xfrm>
            <a:off x="8220528" y="2363441"/>
            <a:ext cx="6169232" cy="785345"/>
          </a:xfrm>
          <a:prstGeom prst="rect">
            <a:avLst/>
          </a:prstGeom>
        </p:spPr>
        <p:txBody>
          <a:bodyPr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Problem description</a:t>
            </a:r>
          </a:p>
        </p:txBody>
      </p:sp>
      <p:pic>
        <p:nvPicPr>
          <p:cNvPr id="26" name="Picture 25">
            <a:extLst>
              <a:ext uri="{FF2B5EF4-FFF2-40B4-BE49-F238E27FC236}">
                <a16:creationId xmlns:a16="http://schemas.microsoft.com/office/drawing/2014/main" id="{7C98A9AD-B578-CFAA-D4BA-E06C08798CB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139976" y="4990963"/>
            <a:ext cx="5372394" cy="998808"/>
            <a:chOff x="0" y="0"/>
            <a:chExt cx="7163192" cy="1331744"/>
          </a:xfrm>
        </p:grpSpPr>
        <p:grpSp>
          <p:nvGrpSpPr>
            <p:cNvPr id="7" name="Group 7"/>
            <p:cNvGrpSpPr/>
            <p:nvPr/>
          </p:nvGrpSpPr>
          <p:grpSpPr>
            <a:xfrm>
              <a:off x="0" y="0"/>
              <a:ext cx="7163192" cy="1331744"/>
              <a:chOff x="0" y="0"/>
              <a:chExt cx="1830071" cy="340238"/>
            </a:xfrm>
          </p:grpSpPr>
          <p:sp>
            <p:nvSpPr>
              <p:cNvPr id="8" name="Freeform 8"/>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9" name="TextBox 9"/>
              <p:cNvSpPr txBox="1"/>
              <p:nvPr/>
            </p:nvSpPr>
            <p:spPr>
              <a:xfrm>
                <a:off x="0" y="-38100"/>
                <a:ext cx="1830071" cy="378338"/>
              </a:xfrm>
              <a:prstGeom prst="rect">
                <a:avLst/>
              </a:prstGeom>
            </p:spPr>
            <p:txBody>
              <a:bodyPr lIns="50800" tIns="50800" rIns="50800" bIns="50800" rtlCol="0" anchor="ctr"/>
              <a:lstStyle/>
              <a:p>
                <a:pPr algn="ctr">
                  <a:lnSpc>
                    <a:spcPts val="2880"/>
                  </a:lnSpc>
                </a:pPr>
                <a:endParaRPr/>
              </a:p>
            </p:txBody>
          </p:sp>
        </p:grpSp>
        <p:sp>
          <p:nvSpPr>
            <p:cNvPr id="10" name="TextBox 10"/>
            <p:cNvSpPr txBox="1"/>
            <p:nvPr/>
          </p:nvSpPr>
          <p:spPr>
            <a:xfrm>
              <a:off x="1271009" y="113735"/>
              <a:ext cx="4688184" cy="1038319"/>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Project Idea</a:t>
              </a:r>
            </a:p>
          </p:txBody>
        </p:sp>
      </p:grpSp>
      <p:grpSp>
        <p:nvGrpSpPr>
          <p:cNvPr id="11" name="Group 11"/>
          <p:cNvGrpSpPr/>
          <p:nvPr/>
        </p:nvGrpSpPr>
        <p:grpSpPr>
          <a:xfrm>
            <a:off x="6041994" y="2079955"/>
            <a:ext cx="10813382" cy="2153085"/>
            <a:chOff x="0" y="0"/>
            <a:chExt cx="14417842" cy="2870779"/>
          </a:xfrm>
        </p:grpSpPr>
        <p:grpSp>
          <p:nvGrpSpPr>
            <p:cNvPr id="12" name="Group 12"/>
            <p:cNvGrpSpPr/>
            <p:nvPr/>
          </p:nvGrpSpPr>
          <p:grpSpPr>
            <a:xfrm rot="-5400000">
              <a:off x="5773532" y="-5773532"/>
              <a:ext cx="2870779" cy="14417842"/>
              <a:chOff x="0" y="0"/>
              <a:chExt cx="567068" cy="2847969"/>
            </a:xfrm>
          </p:grpSpPr>
          <p:sp>
            <p:nvSpPr>
              <p:cNvPr id="13" name="Freeform 13"/>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4" name="TextBox 14"/>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15" name="TextBox 15"/>
            <p:cNvSpPr txBox="1"/>
            <p:nvPr/>
          </p:nvSpPr>
          <p:spPr>
            <a:xfrm>
              <a:off x="3096100" y="883251"/>
              <a:ext cx="822564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Problem description</a:t>
              </a:r>
            </a:p>
          </p:txBody>
        </p:sp>
      </p:grpSp>
      <p:grpSp>
        <p:nvGrpSpPr>
          <p:cNvPr id="16" name="Group 16"/>
          <p:cNvGrpSpPr/>
          <p:nvPr/>
        </p:nvGrpSpPr>
        <p:grpSpPr>
          <a:xfrm>
            <a:off x="6041994" y="4592585"/>
            <a:ext cx="10813382" cy="2153085"/>
            <a:chOff x="0" y="0"/>
            <a:chExt cx="14417842" cy="2870779"/>
          </a:xfrm>
        </p:grpSpPr>
        <p:grpSp>
          <p:nvGrpSpPr>
            <p:cNvPr id="17" name="Group 17"/>
            <p:cNvGrpSpPr/>
            <p:nvPr/>
          </p:nvGrpSpPr>
          <p:grpSpPr>
            <a:xfrm rot="-5400000">
              <a:off x="5773532" y="-5773532"/>
              <a:ext cx="2870779" cy="14417842"/>
              <a:chOff x="0" y="0"/>
              <a:chExt cx="567068" cy="2847969"/>
            </a:xfrm>
          </p:grpSpPr>
          <p:sp>
            <p:nvSpPr>
              <p:cNvPr id="18" name="Freeform 18"/>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9" name="TextBox 19"/>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20" name="TextBox 20"/>
            <p:cNvSpPr txBox="1"/>
            <p:nvPr/>
          </p:nvSpPr>
          <p:spPr>
            <a:xfrm>
              <a:off x="3096100" y="883251"/>
              <a:ext cx="822564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Proposed solution</a:t>
              </a:r>
            </a:p>
          </p:txBody>
        </p:sp>
      </p:grpSp>
      <p:grpSp>
        <p:nvGrpSpPr>
          <p:cNvPr id="21" name="Group 21"/>
          <p:cNvGrpSpPr/>
          <p:nvPr/>
        </p:nvGrpSpPr>
        <p:grpSpPr>
          <a:xfrm>
            <a:off x="6041994" y="7105215"/>
            <a:ext cx="10813382" cy="2153085"/>
            <a:chOff x="0" y="0"/>
            <a:chExt cx="14417842" cy="2870779"/>
          </a:xfrm>
        </p:grpSpPr>
        <p:grpSp>
          <p:nvGrpSpPr>
            <p:cNvPr id="22" name="Group 22"/>
            <p:cNvGrpSpPr/>
            <p:nvPr/>
          </p:nvGrpSpPr>
          <p:grpSpPr>
            <a:xfrm rot="-5400000">
              <a:off x="5773532" y="-5773532"/>
              <a:ext cx="2870779" cy="14417842"/>
              <a:chOff x="0" y="0"/>
              <a:chExt cx="567068" cy="2847969"/>
            </a:xfrm>
          </p:grpSpPr>
          <p:sp>
            <p:nvSpPr>
              <p:cNvPr id="23" name="Freeform 23"/>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24" name="TextBox 24"/>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25" name="TextBox 25"/>
            <p:cNvSpPr txBox="1"/>
            <p:nvPr/>
          </p:nvSpPr>
          <p:spPr>
            <a:xfrm>
              <a:off x="2073455" y="882681"/>
              <a:ext cx="1027093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Unique value proposition</a:t>
              </a:r>
            </a:p>
          </p:txBody>
        </p:sp>
      </p:grpSp>
      <p:pic>
        <p:nvPicPr>
          <p:cNvPr id="26" name="Picture 25">
            <a:extLst>
              <a:ext uri="{FF2B5EF4-FFF2-40B4-BE49-F238E27FC236}">
                <a16:creationId xmlns:a16="http://schemas.microsoft.com/office/drawing/2014/main" id="{D784A034-59CE-848F-D5BA-ADF8F304501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139976" y="4990963"/>
            <a:ext cx="5372394" cy="998808"/>
            <a:chOff x="0" y="0"/>
            <a:chExt cx="7163192" cy="1331744"/>
          </a:xfrm>
        </p:grpSpPr>
        <p:grpSp>
          <p:nvGrpSpPr>
            <p:cNvPr id="7" name="Group 7"/>
            <p:cNvGrpSpPr/>
            <p:nvPr/>
          </p:nvGrpSpPr>
          <p:grpSpPr>
            <a:xfrm>
              <a:off x="0" y="0"/>
              <a:ext cx="7163192" cy="1331744"/>
              <a:chOff x="0" y="0"/>
              <a:chExt cx="1830071" cy="340238"/>
            </a:xfrm>
          </p:grpSpPr>
          <p:sp>
            <p:nvSpPr>
              <p:cNvPr id="8" name="Freeform 8"/>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9" name="TextBox 9"/>
              <p:cNvSpPr txBox="1"/>
              <p:nvPr/>
            </p:nvSpPr>
            <p:spPr>
              <a:xfrm>
                <a:off x="0" y="-38100"/>
                <a:ext cx="1830071" cy="378338"/>
              </a:xfrm>
              <a:prstGeom prst="rect">
                <a:avLst/>
              </a:prstGeom>
            </p:spPr>
            <p:txBody>
              <a:bodyPr lIns="50800" tIns="50800" rIns="50800" bIns="50800" rtlCol="0" anchor="ctr"/>
              <a:lstStyle/>
              <a:p>
                <a:pPr algn="ctr">
                  <a:lnSpc>
                    <a:spcPts val="2880"/>
                  </a:lnSpc>
                </a:pPr>
                <a:endParaRPr/>
              </a:p>
            </p:txBody>
          </p:sp>
        </p:grpSp>
        <p:sp>
          <p:nvSpPr>
            <p:cNvPr id="10" name="TextBox 10"/>
            <p:cNvSpPr txBox="1"/>
            <p:nvPr/>
          </p:nvSpPr>
          <p:spPr>
            <a:xfrm>
              <a:off x="1271008" y="113735"/>
              <a:ext cx="4739956" cy="1038319"/>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Project Idea</a:t>
              </a:r>
            </a:p>
          </p:txBody>
        </p:sp>
      </p:grpSp>
      <p:grpSp>
        <p:nvGrpSpPr>
          <p:cNvPr id="11" name="Group 11"/>
          <p:cNvGrpSpPr/>
          <p:nvPr/>
        </p:nvGrpSpPr>
        <p:grpSpPr>
          <a:xfrm>
            <a:off x="5898453" y="1722434"/>
            <a:ext cx="10813382" cy="2153085"/>
            <a:chOff x="0" y="0"/>
            <a:chExt cx="14417842" cy="2870779"/>
          </a:xfrm>
        </p:grpSpPr>
        <p:grpSp>
          <p:nvGrpSpPr>
            <p:cNvPr id="12" name="Group 12"/>
            <p:cNvGrpSpPr/>
            <p:nvPr/>
          </p:nvGrpSpPr>
          <p:grpSpPr>
            <a:xfrm rot="-5400000">
              <a:off x="5773532" y="-5773532"/>
              <a:ext cx="2870779" cy="14417842"/>
              <a:chOff x="0" y="0"/>
              <a:chExt cx="567068" cy="2847969"/>
            </a:xfrm>
          </p:grpSpPr>
          <p:sp>
            <p:nvSpPr>
              <p:cNvPr id="13" name="Freeform 13"/>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4" name="TextBox 14"/>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15" name="TextBox 15"/>
            <p:cNvSpPr txBox="1"/>
            <p:nvPr/>
          </p:nvSpPr>
          <p:spPr>
            <a:xfrm>
              <a:off x="2073455" y="882681"/>
              <a:ext cx="1027093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Unique value proposition</a:t>
              </a:r>
            </a:p>
          </p:txBody>
        </p:sp>
      </p:grpSp>
      <p:grpSp>
        <p:nvGrpSpPr>
          <p:cNvPr id="16" name="Group 16"/>
          <p:cNvGrpSpPr/>
          <p:nvPr/>
        </p:nvGrpSpPr>
        <p:grpSpPr>
          <a:xfrm>
            <a:off x="5898453" y="1722434"/>
            <a:ext cx="10813382" cy="2153085"/>
            <a:chOff x="0" y="0"/>
            <a:chExt cx="14417842" cy="2870779"/>
          </a:xfrm>
        </p:grpSpPr>
        <p:grpSp>
          <p:nvGrpSpPr>
            <p:cNvPr id="17" name="Group 17"/>
            <p:cNvGrpSpPr/>
            <p:nvPr/>
          </p:nvGrpSpPr>
          <p:grpSpPr>
            <a:xfrm rot="-5400000">
              <a:off x="5773532" y="-5773532"/>
              <a:ext cx="2870779" cy="14417842"/>
              <a:chOff x="0" y="0"/>
              <a:chExt cx="567068" cy="2847969"/>
            </a:xfrm>
          </p:grpSpPr>
          <p:sp>
            <p:nvSpPr>
              <p:cNvPr id="18" name="Freeform 18"/>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9" name="TextBox 19"/>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20" name="TextBox 20"/>
            <p:cNvSpPr txBox="1"/>
            <p:nvPr/>
          </p:nvSpPr>
          <p:spPr>
            <a:xfrm>
              <a:off x="3096100" y="883251"/>
              <a:ext cx="822564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Problem description</a:t>
              </a:r>
            </a:p>
          </p:txBody>
        </p:sp>
      </p:grpSp>
      <p:grpSp>
        <p:nvGrpSpPr>
          <p:cNvPr id="21" name="Group 21"/>
          <p:cNvGrpSpPr/>
          <p:nvPr/>
        </p:nvGrpSpPr>
        <p:grpSpPr>
          <a:xfrm rot="-5400000">
            <a:off x="7454409" y="166478"/>
            <a:ext cx="7701470" cy="10813382"/>
            <a:chOff x="0" y="0"/>
            <a:chExt cx="2028371" cy="2847969"/>
          </a:xfrm>
        </p:grpSpPr>
        <p:sp>
          <p:nvSpPr>
            <p:cNvPr id="22" name="Freeform 22"/>
            <p:cNvSpPr/>
            <p:nvPr/>
          </p:nvSpPr>
          <p:spPr>
            <a:xfrm>
              <a:off x="0" y="0"/>
              <a:ext cx="2028371" cy="2847969"/>
            </a:xfrm>
            <a:custGeom>
              <a:avLst/>
              <a:gdLst/>
              <a:ahLst/>
              <a:cxnLst/>
              <a:rect l="l" t="t" r="r" b="b"/>
              <a:pathLst>
                <a:path w="2028371" h="2847969">
                  <a:moveTo>
                    <a:pt x="51268" y="0"/>
                  </a:moveTo>
                  <a:lnTo>
                    <a:pt x="1977103" y="0"/>
                  </a:lnTo>
                  <a:cubicBezTo>
                    <a:pt x="2005417" y="0"/>
                    <a:pt x="2028371" y="22953"/>
                    <a:pt x="2028371" y="51268"/>
                  </a:cubicBezTo>
                  <a:lnTo>
                    <a:pt x="2028371" y="2796701"/>
                  </a:lnTo>
                  <a:cubicBezTo>
                    <a:pt x="2028371" y="2825015"/>
                    <a:pt x="2005417" y="2847969"/>
                    <a:pt x="1977103" y="2847969"/>
                  </a:cubicBezTo>
                  <a:lnTo>
                    <a:pt x="51268" y="2847969"/>
                  </a:lnTo>
                  <a:cubicBezTo>
                    <a:pt x="22953" y="2847969"/>
                    <a:pt x="0" y="2825015"/>
                    <a:pt x="0" y="2796701"/>
                  </a:cubicBezTo>
                  <a:lnTo>
                    <a:pt x="0" y="51268"/>
                  </a:lnTo>
                  <a:cubicBezTo>
                    <a:pt x="0" y="22953"/>
                    <a:pt x="22953" y="0"/>
                    <a:pt x="51268" y="0"/>
                  </a:cubicBezTo>
                  <a:close/>
                </a:path>
              </a:pathLst>
            </a:custGeom>
            <a:solidFill>
              <a:srgbClr val="84E4A8"/>
            </a:solidFill>
          </p:spPr>
          <p:txBody>
            <a:bodyPr/>
            <a:lstStyle/>
            <a:p>
              <a:endParaRPr lang="en-US"/>
            </a:p>
          </p:txBody>
        </p:sp>
        <p:sp>
          <p:nvSpPr>
            <p:cNvPr id="23" name="TextBox 23"/>
            <p:cNvSpPr txBox="1"/>
            <p:nvPr/>
          </p:nvSpPr>
          <p:spPr>
            <a:xfrm>
              <a:off x="0" y="-38100"/>
              <a:ext cx="2028371" cy="2886069"/>
            </a:xfrm>
            <a:prstGeom prst="rect">
              <a:avLst/>
            </a:prstGeom>
          </p:spPr>
          <p:txBody>
            <a:bodyPr lIns="50800" tIns="50800" rIns="50800" bIns="50800" rtlCol="0" anchor="ctr"/>
            <a:lstStyle/>
            <a:p>
              <a:pPr algn="ctr">
                <a:lnSpc>
                  <a:spcPts val="2879"/>
                </a:lnSpc>
              </a:pPr>
              <a:endParaRPr/>
            </a:p>
          </p:txBody>
        </p:sp>
      </p:grpSp>
      <p:sp>
        <p:nvSpPr>
          <p:cNvPr id="24" name="TextBox 24"/>
          <p:cNvSpPr txBox="1"/>
          <p:nvPr/>
        </p:nvSpPr>
        <p:spPr>
          <a:xfrm>
            <a:off x="8220528" y="2363441"/>
            <a:ext cx="6169232" cy="785345"/>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Proposed solution</a:t>
            </a:r>
          </a:p>
        </p:txBody>
      </p:sp>
      <p:pic>
        <p:nvPicPr>
          <p:cNvPr id="26" name="Picture 25">
            <a:extLst>
              <a:ext uri="{FF2B5EF4-FFF2-40B4-BE49-F238E27FC236}">
                <a16:creationId xmlns:a16="http://schemas.microsoft.com/office/drawing/2014/main" id="{F326FB3C-B9F0-2F6C-C927-3E04A536CAD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139976" y="4990963"/>
            <a:ext cx="5372394" cy="998808"/>
            <a:chOff x="0" y="0"/>
            <a:chExt cx="7163192" cy="1331744"/>
          </a:xfrm>
        </p:grpSpPr>
        <p:grpSp>
          <p:nvGrpSpPr>
            <p:cNvPr id="7" name="Group 7"/>
            <p:cNvGrpSpPr/>
            <p:nvPr/>
          </p:nvGrpSpPr>
          <p:grpSpPr>
            <a:xfrm>
              <a:off x="0" y="0"/>
              <a:ext cx="7163192" cy="1331744"/>
              <a:chOff x="0" y="0"/>
              <a:chExt cx="1830071" cy="340238"/>
            </a:xfrm>
          </p:grpSpPr>
          <p:sp>
            <p:nvSpPr>
              <p:cNvPr id="8" name="Freeform 8"/>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9" name="TextBox 9"/>
              <p:cNvSpPr txBox="1"/>
              <p:nvPr/>
            </p:nvSpPr>
            <p:spPr>
              <a:xfrm>
                <a:off x="0" y="-38100"/>
                <a:ext cx="1830071" cy="378338"/>
              </a:xfrm>
              <a:prstGeom prst="rect">
                <a:avLst/>
              </a:prstGeom>
            </p:spPr>
            <p:txBody>
              <a:bodyPr lIns="50800" tIns="50800" rIns="50800" bIns="50800" rtlCol="0" anchor="ctr"/>
              <a:lstStyle/>
              <a:p>
                <a:pPr algn="ctr">
                  <a:lnSpc>
                    <a:spcPts val="2880"/>
                  </a:lnSpc>
                </a:pPr>
                <a:endParaRPr/>
              </a:p>
            </p:txBody>
          </p:sp>
        </p:grpSp>
        <p:sp>
          <p:nvSpPr>
            <p:cNvPr id="10" name="TextBox 10"/>
            <p:cNvSpPr txBox="1"/>
            <p:nvPr/>
          </p:nvSpPr>
          <p:spPr>
            <a:xfrm>
              <a:off x="1271009" y="113735"/>
              <a:ext cx="4688184" cy="1038319"/>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Project Idea</a:t>
              </a:r>
            </a:p>
          </p:txBody>
        </p:sp>
      </p:grpSp>
      <p:grpSp>
        <p:nvGrpSpPr>
          <p:cNvPr id="11" name="Group 11"/>
          <p:cNvGrpSpPr/>
          <p:nvPr/>
        </p:nvGrpSpPr>
        <p:grpSpPr>
          <a:xfrm>
            <a:off x="6041994" y="2079955"/>
            <a:ext cx="10813382" cy="2153085"/>
            <a:chOff x="0" y="0"/>
            <a:chExt cx="14417842" cy="2870779"/>
          </a:xfrm>
        </p:grpSpPr>
        <p:grpSp>
          <p:nvGrpSpPr>
            <p:cNvPr id="12" name="Group 12"/>
            <p:cNvGrpSpPr/>
            <p:nvPr/>
          </p:nvGrpSpPr>
          <p:grpSpPr>
            <a:xfrm rot="-5400000">
              <a:off x="5773532" y="-5773532"/>
              <a:ext cx="2870779" cy="14417842"/>
              <a:chOff x="0" y="0"/>
              <a:chExt cx="567068" cy="2847969"/>
            </a:xfrm>
          </p:grpSpPr>
          <p:sp>
            <p:nvSpPr>
              <p:cNvPr id="13" name="Freeform 13"/>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4" name="TextBox 14"/>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15" name="TextBox 15"/>
            <p:cNvSpPr txBox="1"/>
            <p:nvPr/>
          </p:nvSpPr>
          <p:spPr>
            <a:xfrm>
              <a:off x="3096100" y="883251"/>
              <a:ext cx="822564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Problem description</a:t>
              </a:r>
            </a:p>
          </p:txBody>
        </p:sp>
      </p:grpSp>
      <p:grpSp>
        <p:nvGrpSpPr>
          <p:cNvPr id="16" name="Group 16"/>
          <p:cNvGrpSpPr/>
          <p:nvPr/>
        </p:nvGrpSpPr>
        <p:grpSpPr>
          <a:xfrm>
            <a:off x="6041994" y="4592585"/>
            <a:ext cx="10813382" cy="2153085"/>
            <a:chOff x="0" y="0"/>
            <a:chExt cx="14417842" cy="2870779"/>
          </a:xfrm>
        </p:grpSpPr>
        <p:grpSp>
          <p:nvGrpSpPr>
            <p:cNvPr id="17" name="Group 17"/>
            <p:cNvGrpSpPr/>
            <p:nvPr/>
          </p:nvGrpSpPr>
          <p:grpSpPr>
            <a:xfrm rot="-5400000">
              <a:off x="5773532" y="-5773532"/>
              <a:ext cx="2870779" cy="14417842"/>
              <a:chOff x="0" y="0"/>
              <a:chExt cx="567068" cy="2847969"/>
            </a:xfrm>
          </p:grpSpPr>
          <p:sp>
            <p:nvSpPr>
              <p:cNvPr id="18" name="Freeform 18"/>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9" name="TextBox 19"/>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20" name="TextBox 20"/>
            <p:cNvSpPr txBox="1"/>
            <p:nvPr/>
          </p:nvSpPr>
          <p:spPr>
            <a:xfrm>
              <a:off x="3096100" y="883251"/>
              <a:ext cx="822564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Proposed solution</a:t>
              </a:r>
            </a:p>
          </p:txBody>
        </p:sp>
      </p:grpSp>
      <p:grpSp>
        <p:nvGrpSpPr>
          <p:cNvPr id="21" name="Group 21"/>
          <p:cNvGrpSpPr/>
          <p:nvPr/>
        </p:nvGrpSpPr>
        <p:grpSpPr>
          <a:xfrm rot="-5400000">
            <a:off x="10372143" y="2775067"/>
            <a:ext cx="2153085" cy="10813382"/>
            <a:chOff x="0" y="0"/>
            <a:chExt cx="567068" cy="2847969"/>
          </a:xfrm>
        </p:grpSpPr>
        <p:sp>
          <p:nvSpPr>
            <p:cNvPr id="22" name="Freeform 22"/>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23" name="TextBox 23"/>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24" name="TextBox 24"/>
          <p:cNvSpPr txBox="1"/>
          <p:nvPr/>
        </p:nvSpPr>
        <p:spPr>
          <a:xfrm>
            <a:off x="7597085" y="7745795"/>
            <a:ext cx="7703199" cy="785345"/>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Unique value proposition</a:t>
            </a:r>
          </a:p>
        </p:txBody>
      </p:sp>
      <p:pic>
        <p:nvPicPr>
          <p:cNvPr id="25" name="Picture 24">
            <a:extLst>
              <a:ext uri="{FF2B5EF4-FFF2-40B4-BE49-F238E27FC236}">
                <a16:creationId xmlns:a16="http://schemas.microsoft.com/office/drawing/2014/main" id="{EF05E190-15E8-B3C0-6249-C79092B778D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139976" y="4990963"/>
            <a:ext cx="5372394" cy="998808"/>
            <a:chOff x="0" y="0"/>
            <a:chExt cx="7163192" cy="1331744"/>
          </a:xfrm>
        </p:grpSpPr>
        <p:grpSp>
          <p:nvGrpSpPr>
            <p:cNvPr id="7" name="Group 7"/>
            <p:cNvGrpSpPr/>
            <p:nvPr/>
          </p:nvGrpSpPr>
          <p:grpSpPr>
            <a:xfrm>
              <a:off x="0" y="0"/>
              <a:ext cx="7163192" cy="1331744"/>
              <a:chOff x="0" y="0"/>
              <a:chExt cx="1830071" cy="340238"/>
            </a:xfrm>
          </p:grpSpPr>
          <p:sp>
            <p:nvSpPr>
              <p:cNvPr id="8" name="Freeform 8"/>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9" name="TextBox 9"/>
              <p:cNvSpPr txBox="1"/>
              <p:nvPr/>
            </p:nvSpPr>
            <p:spPr>
              <a:xfrm>
                <a:off x="0" y="-38100"/>
                <a:ext cx="1830071" cy="378338"/>
              </a:xfrm>
              <a:prstGeom prst="rect">
                <a:avLst/>
              </a:prstGeom>
            </p:spPr>
            <p:txBody>
              <a:bodyPr lIns="50800" tIns="50800" rIns="50800" bIns="50800" rtlCol="0" anchor="ctr"/>
              <a:lstStyle/>
              <a:p>
                <a:pPr algn="ctr">
                  <a:lnSpc>
                    <a:spcPts val="2880"/>
                  </a:lnSpc>
                </a:pPr>
                <a:endParaRPr/>
              </a:p>
            </p:txBody>
          </p:sp>
        </p:grpSp>
        <p:sp>
          <p:nvSpPr>
            <p:cNvPr id="10" name="TextBox 10"/>
            <p:cNvSpPr txBox="1"/>
            <p:nvPr/>
          </p:nvSpPr>
          <p:spPr>
            <a:xfrm>
              <a:off x="1271008" y="113735"/>
              <a:ext cx="4739956" cy="1038319"/>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Project Idea</a:t>
              </a:r>
            </a:p>
          </p:txBody>
        </p:sp>
      </p:grpSp>
      <p:grpSp>
        <p:nvGrpSpPr>
          <p:cNvPr id="11" name="Group 11"/>
          <p:cNvGrpSpPr/>
          <p:nvPr/>
        </p:nvGrpSpPr>
        <p:grpSpPr>
          <a:xfrm>
            <a:off x="5898453" y="1722434"/>
            <a:ext cx="10813382" cy="2153085"/>
            <a:chOff x="0" y="0"/>
            <a:chExt cx="14417842" cy="2870779"/>
          </a:xfrm>
        </p:grpSpPr>
        <p:grpSp>
          <p:nvGrpSpPr>
            <p:cNvPr id="12" name="Group 12"/>
            <p:cNvGrpSpPr/>
            <p:nvPr/>
          </p:nvGrpSpPr>
          <p:grpSpPr>
            <a:xfrm rot="-5400000">
              <a:off x="5773532" y="-5773532"/>
              <a:ext cx="2870779" cy="14417842"/>
              <a:chOff x="0" y="0"/>
              <a:chExt cx="567068" cy="2847969"/>
            </a:xfrm>
          </p:grpSpPr>
          <p:sp>
            <p:nvSpPr>
              <p:cNvPr id="13" name="Freeform 13"/>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4" name="TextBox 14"/>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15" name="TextBox 15"/>
            <p:cNvSpPr txBox="1"/>
            <p:nvPr/>
          </p:nvSpPr>
          <p:spPr>
            <a:xfrm>
              <a:off x="3096100" y="883251"/>
              <a:ext cx="822564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Problem description</a:t>
              </a:r>
            </a:p>
          </p:txBody>
        </p:sp>
      </p:grpSp>
      <p:grpSp>
        <p:nvGrpSpPr>
          <p:cNvPr id="16" name="Group 16"/>
          <p:cNvGrpSpPr/>
          <p:nvPr/>
        </p:nvGrpSpPr>
        <p:grpSpPr>
          <a:xfrm>
            <a:off x="5898453" y="1722434"/>
            <a:ext cx="10813382" cy="2153085"/>
            <a:chOff x="0" y="0"/>
            <a:chExt cx="14417842" cy="2870779"/>
          </a:xfrm>
        </p:grpSpPr>
        <p:grpSp>
          <p:nvGrpSpPr>
            <p:cNvPr id="17" name="Group 17"/>
            <p:cNvGrpSpPr/>
            <p:nvPr/>
          </p:nvGrpSpPr>
          <p:grpSpPr>
            <a:xfrm rot="-5400000">
              <a:off x="5773532" y="-5773532"/>
              <a:ext cx="2870779" cy="14417842"/>
              <a:chOff x="0" y="0"/>
              <a:chExt cx="567068" cy="2847969"/>
            </a:xfrm>
          </p:grpSpPr>
          <p:sp>
            <p:nvSpPr>
              <p:cNvPr id="18" name="Freeform 18"/>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9" name="TextBox 19"/>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20" name="TextBox 20"/>
            <p:cNvSpPr txBox="1"/>
            <p:nvPr/>
          </p:nvSpPr>
          <p:spPr>
            <a:xfrm>
              <a:off x="3096100" y="883251"/>
              <a:ext cx="822564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Proposed solution</a:t>
              </a:r>
            </a:p>
          </p:txBody>
        </p:sp>
      </p:grpSp>
      <p:grpSp>
        <p:nvGrpSpPr>
          <p:cNvPr id="21" name="Group 21"/>
          <p:cNvGrpSpPr/>
          <p:nvPr/>
        </p:nvGrpSpPr>
        <p:grpSpPr>
          <a:xfrm rot="-5400000">
            <a:off x="7454409" y="166478"/>
            <a:ext cx="7701470" cy="10813382"/>
            <a:chOff x="0" y="0"/>
            <a:chExt cx="2028371" cy="2847969"/>
          </a:xfrm>
        </p:grpSpPr>
        <p:sp>
          <p:nvSpPr>
            <p:cNvPr id="22" name="Freeform 22"/>
            <p:cNvSpPr/>
            <p:nvPr/>
          </p:nvSpPr>
          <p:spPr>
            <a:xfrm>
              <a:off x="0" y="0"/>
              <a:ext cx="2028371" cy="2847969"/>
            </a:xfrm>
            <a:custGeom>
              <a:avLst/>
              <a:gdLst/>
              <a:ahLst/>
              <a:cxnLst/>
              <a:rect l="l" t="t" r="r" b="b"/>
              <a:pathLst>
                <a:path w="2028371" h="2847969">
                  <a:moveTo>
                    <a:pt x="51268" y="0"/>
                  </a:moveTo>
                  <a:lnTo>
                    <a:pt x="1977103" y="0"/>
                  </a:lnTo>
                  <a:cubicBezTo>
                    <a:pt x="2005417" y="0"/>
                    <a:pt x="2028371" y="22953"/>
                    <a:pt x="2028371" y="51268"/>
                  </a:cubicBezTo>
                  <a:lnTo>
                    <a:pt x="2028371" y="2796701"/>
                  </a:lnTo>
                  <a:cubicBezTo>
                    <a:pt x="2028371" y="2825015"/>
                    <a:pt x="2005417" y="2847969"/>
                    <a:pt x="1977103" y="2847969"/>
                  </a:cubicBezTo>
                  <a:lnTo>
                    <a:pt x="51268" y="2847969"/>
                  </a:lnTo>
                  <a:cubicBezTo>
                    <a:pt x="22953" y="2847969"/>
                    <a:pt x="0" y="2825015"/>
                    <a:pt x="0" y="2796701"/>
                  </a:cubicBezTo>
                  <a:lnTo>
                    <a:pt x="0" y="51268"/>
                  </a:lnTo>
                  <a:cubicBezTo>
                    <a:pt x="0" y="22953"/>
                    <a:pt x="22953" y="0"/>
                    <a:pt x="51268" y="0"/>
                  </a:cubicBezTo>
                  <a:close/>
                </a:path>
              </a:pathLst>
            </a:custGeom>
            <a:solidFill>
              <a:srgbClr val="84E4A8"/>
            </a:solidFill>
          </p:spPr>
          <p:txBody>
            <a:bodyPr/>
            <a:lstStyle/>
            <a:p>
              <a:endParaRPr lang="en-US"/>
            </a:p>
          </p:txBody>
        </p:sp>
        <p:sp>
          <p:nvSpPr>
            <p:cNvPr id="23" name="TextBox 23"/>
            <p:cNvSpPr txBox="1"/>
            <p:nvPr/>
          </p:nvSpPr>
          <p:spPr>
            <a:xfrm>
              <a:off x="0" y="-38100"/>
              <a:ext cx="2028371" cy="2886069"/>
            </a:xfrm>
            <a:prstGeom prst="rect">
              <a:avLst/>
            </a:prstGeom>
          </p:spPr>
          <p:txBody>
            <a:bodyPr lIns="50800" tIns="50800" rIns="50800" bIns="50800" rtlCol="0" anchor="ctr"/>
            <a:lstStyle/>
            <a:p>
              <a:pPr algn="ctr">
                <a:lnSpc>
                  <a:spcPts val="2879"/>
                </a:lnSpc>
              </a:pPr>
              <a:endParaRPr/>
            </a:p>
          </p:txBody>
        </p:sp>
      </p:grpSp>
      <p:sp>
        <p:nvSpPr>
          <p:cNvPr id="24" name="TextBox 24"/>
          <p:cNvSpPr txBox="1"/>
          <p:nvPr/>
        </p:nvSpPr>
        <p:spPr>
          <a:xfrm>
            <a:off x="7453544" y="2363014"/>
            <a:ext cx="7703199" cy="785345"/>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Unique value proposition</a:t>
            </a:r>
          </a:p>
        </p:txBody>
      </p:sp>
      <p:pic>
        <p:nvPicPr>
          <p:cNvPr id="26" name="Picture 25">
            <a:extLst>
              <a:ext uri="{FF2B5EF4-FFF2-40B4-BE49-F238E27FC236}">
                <a16:creationId xmlns:a16="http://schemas.microsoft.com/office/drawing/2014/main" id="{57F28D34-A4BE-64C8-3E9B-D9D16822FBB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139976" y="4990963"/>
            <a:ext cx="5372394" cy="998808"/>
            <a:chOff x="0" y="0"/>
            <a:chExt cx="1830071" cy="340238"/>
          </a:xfrm>
        </p:grpSpPr>
        <p:sp>
          <p:nvSpPr>
            <p:cNvPr id="7" name="Freeform 7"/>
            <p:cNvSpPr/>
            <p:nvPr/>
          </p:nvSpPr>
          <p:spPr>
            <a:xfrm>
              <a:off x="0" y="0"/>
              <a:ext cx="1830071" cy="340238"/>
            </a:xfrm>
            <a:custGeom>
              <a:avLst/>
              <a:gdLst/>
              <a:ahLst/>
              <a:cxnLst/>
              <a:rect l="l" t="t" r="r" b="b"/>
              <a:pathLst>
                <a:path w="1830071" h="340238">
                  <a:moveTo>
                    <a:pt x="73494" y="0"/>
                  </a:moveTo>
                  <a:lnTo>
                    <a:pt x="1756578" y="0"/>
                  </a:lnTo>
                  <a:cubicBezTo>
                    <a:pt x="1776069" y="0"/>
                    <a:pt x="1794763" y="7743"/>
                    <a:pt x="1808546" y="21526"/>
                  </a:cubicBezTo>
                  <a:cubicBezTo>
                    <a:pt x="1822328" y="35309"/>
                    <a:pt x="1830071" y="54002"/>
                    <a:pt x="1830071" y="73494"/>
                  </a:cubicBezTo>
                  <a:lnTo>
                    <a:pt x="1830071" y="266744"/>
                  </a:lnTo>
                  <a:cubicBezTo>
                    <a:pt x="1830071" y="307333"/>
                    <a:pt x="1797167" y="340238"/>
                    <a:pt x="1756578" y="340238"/>
                  </a:cubicBezTo>
                  <a:lnTo>
                    <a:pt x="73494" y="340238"/>
                  </a:lnTo>
                  <a:cubicBezTo>
                    <a:pt x="32904" y="340238"/>
                    <a:pt x="0" y="307333"/>
                    <a:pt x="0" y="266744"/>
                  </a:cubicBezTo>
                  <a:lnTo>
                    <a:pt x="0" y="73494"/>
                  </a:lnTo>
                  <a:cubicBezTo>
                    <a:pt x="0" y="32904"/>
                    <a:pt x="32904" y="0"/>
                    <a:pt x="73494" y="0"/>
                  </a:cubicBezTo>
                  <a:close/>
                </a:path>
              </a:pathLst>
            </a:custGeom>
            <a:solidFill>
              <a:srgbClr val="84E4A8"/>
            </a:solidFill>
          </p:spPr>
          <p:txBody>
            <a:bodyPr/>
            <a:lstStyle/>
            <a:p>
              <a:endParaRPr lang="en-US"/>
            </a:p>
          </p:txBody>
        </p:sp>
        <p:sp>
          <p:nvSpPr>
            <p:cNvPr id="8" name="TextBox 8"/>
            <p:cNvSpPr txBox="1"/>
            <p:nvPr/>
          </p:nvSpPr>
          <p:spPr>
            <a:xfrm>
              <a:off x="0" y="-38100"/>
              <a:ext cx="1830071" cy="378338"/>
            </a:xfrm>
            <a:prstGeom prst="rect">
              <a:avLst/>
            </a:prstGeom>
          </p:spPr>
          <p:txBody>
            <a:bodyPr lIns="39277" tIns="39277" rIns="39277" bIns="39277" rtlCol="0" anchor="ctr"/>
            <a:lstStyle/>
            <a:p>
              <a:pPr algn="ctr">
                <a:lnSpc>
                  <a:spcPts val="2879"/>
                </a:lnSpc>
              </a:pPr>
              <a:endParaRPr/>
            </a:p>
          </p:txBody>
        </p:sp>
      </p:grpSp>
      <p:sp>
        <p:nvSpPr>
          <p:cNvPr id="9" name="TextBox 9"/>
          <p:cNvSpPr txBox="1"/>
          <p:nvPr/>
        </p:nvSpPr>
        <p:spPr>
          <a:xfrm>
            <a:off x="1093233" y="5054832"/>
            <a:ext cx="3516138" cy="785345"/>
          </a:xfrm>
          <a:prstGeom prst="rect">
            <a:avLst/>
          </a:prstGeom>
        </p:spPr>
        <p:txBody>
          <a:bodyPr wrap="square" lIns="0" tIns="0" rIns="0" bIns="0" rtlCol="0" anchor="t">
            <a:spAutoFit/>
          </a:bodyPr>
          <a:lstStyle/>
          <a:p>
            <a:pPr algn="ctr">
              <a:lnSpc>
                <a:spcPts val="6494"/>
              </a:lnSpc>
            </a:pPr>
            <a:r>
              <a:rPr lang="en-US" sz="4638" b="1" dirty="0">
                <a:solidFill>
                  <a:srgbClr val="336EA8"/>
                </a:solidFill>
                <a:latin typeface="Canva Sans Bold"/>
                <a:ea typeface="Canva Sans Bold"/>
                <a:cs typeface="Canva Sans Bold"/>
                <a:sym typeface="Canva Sans Bold"/>
              </a:rPr>
              <a:t>Project Idea</a:t>
            </a:r>
          </a:p>
        </p:txBody>
      </p:sp>
      <p:grpSp>
        <p:nvGrpSpPr>
          <p:cNvPr id="10" name="Group 10"/>
          <p:cNvGrpSpPr/>
          <p:nvPr/>
        </p:nvGrpSpPr>
        <p:grpSpPr>
          <a:xfrm>
            <a:off x="6041994" y="2079955"/>
            <a:ext cx="10813382" cy="2153085"/>
            <a:chOff x="0" y="0"/>
            <a:chExt cx="14417842" cy="2870779"/>
          </a:xfrm>
        </p:grpSpPr>
        <p:grpSp>
          <p:nvGrpSpPr>
            <p:cNvPr id="11" name="Group 11"/>
            <p:cNvGrpSpPr/>
            <p:nvPr/>
          </p:nvGrpSpPr>
          <p:grpSpPr>
            <a:xfrm rot="-5400000">
              <a:off x="5773532" y="-5773532"/>
              <a:ext cx="2870779" cy="14417842"/>
              <a:chOff x="0" y="0"/>
              <a:chExt cx="567068" cy="2847969"/>
            </a:xfrm>
          </p:grpSpPr>
          <p:sp>
            <p:nvSpPr>
              <p:cNvPr id="12" name="Freeform 12"/>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3" name="TextBox 13"/>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14" name="TextBox 14"/>
            <p:cNvSpPr txBox="1"/>
            <p:nvPr/>
          </p:nvSpPr>
          <p:spPr>
            <a:xfrm>
              <a:off x="3096100" y="883251"/>
              <a:ext cx="822564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Problem description</a:t>
              </a:r>
            </a:p>
          </p:txBody>
        </p:sp>
      </p:grpSp>
      <p:grpSp>
        <p:nvGrpSpPr>
          <p:cNvPr id="15" name="Group 15"/>
          <p:cNvGrpSpPr/>
          <p:nvPr/>
        </p:nvGrpSpPr>
        <p:grpSpPr>
          <a:xfrm>
            <a:off x="6041994" y="4592585"/>
            <a:ext cx="10813382" cy="2153085"/>
            <a:chOff x="0" y="0"/>
            <a:chExt cx="14417842" cy="2870779"/>
          </a:xfrm>
        </p:grpSpPr>
        <p:grpSp>
          <p:nvGrpSpPr>
            <p:cNvPr id="16" name="Group 16"/>
            <p:cNvGrpSpPr/>
            <p:nvPr/>
          </p:nvGrpSpPr>
          <p:grpSpPr>
            <a:xfrm rot="-5400000">
              <a:off x="5773532" y="-5773532"/>
              <a:ext cx="2870779" cy="14417842"/>
              <a:chOff x="0" y="0"/>
              <a:chExt cx="567068" cy="2847969"/>
            </a:xfrm>
          </p:grpSpPr>
          <p:sp>
            <p:nvSpPr>
              <p:cNvPr id="17" name="Freeform 17"/>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18" name="TextBox 18"/>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19" name="TextBox 19"/>
            <p:cNvSpPr txBox="1"/>
            <p:nvPr/>
          </p:nvSpPr>
          <p:spPr>
            <a:xfrm>
              <a:off x="3096100" y="883251"/>
              <a:ext cx="822564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Proposed solution</a:t>
              </a:r>
            </a:p>
          </p:txBody>
        </p:sp>
      </p:grpSp>
      <p:grpSp>
        <p:nvGrpSpPr>
          <p:cNvPr id="20" name="Group 20"/>
          <p:cNvGrpSpPr/>
          <p:nvPr/>
        </p:nvGrpSpPr>
        <p:grpSpPr>
          <a:xfrm>
            <a:off x="6041994" y="7105215"/>
            <a:ext cx="10813382" cy="2153085"/>
            <a:chOff x="0" y="0"/>
            <a:chExt cx="14417842" cy="2870779"/>
          </a:xfrm>
        </p:grpSpPr>
        <p:grpSp>
          <p:nvGrpSpPr>
            <p:cNvPr id="21" name="Group 21"/>
            <p:cNvGrpSpPr/>
            <p:nvPr/>
          </p:nvGrpSpPr>
          <p:grpSpPr>
            <a:xfrm rot="-5400000">
              <a:off x="5773532" y="-5773532"/>
              <a:ext cx="2870779" cy="14417842"/>
              <a:chOff x="0" y="0"/>
              <a:chExt cx="567068" cy="2847969"/>
            </a:xfrm>
          </p:grpSpPr>
          <p:sp>
            <p:nvSpPr>
              <p:cNvPr id="22" name="Freeform 22"/>
              <p:cNvSpPr/>
              <p:nvPr/>
            </p:nvSpPr>
            <p:spPr>
              <a:xfrm>
                <a:off x="0" y="0"/>
                <a:ext cx="567068" cy="2847969"/>
              </a:xfrm>
              <a:custGeom>
                <a:avLst/>
                <a:gdLst/>
                <a:ahLst/>
                <a:cxnLst/>
                <a:rect l="l" t="t" r="r" b="b"/>
                <a:pathLst>
                  <a:path w="567068" h="2847969">
                    <a:moveTo>
                      <a:pt x="183382" y="0"/>
                    </a:moveTo>
                    <a:lnTo>
                      <a:pt x="383685" y="0"/>
                    </a:lnTo>
                    <a:cubicBezTo>
                      <a:pt x="484964" y="0"/>
                      <a:pt x="567068" y="82103"/>
                      <a:pt x="567068" y="183382"/>
                    </a:cubicBezTo>
                    <a:lnTo>
                      <a:pt x="567068" y="2664586"/>
                    </a:lnTo>
                    <a:cubicBezTo>
                      <a:pt x="567068" y="2765866"/>
                      <a:pt x="484964" y="2847969"/>
                      <a:pt x="383685" y="2847969"/>
                    </a:cubicBezTo>
                    <a:lnTo>
                      <a:pt x="183382" y="2847969"/>
                    </a:lnTo>
                    <a:cubicBezTo>
                      <a:pt x="82103" y="2847969"/>
                      <a:pt x="0" y="2765866"/>
                      <a:pt x="0" y="2664586"/>
                    </a:cubicBezTo>
                    <a:lnTo>
                      <a:pt x="0" y="183382"/>
                    </a:lnTo>
                    <a:cubicBezTo>
                      <a:pt x="0" y="82103"/>
                      <a:pt x="82103" y="0"/>
                      <a:pt x="183382" y="0"/>
                    </a:cubicBezTo>
                    <a:close/>
                  </a:path>
                </a:pathLst>
              </a:custGeom>
              <a:solidFill>
                <a:srgbClr val="84E4A8"/>
              </a:solidFill>
            </p:spPr>
            <p:txBody>
              <a:bodyPr/>
              <a:lstStyle/>
              <a:p>
                <a:endParaRPr lang="en-US"/>
              </a:p>
            </p:txBody>
          </p:sp>
          <p:sp>
            <p:nvSpPr>
              <p:cNvPr id="23" name="TextBox 23"/>
              <p:cNvSpPr txBox="1"/>
              <p:nvPr/>
            </p:nvSpPr>
            <p:spPr>
              <a:xfrm>
                <a:off x="0" y="-38100"/>
                <a:ext cx="567068" cy="2886069"/>
              </a:xfrm>
              <a:prstGeom prst="rect">
                <a:avLst/>
              </a:prstGeom>
            </p:spPr>
            <p:txBody>
              <a:bodyPr lIns="50800" tIns="50800" rIns="50800" bIns="50800" rtlCol="0" anchor="ctr"/>
              <a:lstStyle/>
              <a:p>
                <a:pPr algn="ctr">
                  <a:lnSpc>
                    <a:spcPts val="2879"/>
                  </a:lnSpc>
                </a:pPr>
                <a:endParaRPr/>
              </a:p>
            </p:txBody>
          </p:sp>
        </p:grpSp>
        <p:sp>
          <p:nvSpPr>
            <p:cNvPr id="24" name="TextBox 24"/>
            <p:cNvSpPr txBox="1"/>
            <p:nvPr/>
          </p:nvSpPr>
          <p:spPr>
            <a:xfrm>
              <a:off x="2073455" y="882681"/>
              <a:ext cx="10270933" cy="1018552"/>
            </a:xfrm>
            <a:prstGeom prst="rect">
              <a:avLst/>
            </a:prstGeom>
          </p:spPr>
          <p:txBody>
            <a:bodyPr lIns="0" tIns="0" rIns="0" bIns="0" rtlCol="0" anchor="t">
              <a:spAutoFit/>
            </a:bodyPr>
            <a:lstStyle/>
            <a:p>
              <a:pPr algn="ctr">
                <a:lnSpc>
                  <a:spcPts val="6494"/>
                </a:lnSpc>
              </a:pPr>
              <a:r>
                <a:rPr lang="en-US" sz="4638" b="1">
                  <a:solidFill>
                    <a:srgbClr val="336EA8"/>
                  </a:solidFill>
                  <a:latin typeface="Canva Sans Bold"/>
                  <a:ea typeface="Canva Sans Bold"/>
                  <a:cs typeface="Canva Sans Bold"/>
                  <a:sym typeface="Canva Sans Bold"/>
                </a:rPr>
                <a:t>Unique value proposition</a:t>
              </a:r>
            </a:p>
          </p:txBody>
        </p:sp>
      </p:grpSp>
      <p:pic>
        <p:nvPicPr>
          <p:cNvPr id="25" name="Picture 24">
            <a:extLst>
              <a:ext uri="{FF2B5EF4-FFF2-40B4-BE49-F238E27FC236}">
                <a16:creationId xmlns:a16="http://schemas.microsoft.com/office/drawing/2014/main" id="{B289669C-D89E-3C9D-212C-F9DE719EDA2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5669724" y="5299017"/>
            <a:ext cx="6948552" cy="1291840"/>
            <a:chOff x="0" y="0"/>
            <a:chExt cx="1830071" cy="340238"/>
          </a:xfrm>
        </p:grpSpPr>
        <p:sp>
          <p:nvSpPr>
            <p:cNvPr id="7" name="Freeform 7"/>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8" name="TextBox 8"/>
            <p:cNvSpPr txBox="1"/>
            <p:nvPr/>
          </p:nvSpPr>
          <p:spPr>
            <a:xfrm>
              <a:off x="0" y="-38100"/>
              <a:ext cx="1830071" cy="378338"/>
            </a:xfrm>
            <a:prstGeom prst="rect">
              <a:avLst/>
            </a:prstGeom>
          </p:spPr>
          <p:txBody>
            <a:bodyPr lIns="50800" tIns="50800" rIns="50800" bIns="50800" rtlCol="0" anchor="ctr"/>
            <a:lstStyle/>
            <a:p>
              <a:pPr algn="ctr">
                <a:lnSpc>
                  <a:spcPts val="2879"/>
                </a:lnSpc>
              </a:pPr>
              <a:endParaRPr/>
            </a:p>
          </p:txBody>
        </p:sp>
      </p:grpSp>
      <p:sp>
        <p:nvSpPr>
          <p:cNvPr id="10" name="TextBox 10"/>
          <p:cNvSpPr txBox="1"/>
          <p:nvPr/>
        </p:nvSpPr>
        <p:spPr>
          <a:xfrm>
            <a:off x="6902648" y="5387723"/>
            <a:ext cx="4527352" cy="1009651"/>
          </a:xfrm>
          <a:prstGeom prst="rect">
            <a:avLst/>
          </a:prstGeom>
        </p:spPr>
        <p:txBody>
          <a:bodyPr wrap="square" lIns="0" tIns="0" rIns="0" bIns="0" rtlCol="0" anchor="t">
            <a:spAutoFit/>
          </a:bodyPr>
          <a:lstStyle/>
          <a:p>
            <a:pPr algn="ctr">
              <a:lnSpc>
                <a:spcPts val="8399"/>
              </a:lnSpc>
            </a:pPr>
            <a:r>
              <a:rPr lang="en-US" sz="5999" b="1" dirty="0">
                <a:solidFill>
                  <a:srgbClr val="336EA8"/>
                </a:solidFill>
                <a:latin typeface="Canva Sans Bold"/>
                <a:ea typeface="Canva Sans Bold"/>
                <a:cs typeface="Canva Sans Bold"/>
                <a:sym typeface="Canva Sans Bold"/>
              </a:rPr>
              <a:t>Project Idea</a:t>
            </a:r>
          </a:p>
        </p:txBody>
      </p:sp>
      <p:pic>
        <p:nvPicPr>
          <p:cNvPr id="11" name="Picture 10">
            <a:extLst>
              <a:ext uri="{FF2B5EF4-FFF2-40B4-BE49-F238E27FC236}">
                <a16:creationId xmlns:a16="http://schemas.microsoft.com/office/drawing/2014/main" id="{196A55D1-212C-418B-8FF9-4A2F6BAF503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
        <p:nvSpPr>
          <p:cNvPr id="12" name="TextBox 6">
            <a:extLst>
              <a:ext uri="{FF2B5EF4-FFF2-40B4-BE49-F238E27FC236}">
                <a16:creationId xmlns:a16="http://schemas.microsoft.com/office/drawing/2014/main" id="{AA621A0B-15C1-58E8-3AA0-EA08C1EE3BC9}"/>
              </a:ext>
            </a:extLst>
          </p:cNvPr>
          <p:cNvSpPr txBox="1"/>
          <p:nvPr/>
        </p:nvSpPr>
        <p:spPr>
          <a:xfrm>
            <a:off x="4800600" y="3651597"/>
            <a:ext cx="9243655" cy="1459246"/>
          </a:xfrm>
          <a:prstGeom prst="rect">
            <a:avLst/>
          </a:prstGeom>
        </p:spPr>
        <p:txBody>
          <a:bodyPr wrap="square" lIns="0" tIns="0" rIns="0" bIns="0" rtlCol="0" anchor="t">
            <a:spAutoFit/>
          </a:bodyPr>
          <a:lstStyle/>
          <a:p>
            <a:pPr algn="ctr">
              <a:lnSpc>
                <a:spcPts val="12880"/>
              </a:lnSpc>
            </a:pPr>
            <a:r>
              <a:rPr lang="en-US" sz="6600" b="1" dirty="0">
                <a:solidFill>
                  <a:srgbClr val="336EA8"/>
                </a:solidFill>
                <a:latin typeface="Canva Sans Bold"/>
                <a:ea typeface="Canva Sans Bold"/>
                <a:cs typeface="Canva Sans Bold"/>
                <a:sym typeface="Canva Sans Bold"/>
              </a:rPr>
              <a:t>Manufacturing Project</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5669724" y="5299017"/>
            <a:ext cx="6948552" cy="1291840"/>
            <a:chOff x="0" y="0"/>
            <a:chExt cx="1830071" cy="340238"/>
          </a:xfrm>
        </p:grpSpPr>
        <p:sp>
          <p:nvSpPr>
            <p:cNvPr id="7" name="Freeform 7"/>
            <p:cNvSpPr/>
            <p:nvPr/>
          </p:nvSpPr>
          <p:spPr>
            <a:xfrm>
              <a:off x="0" y="0"/>
              <a:ext cx="1830071" cy="340238"/>
            </a:xfrm>
            <a:custGeom>
              <a:avLst/>
              <a:gdLst/>
              <a:ahLst/>
              <a:cxnLst/>
              <a:rect l="l" t="t" r="r" b="b"/>
              <a:pathLst>
                <a:path w="1830071" h="340238">
                  <a:moveTo>
                    <a:pt x="56823" y="0"/>
                  </a:moveTo>
                  <a:lnTo>
                    <a:pt x="1773248" y="0"/>
                  </a:lnTo>
                  <a:cubicBezTo>
                    <a:pt x="1788319" y="0"/>
                    <a:pt x="1802772" y="5987"/>
                    <a:pt x="1813428" y="16643"/>
                  </a:cubicBezTo>
                  <a:cubicBezTo>
                    <a:pt x="1824085" y="27299"/>
                    <a:pt x="1830071" y="41753"/>
                    <a:pt x="1830071" y="56823"/>
                  </a:cubicBezTo>
                  <a:lnTo>
                    <a:pt x="1830071" y="283415"/>
                  </a:lnTo>
                  <a:cubicBezTo>
                    <a:pt x="1830071" y="298485"/>
                    <a:pt x="1824085" y="312938"/>
                    <a:pt x="1813428" y="323594"/>
                  </a:cubicBezTo>
                  <a:cubicBezTo>
                    <a:pt x="1802772" y="334251"/>
                    <a:pt x="1788319" y="340238"/>
                    <a:pt x="1773248" y="340238"/>
                  </a:cubicBezTo>
                  <a:lnTo>
                    <a:pt x="56823" y="340238"/>
                  </a:lnTo>
                  <a:cubicBezTo>
                    <a:pt x="41753" y="340238"/>
                    <a:pt x="27299" y="334251"/>
                    <a:pt x="16643" y="323594"/>
                  </a:cubicBezTo>
                  <a:cubicBezTo>
                    <a:pt x="5987" y="312938"/>
                    <a:pt x="0" y="298485"/>
                    <a:pt x="0" y="283415"/>
                  </a:cubicBezTo>
                  <a:lnTo>
                    <a:pt x="0" y="56823"/>
                  </a:lnTo>
                  <a:cubicBezTo>
                    <a:pt x="0" y="41753"/>
                    <a:pt x="5987" y="27299"/>
                    <a:pt x="16643" y="16643"/>
                  </a:cubicBezTo>
                  <a:cubicBezTo>
                    <a:pt x="27299" y="5987"/>
                    <a:pt x="41753" y="0"/>
                    <a:pt x="56823" y="0"/>
                  </a:cubicBezTo>
                  <a:close/>
                </a:path>
              </a:pathLst>
            </a:custGeom>
            <a:solidFill>
              <a:srgbClr val="84E4A8"/>
            </a:solidFill>
          </p:spPr>
          <p:txBody>
            <a:bodyPr/>
            <a:lstStyle/>
            <a:p>
              <a:endParaRPr lang="en-US"/>
            </a:p>
          </p:txBody>
        </p:sp>
        <p:sp>
          <p:nvSpPr>
            <p:cNvPr id="8" name="TextBox 8"/>
            <p:cNvSpPr txBox="1"/>
            <p:nvPr/>
          </p:nvSpPr>
          <p:spPr>
            <a:xfrm>
              <a:off x="0" y="-38100"/>
              <a:ext cx="1830071" cy="378338"/>
            </a:xfrm>
            <a:prstGeom prst="rect">
              <a:avLst/>
            </a:prstGeom>
          </p:spPr>
          <p:txBody>
            <a:bodyPr lIns="50800" tIns="50800" rIns="50800" bIns="50800" rtlCol="0" anchor="ctr"/>
            <a:lstStyle/>
            <a:p>
              <a:pPr algn="ctr">
                <a:lnSpc>
                  <a:spcPts val="2879"/>
                </a:lnSpc>
              </a:pPr>
              <a:endParaRPr/>
            </a:p>
          </p:txBody>
        </p:sp>
      </p:grpSp>
      <p:sp>
        <p:nvSpPr>
          <p:cNvPr id="10" name="TextBox 10"/>
          <p:cNvSpPr txBox="1"/>
          <p:nvPr/>
        </p:nvSpPr>
        <p:spPr>
          <a:xfrm>
            <a:off x="5771317" y="5387723"/>
            <a:ext cx="6846960" cy="903605"/>
          </a:xfrm>
          <a:prstGeom prst="rect">
            <a:avLst/>
          </a:prstGeom>
        </p:spPr>
        <p:txBody>
          <a:bodyPr lIns="0" tIns="0" rIns="0" bIns="0" rtlCol="0" anchor="t">
            <a:spAutoFit/>
          </a:bodyPr>
          <a:lstStyle/>
          <a:p>
            <a:pPr algn="ctr">
              <a:lnSpc>
                <a:spcPts val="7419"/>
              </a:lnSpc>
            </a:pPr>
            <a:r>
              <a:rPr lang="en-US" sz="5299" b="1">
                <a:solidFill>
                  <a:srgbClr val="336EA8"/>
                </a:solidFill>
                <a:latin typeface="Canva Sans Bold"/>
                <a:ea typeface="Canva Sans Bold"/>
                <a:cs typeface="Canva Sans Bold"/>
                <a:sym typeface="Canva Sans Bold"/>
              </a:rPr>
              <a:t>Project Wireframe</a:t>
            </a:r>
          </a:p>
        </p:txBody>
      </p:sp>
      <p:pic>
        <p:nvPicPr>
          <p:cNvPr id="11" name="Picture 10">
            <a:extLst>
              <a:ext uri="{FF2B5EF4-FFF2-40B4-BE49-F238E27FC236}">
                <a16:creationId xmlns:a16="http://schemas.microsoft.com/office/drawing/2014/main" id="{E25C998C-4B2C-17A7-762F-2D272487CC7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90452"/>
            <a:ext cx="2234648" cy="2234648"/>
          </a:xfrm>
          <a:prstGeom prst="rect">
            <a:avLst/>
          </a:prstGeom>
        </p:spPr>
      </p:pic>
      <p:sp>
        <p:nvSpPr>
          <p:cNvPr id="12" name="TextBox 6">
            <a:extLst>
              <a:ext uri="{FF2B5EF4-FFF2-40B4-BE49-F238E27FC236}">
                <a16:creationId xmlns:a16="http://schemas.microsoft.com/office/drawing/2014/main" id="{266BB28B-A6D9-EA05-2162-FB7ABA8B7D03}"/>
              </a:ext>
            </a:extLst>
          </p:cNvPr>
          <p:cNvSpPr txBox="1"/>
          <p:nvPr/>
        </p:nvSpPr>
        <p:spPr>
          <a:xfrm>
            <a:off x="4800600" y="3651597"/>
            <a:ext cx="9243655" cy="1459246"/>
          </a:xfrm>
          <a:prstGeom prst="rect">
            <a:avLst/>
          </a:prstGeom>
        </p:spPr>
        <p:txBody>
          <a:bodyPr wrap="square" lIns="0" tIns="0" rIns="0" bIns="0" rtlCol="0" anchor="t">
            <a:spAutoFit/>
          </a:bodyPr>
          <a:lstStyle/>
          <a:p>
            <a:pPr algn="ctr">
              <a:lnSpc>
                <a:spcPts val="12880"/>
              </a:lnSpc>
            </a:pPr>
            <a:r>
              <a:rPr lang="en-US" sz="6600" b="1" dirty="0">
                <a:solidFill>
                  <a:srgbClr val="336EA8"/>
                </a:solidFill>
                <a:latin typeface="Canva Sans Bold"/>
                <a:ea typeface="Canva Sans Bold"/>
                <a:cs typeface="Canva Sans Bold"/>
                <a:sym typeface="Canva Sans Bold"/>
              </a:rPr>
              <a:t>Manufacturing Project</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7" name="Group 7"/>
          <p:cNvGrpSpPr/>
          <p:nvPr/>
        </p:nvGrpSpPr>
        <p:grpSpPr>
          <a:xfrm>
            <a:off x="5483168" y="5386306"/>
            <a:ext cx="7570488" cy="1062155"/>
            <a:chOff x="0" y="0"/>
            <a:chExt cx="2578838" cy="361816"/>
          </a:xfrm>
        </p:grpSpPr>
        <p:sp>
          <p:nvSpPr>
            <p:cNvPr id="8" name="Freeform 8"/>
            <p:cNvSpPr/>
            <p:nvPr/>
          </p:nvSpPr>
          <p:spPr>
            <a:xfrm>
              <a:off x="0" y="0"/>
              <a:ext cx="2578838" cy="361816"/>
            </a:xfrm>
            <a:custGeom>
              <a:avLst/>
              <a:gdLst/>
              <a:ahLst/>
              <a:cxnLst/>
              <a:rect l="l" t="t" r="r" b="b"/>
              <a:pathLst>
                <a:path w="2578838" h="361816">
                  <a:moveTo>
                    <a:pt x="52155" y="0"/>
                  </a:moveTo>
                  <a:lnTo>
                    <a:pt x="2526683" y="0"/>
                  </a:lnTo>
                  <a:cubicBezTo>
                    <a:pt x="2555487" y="0"/>
                    <a:pt x="2578838" y="23351"/>
                    <a:pt x="2578838" y="52155"/>
                  </a:cubicBezTo>
                  <a:lnTo>
                    <a:pt x="2578838" y="309661"/>
                  </a:lnTo>
                  <a:cubicBezTo>
                    <a:pt x="2578838" y="338466"/>
                    <a:pt x="2555487" y="361816"/>
                    <a:pt x="2526683" y="361816"/>
                  </a:cubicBezTo>
                  <a:lnTo>
                    <a:pt x="52155" y="361816"/>
                  </a:lnTo>
                  <a:cubicBezTo>
                    <a:pt x="38323" y="361816"/>
                    <a:pt x="25057" y="356321"/>
                    <a:pt x="15276" y="346540"/>
                  </a:cubicBezTo>
                  <a:cubicBezTo>
                    <a:pt x="5495" y="336759"/>
                    <a:pt x="0" y="323494"/>
                    <a:pt x="0" y="309661"/>
                  </a:cubicBezTo>
                  <a:lnTo>
                    <a:pt x="0" y="52155"/>
                  </a:lnTo>
                  <a:cubicBezTo>
                    <a:pt x="0" y="23351"/>
                    <a:pt x="23351" y="0"/>
                    <a:pt x="52155" y="0"/>
                  </a:cubicBezTo>
                  <a:close/>
                </a:path>
              </a:pathLst>
            </a:custGeom>
            <a:solidFill>
              <a:srgbClr val="84E4A8"/>
            </a:solidFill>
          </p:spPr>
          <p:txBody>
            <a:bodyPr/>
            <a:lstStyle/>
            <a:p>
              <a:endParaRPr lang="en-US"/>
            </a:p>
          </p:txBody>
        </p:sp>
        <p:sp>
          <p:nvSpPr>
            <p:cNvPr id="9" name="TextBox 9"/>
            <p:cNvSpPr txBox="1"/>
            <p:nvPr/>
          </p:nvSpPr>
          <p:spPr>
            <a:xfrm>
              <a:off x="0" y="-38100"/>
              <a:ext cx="2578838" cy="399916"/>
            </a:xfrm>
            <a:prstGeom prst="rect">
              <a:avLst/>
            </a:prstGeom>
          </p:spPr>
          <p:txBody>
            <a:bodyPr lIns="39277" tIns="39277" rIns="39277" bIns="39277" rtlCol="0" anchor="ctr"/>
            <a:lstStyle/>
            <a:p>
              <a:pPr algn="ctr">
                <a:lnSpc>
                  <a:spcPts val="2879"/>
                </a:lnSpc>
              </a:pPr>
              <a:endParaRPr/>
            </a:p>
          </p:txBody>
        </p:sp>
      </p:grpSp>
      <p:sp>
        <p:nvSpPr>
          <p:cNvPr id="10" name="TextBox 10"/>
          <p:cNvSpPr txBox="1"/>
          <p:nvPr/>
        </p:nvSpPr>
        <p:spPr>
          <a:xfrm>
            <a:off x="5579688" y="548925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Project Team + Roles</a:t>
            </a:r>
          </a:p>
        </p:txBody>
      </p:sp>
      <p:pic>
        <p:nvPicPr>
          <p:cNvPr id="11" name="Picture 10">
            <a:extLst>
              <a:ext uri="{FF2B5EF4-FFF2-40B4-BE49-F238E27FC236}">
                <a16:creationId xmlns:a16="http://schemas.microsoft.com/office/drawing/2014/main" id="{5CD5E3CB-07A9-8650-71A2-3F118860457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
        <p:nvSpPr>
          <p:cNvPr id="5" name="TextBox 6">
            <a:extLst>
              <a:ext uri="{FF2B5EF4-FFF2-40B4-BE49-F238E27FC236}">
                <a16:creationId xmlns:a16="http://schemas.microsoft.com/office/drawing/2014/main" id="{E0D31CC5-38F0-489C-FD06-1953FE78C126}"/>
              </a:ext>
            </a:extLst>
          </p:cNvPr>
          <p:cNvSpPr txBox="1"/>
          <p:nvPr/>
        </p:nvSpPr>
        <p:spPr>
          <a:xfrm>
            <a:off x="4800600" y="3651597"/>
            <a:ext cx="9243655" cy="1459246"/>
          </a:xfrm>
          <a:prstGeom prst="rect">
            <a:avLst/>
          </a:prstGeom>
        </p:spPr>
        <p:txBody>
          <a:bodyPr wrap="square" lIns="0" tIns="0" rIns="0" bIns="0" rtlCol="0" anchor="t">
            <a:spAutoFit/>
          </a:bodyPr>
          <a:lstStyle/>
          <a:p>
            <a:pPr algn="ctr">
              <a:lnSpc>
                <a:spcPts val="12880"/>
              </a:lnSpc>
            </a:pPr>
            <a:r>
              <a:rPr lang="en-US" sz="6600" b="1" dirty="0">
                <a:solidFill>
                  <a:srgbClr val="336EA8"/>
                </a:solidFill>
                <a:latin typeface="Canva Sans Bold"/>
                <a:ea typeface="Canva Sans Bold"/>
                <a:cs typeface="Canva Sans Bold"/>
                <a:sym typeface="Canva Sans Bold"/>
              </a:rPr>
              <a:t>Manufacturing Project</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38" name="Group 38"/>
          <p:cNvGrpSpPr/>
          <p:nvPr/>
        </p:nvGrpSpPr>
        <p:grpSpPr>
          <a:xfrm>
            <a:off x="1232020" y="1935294"/>
            <a:ext cx="16125577" cy="7037404"/>
            <a:chOff x="-18015994" y="-192881"/>
            <a:chExt cx="21500772" cy="9383206"/>
          </a:xfrm>
        </p:grpSpPr>
        <p:sp>
          <p:nvSpPr>
            <p:cNvPr id="41" name="TextBox 41"/>
            <p:cNvSpPr txBox="1"/>
            <p:nvPr/>
          </p:nvSpPr>
          <p:spPr>
            <a:xfrm>
              <a:off x="43898" y="-192881"/>
              <a:ext cx="3440880" cy="9383206"/>
            </a:xfrm>
            <a:prstGeom prst="rect">
              <a:avLst/>
            </a:prstGeom>
          </p:spPr>
          <p:txBody>
            <a:bodyPr lIns="50800" tIns="50800" rIns="50800" bIns="50800" rtlCol="0" anchor="ctr"/>
            <a:lstStyle/>
            <a:p>
              <a:pPr algn="ctr">
                <a:lnSpc>
                  <a:spcPts val="2879"/>
                </a:lnSpc>
              </a:pPr>
              <a:endParaRPr/>
            </a:p>
          </p:txBody>
        </p:sp>
        <p:grpSp>
          <p:nvGrpSpPr>
            <p:cNvPr id="42" name="Group 42"/>
            <p:cNvGrpSpPr/>
            <p:nvPr/>
          </p:nvGrpSpPr>
          <p:grpSpPr>
            <a:xfrm>
              <a:off x="-18015994" y="3193468"/>
              <a:ext cx="2803393" cy="2803393"/>
              <a:chOff x="-33772908" y="1504240"/>
              <a:chExt cx="5255260" cy="5255259"/>
            </a:xfrm>
          </p:grpSpPr>
          <p:sp>
            <p:nvSpPr>
              <p:cNvPr id="43" name="Freeform 43"/>
              <p:cNvSpPr/>
              <p:nvPr/>
            </p:nvSpPr>
            <p:spPr>
              <a:xfrm>
                <a:off x="-33772908" y="1504240"/>
                <a:ext cx="5255260" cy="5255259"/>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a:stretch>
              </a:blipFill>
            </p:spPr>
            <p:txBody>
              <a:bodyPr/>
              <a:lstStyle/>
              <a:p>
                <a:endParaRPr lang="en-US"/>
              </a:p>
            </p:txBody>
          </p:sp>
        </p:grpSp>
      </p:grpSp>
      <p:sp>
        <p:nvSpPr>
          <p:cNvPr id="44" name="TextBox 44"/>
          <p:cNvSpPr txBox="1"/>
          <p:nvPr/>
        </p:nvSpPr>
        <p:spPr>
          <a:xfrm>
            <a:off x="5402536" y="68142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Project Team + Roles</a:t>
            </a:r>
          </a:p>
        </p:txBody>
      </p:sp>
      <p:pic>
        <p:nvPicPr>
          <p:cNvPr id="46" name="Picture 45">
            <a:extLst>
              <a:ext uri="{FF2B5EF4-FFF2-40B4-BE49-F238E27FC236}">
                <a16:creationId xmlns:a16="http://schemas.microsoft.com/office/drawing/2014/main" id="{75881286-8FD7-A2C3-C25A-39387DD2C03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412" y="8972698"/>
            <a:ext cx="1402926" cy="1402926"/>
          </a:xfrm>
          <a:prstGeom prst="rect">
            <a:avLst/>
          </a:prstGeom>
        </p:spPr>
      </p:pic>
      <p:grpSp>
        <p:nvGrpSpPr>
          <p:cNvPr id="6" name="Group 6"/>
          <p:cNvGrpSpPr/>
          <p:nvPr/>
        </p:nvGrpSpPr>
        <p:grpSpPr>
          <a:xfrm>
            <a:off x="139976" y="1689812"/>
            <a:ext cx="17854156" cy="7568488"/>
            <a:chOff x="0" y="0"/>
            <a:chExt cx="5798675" cy="2578157"/>
          </a:xfrm>
        </p:grpSpPr>
        <p:sp>
          <p:nvSpPr>
            <p:cNvPr id="7" name="Freeform 7"/>
            <p:cNvSpPr/>
            <p:nvPr/>
          </p:nvSpPr>
          <p:spPr>
            <a:xfrm>
              <a:off x="0" y="0"/>
              <a:ext cx="5798676" cy="2578157"/>
            </a:xfrm>
            <a:custGeom>
              <a:avLst/>
              <a:gdLst/>
              <a:ahLst/>
              <a:cxnLst/>
              <a:rect l="l" t="t" r="r" b="b"/>
              <a:pathLst>
                <a:path w="5798676" h="2578157">
                  <a:moveTo>
                    <a:pt x="23195" y="0"/>
                  </a:moveTo>
                  <a:lnTo>
                    <a:pt x="5775481" y="0"/>
                  </a:lnTo>
                  <a:cubicBezTo>
                    <a:pt x="5781632" y="0"/>
                    <a:pt x="5787532" y="2444"/>
                    <a:pt x="5791882" y="6794"/>
                  </a:cubicBezTo>
                  <a:cubicBezTo>
                    <a:pt x="5796232" y="11143"/>
                    <a:pt x="5798676" y="17043"/>
                    <a:pt x="5798676" y="23195"/>
                  </a:cubicBezTo>
                  <a:lnTo>
                    <a:pt x="5798676" y="2554962"/>
                  </a:lnTo>
                  <a:cubicBezTo>
                    <a:pt x="5798676" y="2561113"/>
                    <a:pt x="5796232" y="2567013"/>
                    <a:pt x="5791882" y="2571363"/>
                  </a:cubicBezTo>
                  <a:cubicBezTo>
                    <a:pt x="5787532" y="2575713"/>
                    <a:pt x="5781632" y="2578157"/>
                    <a:pt x="5775481" y="2578157"/>
                  </a:cubicBezTo>
                  <a:lnTo>
                    <a:pt x="23195" y="2578157"/>
                  </a:lnTo>
                  <a:cubicBezTo>
                    <a:pt x="17043" y="2578157"/>
                    <a:pt x="11143" y="2575713"/>
                    <a:pt x="6794" y="2571363"/>
                  </a:cubicBezTo>
                  <a:cubicBezTo>
                    <a:pt x="2444" y="2567013"/>
                    <a:pt x="0" y="2561113"/>
                    <a:pt x="0" y="2554962"/>
                  </a:cubicBezTo>
                  <a:lnTo>
                    <a:pt x="0" y="23195"/>
                  </a:lnTo>
                  <a:cubicBezTo>
                    <a:pt x="0" y="17043"/>
                    <a:pt x="2444" y="11143"/>
                    <a:pt x="6794" y="6794"/>
                  </a:cubicBezTo>
                  <a:cubicBezTo>
                    <a:pt x="11143" y="2444"/>
                    <a:pt x="17043" y="0"/>
                    <a:pt x="23195" y="0"/>
                  </a:cubicBezTo>
                  <a:close/>
                </a:path>
              </a:pathLst>
            </a:custGeom>
            <a:solidFill>
              <a:srgbClr val="84E4A8"/>
            </a:solidFill>
          </p:spPr>
          <p:txBody>
            <a:bodyPr/>
            <a:lstStyle/>
            <a:p>
              <a:endParaRPr lang="en-US" dirty="0"/>
            </a:p>
          </p:txBody>
        </p:sp>
        <p:sp>
          <p:nvSpPr>
            <p:cNvPr id="8" name="TextBox 8"/>
            <p:cNvSpPr txBox="1"/>
            <p:nvPr/>
          </p:nvSpPr>
          <p:spPr>
            <a:xfrm>
              <a:off x="0" y="-38100"/>
              <a:ext cx="5798675" cy="2616257"/>
            </a:xfrm>
            <a:prstGeom prst="rect">
              <a:avLst/>
            </a:prstGeom>
          </p:spPr>
          <p:txBody>
            <a:bodyPr lIns="39277" tIns="39277" rIns="39277" bIns="39277" rtlCol="0" anchor="ctr"/>
            <a:lstStyle/>
            <a:p>
              <a:pPr algn="ctr">
                <a:lnSpc>
                  <a:spcPts val="2879"/>
                </a:lnSpc>
              </a:pPr>
              <a:endParaRPr/>
            </a:p>
          </p:txBody>
        </p:sp>
      </p:grpSp>
      <p:grpSp>
        <p:nvGrpSpPr>
          <p:cNvPr id="15" name="Group 15"/>
          <p:cNvGrpSpPr/>
          <p:nvPr/>
        </p:nvGrpSpPr>
        <p:grpSpPr>
          <a:xfrm>
            <a:off x="10896162" y="1984557"/>
            <a:ext cx="3240000" cy="6892743"/>
            <a:chOff x="0" y="0"/>
            <a:chExt cx="679680" cy="1815373"/>
          </a:xfrm>
        </p:grpSpPr>
        <p:sp>
          <p:nvSpPr>
            <p:cNvPr id="16" name="Freeform 16"/>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7" name="TextBox 17"/>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1" name="Group 21"/>
          <p:cNvGrpSpPr/>
          <p:nvPr/>
        </p:nvGrpSpPr>
        <p:grpSpPr>
          <a:xfrm>
            <a:off x="7467308" y="1984557"/>
            <a:ext cx="3240000" cy="6892743"/>
            <a:chOff x="0" y="0"/>
            <a:chExt cx="679680" cy="1815373"/>
          </a:xfrm>
        </p:grpSpPr>
        <p:sp>
          <p:nvSpPr>
            <p:cNvPr id="22" name="Freeform 22"/>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3" name="TextBox 23"/>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7" name="Group 27"/>
          <p:cNvGrpSpPr/>
          <p:nvPr/>
        </p:nvGrpSpPr>
        <p:grpSpPr>
          <a:xfrm>
            <a:off x="4038454" y="1839896"/>
            <a:ext cx="3240000" cy="7037404"/>
            <a:chOff x="0" y="-38100"/>
            <a:chExt cx="764640" cy="1853473"/>
          </a:xfrm>
        </p:grpSpPr>
        <p:sp>
          <p:nvSpPr>
            <p:cNvPr id="28" name="Freeform 28"/>
            <p:cNvSpPr/>
            <p:nvPr/>
          </p:nvSpPr>
          <p:spPr>
            <a:xfrm>
              <a:off x="0" y="0"/>
              <a:ext cx="76464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9" name="TextBox 29"/>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33" name="Group 33"/>
          <p:cNvGrpSpPr/>
          <p:nvPr/>
        </p:nvGrpSpPr>
        <p:grpSpPr>
          <a:xfrm>
            <a:off x="14325016" y="1984557"/>
            <a:ext cx="3240000" cy="6892743"/>
            <a:chOff x="0" y="0"/>
            <a:chExt cx="679680" cy="1815373"/>
          </a:xfrm>
        </p:grpSpPr>
        <p:sp>
          <p:nvSpPr>
            <p:cNvPr id="34" name="Freeform 34"/>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35" name="TextBox 35"/>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5" name="Group 27">
            <a:extLst>
              <a:ext uri="{FF2B5EF4-FFF2-40B4-BE49-F238E27FC236}">
                <a16:creationId xmlns:a16="http://schemas.microsoft.com/office/drawing/2014/main" id="{E551FAE2-1AC9-361B-7730-FDCEE33589CF}"/>
              </a:ext>
            </a:extLst>
          </p:cNvPr>
          <p:cNvGrpSpPr/>
          <p:nvPr/>
        </p:nvGrpSpPr>
        <p:grpSpPr>
          <a:xfrm>
            <a:off x="609600" y="1984557"/>
            <a:ext cx="3240000" cy="6892743"/>
            <a:chOff x="0" y="0"/>
            <a:chExt cx="679680" cy="1815373"/>
          </a:xfrm>
        </p:grpSpPr>
        <p:sp>
          <p:nvSpPr>
            <p:cNvPr id="12" name="Freeform 28">
              <a:extLst>
                <a:ext uri="{FF2B5EF4-FFF2-40B4-BE49-F238E27FC236}">
                  <a16:creationId xmlns:a16="http://schemas.microsoft.com/office/drawing/2014/main" id="{C9115E66-B9B4-B2EA-4D60-97F947167A8C}"/>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3" name="TextBox 29">
              <a:extLst>
                <a:ext uri="{FF2B5EF4-FFF2-40B4-BE49-F238E27FC236}">
                  <a16:creationId xmlns:a16="http://schemas.microsoft.com/office/drawing/2014/main" id="{3896A427-D578-2424-F014-26C9CB82EEFD}"/>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sp>
        <p:nvSpPr>
          <p:cNvPr id="20" name="AutoShape 4">
            <a:extLst>
              <a:ext uri="{FF2B5EF4-FFF2-40B4-BE49-F238E27FC236}">
                <a16:creationId xmlns:a16="http://schemas.microsoft.com/office/drawing/2014/main" id="{40EB3BF9-A6DB-4A54-7E1B-FC78F8C7A8B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1E9327C6-FA99-3341-5F09-1F15A740AAFE}"/>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5944" t="11984" r="17436" b="21395"/>
          <a:stretch>
            <a:fillRect/>
          </a:stretch>
        </p:blipFill>
        <p:spPr>
          <a:xfrm>
            <a:off x="7620000" y="3870037"/>
            <a:ext cx="2826000" cy="2826000"/>
          </a:xfrm>
          <a:prstGeom prst="ellipse">
            <a:avLst/>
          </a:prstGeom>
        </p:spPr>
      </p:pic>
      <p:pic>
        <p:nvPicPr>
          <p:cNvPr id="10" name="Picture 9">
            <a:extLst>
              <a:ext uri="{FF2B5EF4-FFF2-40B4-BE49-F238E27FC236}">
                <a16:creationId xmlns:a16="http://schemas.microsoft.com/office/drawing/2014/main" id="{DE8EDE05-25B6-6311-90CF-DDF964BF3EDA}"/>
              </a:ext>
            </a:extLst>
          </p:cNvPr>
          <p:cNvPicPr>
            <a:picLocks noChangeAspect="1"/>
          </p:cNvPicPr>
          <p:nvPr/>
        </p:nvPicPr>
        <p:blipFill rotWithShape="1">
          <a:blip r:embed="rId9">
            <a:extLst>
              <a:ext uri="{28A0092B-C50C-407E-A947-70E740481C1C}">
                <a14:useLocalDpi xmlns:a14="http://schemas.microsoft.com/office/drawing/2010/main" val="0"/>
              </a:ext>
            </a:extLst>
          </a:blip>
          <a:srcRect l="37814" t="6773" r="31810" b="70445"/>
          <a:stretch>
            <a:fillRect/>
          </a:stretch>
        </p:blipFill>
        <p:spPr>
          <a:xfrm>
            <a:off x="806551" y="3870037"/>
            <a:ext cx="2826000" cy="2826000"/>
          </a:xfrm>
          <a:prstGeom prst="ellipse">
            <a:avLst/>
          </a:prstGeom>
        </p:spPr>
      </p:pic>
      <p:pic>
        <p:nvPicPr>
          <p:cNvPr id="9" name="Picture 8">
            <a:extLst>
              <a:ext uri="{FF2B5EF4-FFF2-40B4-BE49-F238E27FC236}">
                <a16:creationId xmlns:a16="http://schemas.microsoft.com/office/drawing/2014/main" id="{F921623F-FA1B-45B6-C9D9-EB62AF42BF83}"/>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27401" t="2647" r="30140" b="52551"/>
          <a:stretch>
            <a:fillRect/>
          </a:stretch>
        </p:blipFill>
        <p:spPr>
          <a:xfrm>
            <a:off x="11118600" y="3870037"/>
            <a:ext cx="2826000" cy="2826000"/>
          </a:xfrm>
          <a:prstGeom prst="ellipse">
            <a:avLst/>
          </a:prstGeom>
        </p:spPr>
      </p:pic>
      <p:pic>
        <p:nvPicPr>
          <p:cNvPr id="14" name="Picture 13">
            <a:extLst>
              <a:ext uri="{FF2B5EF4-FFF2-40B4-BE49-F238E27FC236}">
                <a16:creationId xmlns:a16="http://schemas.microsoft.com/office/drawing/2014/main" id="{04CADA13-6A00-205D-81CC-4C92BFF88FC9}"/>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32419" t="35641" r="33200" b="38571"/>
          <a:stretch>
            <a:fillRect/>
          </a:stretch>
        </p:blipFill>
        <p:spPr>
          <a:xfrm>
            <a:off x="14547600" y="3870037"/>
            <a:ext cx="2826000" cy="2826000"/>
          </a:xfrm>
          <a:prstGeom prst="ellipse">
            <a:avLst/>
          </a:prstGeom>
        </p:spPr>
      </p:pic>
      <p:pic>
        <p:nvPicPr>
          <p:cNvPr id="18" name="Picture 17">
            <a:extLst>
              <a:ext uri="{FF2B5EF4-FFF2-40B4-BE49-F238E27FC236}">
                <a16:creationId xmlns:a16="http://schemas.microsoft.com/office/drawing/2014/main" id="{CF08F067-72D5-3EEA-CB16-7D89C2D863E6}"/>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9007" t="14441" r="24550" b="34302"/>
          <a:stretch>
            <a:fillRect/>
          </a:stretch>
        </p:blipFill>
        <p:spPr>
          <a:xfrm>
            <a:off x="4228851" y="3870037"/>
            <a:ext cx="2826000" cy="2826000"/>
          </a:xfrm>
          <a:prstGeom prst="ellipse">
            <a:avLst/>
          </a:prstGeom>
        </p:spPr>
      </p:pic>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945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p:cNvGrpSpPr/>
          <p:nvPr/>
        </p:nvGrpSpPr>
        <p:grpSpPr>
          <a:xfrm>
            <a:off x="579906" y="1689812"/>
            <a:ext cx="17022707" cy="7568488"/>
            <a:chOff x="0" y="0"/>
            <a:chExt cx="5798675" cy="2578157"/>
          </a:xfrm>
        </p:grpSpPr>
        <p:sp>
          <p:nvSpPr>
            <p:cNvPr id="7" name="Freeform 7"/>
            <p:cNvSpPr/>
            <p:nvPr/>
          </p:nvSpPr>
          <p:spPr>
            <a:xfrm>
              <a:off x="0" y="0"/>
              <a:ext cx="5798676" cy="2578157"/>
            </a:xfrm>
            <a:custGeom>
              <a:avLst/>
              <a:gdLst/>
              <a:ahLst/>
              <a:cxnLst/>
              <a:rect l="l" t="t" r="r" b="b"/>
              <a:pathLst>
                <a:path w="5798676" h="2578157">
                  <a:moveTo>
                    <a:pt x="23195" y="0"/>
                  </a:moveTo>
                  <a:lnTo>
                    <a:pt x="5775481" y="0"/>
                  </a:lnTo>
                  <a:cubicBezTo>
                    <a:pt x="5781632" y="0"/>
                    <a:pt x="5787532" y="2444"/>
                    <a:pt x="5791882" y="6794"/>
                  </a:cubicBezTo>
                  <a:cubicBezTo>
                    <a:pt x="5796232" y="11143"/>
                    <a:pt x="5798676" y="17043"/>
                    <a:pt x="5798676" y="23195"/>
                  </a:cubicBezTo>
                  <a:lnTo>
                    <a:pt x="5798676" y="2554962"/>
                  </a:lnTo>
                  <a:cubicBezTo>
                    <a:pt x="5798676" y="2561113"/>
                    <a:pt x="5796232" y="2567013"/>
                    <a:pt x="5791882" y="2571363"/>
                  </a:cubicBezTo>
                  <a:cubicBezTo>
                    <a:pt x="5787532" y="2575713"/>
                    <a:pt x="5781632" y="2578157"/>
                    <a:pt x="5775481" y="2578157"/>
                  </a:cubicBezTo>
                  <a:lnTo>
                    <a:pt x="23195" y="2578157"/>
                  </a:lnTo>
                  <a:cubicBezTo>
                    <a:pt x="17043" y="2578157"/>
                    <a:pt x="11143" y="2575713"/>
                    <a:pt x="6794" y="2571363"/>
                  </a:cubicBezTo>
                  <a:cubicBezTo>
                    <a:pt x="2444" y="2567013"/>
                    <a:pt x="0" y="2561113"/>
                    <a:pt x="0" y="2554962"/>
                  </a:cubicBezTo>
                  <a:lnTo>
                    <a:pt x="0" y="23195"/>
                  </a:lnTo>
                  <a:cubicBezTo>
                    <a:pt x="0" y="17043"/>
                    <a:pt x="2444" y="11143"/>
                    <a:pt x="6794" y="6794"/>
                  </a:cubicBezTo>
                  <a:cubicBezTo>
                    <a:pt x="11143" y="2444"/>
                    <a:pt x="17043" y="0"/>
                    <a:pt x="23195" y="0"/>
                  </a:cubicBezTo>
                  <a:close/>
                </a:path>
              </a:pathLst>
            </a:custGeom>
            <a:solidFill>
              <a:srgbClr val="84E4A8"/>
            </a:solidFill>
          </p:spPr>
          <p:txBody>
            <a:bodyPr/>
            <a:lstStyle/>
            <a:p>
              <a:endParaRPr lang="en-US"/>
            </a:p>
          </p:txBody>
        </p:sp>
        <p:sp>
          <p:nvSpPr>
            <p:cNvPr id="8" name="TextBox 8"/>
            <p:cNvSpPr txBox="1"/>
            <p:nvPr/>
          </p:nvSpPr>
          <p:spPr>
            <a:xfrm>
              <a:off x="0" y="-38100"/>
              <a:ext cx="5798675" cy="2616257"/>
            </a:xfrm>
            <a:prstGeom prst="rect">
              <a:avLst/>
            </a:prstGeom>
          </p:spPr>
          <p:txBody>
            <a:bodyPr lIns="39277" tIns="39277" rIns="39277" bIns="39277" rtlCol="0" anchor="ctr"/>
            <a:lstStyle/>
            <a:p>
              <a:pPr algn="ctr">
                <a:lnSpc>
                  <a:spcPts val="2879"/>
                </a:lnSpc>
              </a:pPr>
              <a:endParaRPr/>
            </a:p>
          </p:txBody>
        </p:sp>
      </p:grpSp>
      <p:grpSp>
        <p:nvGrpSpPr>
          <p:cNvPr id="9" name="Group 9"/>
          <p:cNvGrpSpPr/>
          <p:nvPr/>
        </p:nvGrpSpPr>
        <p:grpSpPr>
          <a:xfrm>
            <a:off x="1028700" y="2079956"/>
            <a:ext cx="2580660" cy="6892743"/>
            <a:chOff x="0" y="0"/>
            <a:chExt cx="679680" cy="1815373"/>
          </a:xfrm>
        </p:grpSpPr>
        <p:sp>
          <p:nvSpPr>
            <p:cNvPr id="10" name="Freeform 10"/>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1" name="TextBox 11"/>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2" name="Group 12"/>
          <p:cNvGrpSpPr/>
          <p:nvPr/>
        </p:nvGrpSpPr>
        <p:grpSpPr>
          <a:xfrm>
            <a:off x="1048764" y="3873234"/>
            <a:ext cx="2540533" cy="2540533"/>
            <a:chOff x="0" y="0"/>
            <a:chExt cx="6350000" cy="6350000"/>
          </a:xfrm>
        </p:grpSpPr>
        <p:sp>
          <p:nvSpPr>
            <p:cNvPr id="13" name="Freeform 13"/>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t="-25000" b="-25000"/>
              </a:stretch>
            </a:blipFill>
          </p:spPr>
          <p:txBody>
            <a:bodyPr/>
            <a:lstStyle/>
            <a:p>
              <a:endParaRPr lang="en-US"/>
            </a:p>
          </p:txBody>
        </p:sp>
      </p:grpSp>
      <p:sp>
        <p:nvSpPr>
          <p:cNvPr id="14" name="TextBox 14"/>
          <p:cNvSpPr txBox="1"/>
          <p:nvPr/>
        </p:nvSpPr>
        <p:spPr>
          <a:xfrm>
            <a:off x="5402536" y="68142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Project Team + Roles</a:t>
            </a:r>
          </a:p>
        </p:txBody>
      </p:sp>
      <p:grpSp>
        <p:nvGrpSpPr>
          <p:cNvPr id="15" name="Group 15"/>
          <p:cNvGrpSpPr/>
          <p:nvPr/>
        </p:nvGrpSpPr>
        <p:grpSpPr>
          <a:xfrm>
            <a:off x="1048764" y="2027684"/>
            <a:ext cx="2580660" cy="6892743"/>
            <a:chOff x="0" y="0"/>
            <a:chExt cx="679680" cy="1815373"/>
          </a:xfrm>
        </p:grpSpPr>
        <p:sp>
          <p:nvSpPr>
            <p:cNvPr id="16" name="Freeform 16"/>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7" name="TextBox 17"/>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8" name="Group 18"/>
          <p:cNvGrpSpPr/>
          <p:nvPr/>
        </p:nvGrpSpPr>
        <p:grpSpPr>
          <a:xfrm>
            <a:off x="1027031" y="3873234"/>
            <a:ext cx="2540533" cy="2540533"/>
            <a:chOff x="0" y="0"/>
            <a:chExt cx="6350000" cy="6350000"/>
          </a:xfrm>
        </p:grpSpPr>
        <p:sp>
          <p:nvSpPr>
            <p:cNvPr id="19" name="Freeform 19"/>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t="-16747" b="-16747"/>
              </a:stretch>
            </a:blipFill>
          </p:spPr>
          <p:txBody>
            <a:bodyPr/>
            <a:lstStyle/>
            <a:p>
              <a:endParaRPr lang="en-US"/>
            </a:p>
          </p:txBody>
        </p:sp>
      </p:grpSp>
      <p:grpSp>
        <p:nvGrpSpPr>
          <p:cNvPr id="20" name="Group 20"/>
          <p:cNvGrpSpPr/>
          <p:nvPr/>
        </p:nvGrpSpPr>
        <p:grpSpPr>
          <a:xfrm>
            <a:off x="1084293" y="2027684"/>
            <a:ext cx="2580660" cy="6892743"/>
            <a:chOff x="0" y="0"/>
            <a:chExt cx="679680" cy="1815373"/>
          </a:xfrm>
        </p:grpSpPr>
        <p:sp>
          <p:nvSpPr>
            <p:cNvPr id="21" name="Freeform 21"/>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2" name="TextBox 22"/>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3" name="Group 23"/>
          <p:cNvGrpSpPr/>
          <p:nvPr/>
        </p:nvGrpSpPr>
        <p:grpSpPr>
          <a:xfrm>
            <a:off x="1124421" y="3873234"/>
            <a:ext cx="2540533" cy="2540533"/>
            <a:chOff x="0" y="0"/>
            <a:chExt cx="6350000" cy="6350000"/>
          </a:xfrm>
        </p:grpSpPr>
        <p:sp>
          <p:nvSpPr>
            <p:cNvPr id="24" name="Freeform 24"/>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8"/>
              <a:stretch>
                <a:fillRect t="-31120" b="-31120"/>
              </a:stretch>
            </a:blipFill>
          </p:spPr>
          <p:txBody>
            <a:bodyPr/>
            <a:lstStyle/>
            <a:p>
              <a:endParaRPr lang="en-US"/>
            </a:p>
          </p:txBody>
        </p:sp>
      </p:grpSp>
      <p:grpSp>
        <p:nvGrpSpPr>
          <p:cNvPr id="25" name="Group 25"/>
          <p:cNvGrpSpPr/>
          <p:nvPr/>
        </p:nvGrpSpPr>
        <p:grpSpPr>
          <a:xfrm>
            <a:off x="1048764" y="2079956"/>
            <a:ext cx="2580660" cy="6892743"/>
            <a:chOff x="0" y="0"/>
            <a:chExt cx="679680" cy="1815373"/>
          </a:xfrm>
        </p:grpSpPr>
        <p:sp>
          <p:nvSpPr>
            <p:cNvPr id="26" name="Freeform 26"/>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7" name="TextBox 27"/>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8" name="Group 28"/>
          <p:cNvGrpSpPr/>
          <p:nvPr/>
        </p:nvGrpSpPr>
        <p:grpSpPr>
          <a:xfrm>
            <a:off x="1084293" y="3873234"/>
            <a:ext cx="2540533" cy="2540533"/>
            <a:chOff x="0" y="0"/>
            <a:chExt cx="6350000" cy="6350000"/>
          </a:xfrm>
        </p:grpSpPr>
        <p:sp>
          <p:nvSpPr>
            <p:cNvPr id="29" name="Freeform 29"/>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9"/>
              <a:stretch>
                <a:fillRect t="-16666" b="-16666"/>
              </a:stretch>
            </a:blipFill>
          </p:spPr>
          <p:txBody>
            <a:bodyPr/>
            <a:lstStyle/>
            <a:p>
              <a:endParaRPr lang="en-US"/>
            </a:p>
          </p:txBody>
        </p:sp>
      </p:grpSp>
      <p:grpSp>
        <p:nvGrpSpPr>
          <p:cNvPr id="30" name="Group 30"/>
          <p:cNvGrpSpPr/>
          <p:nvPr/>
        </p:nvGrpSpPr>
        <p:grpSpPr>
          <a:xfrm>
            <a:off x="1060480" y="2079956"/>
            <a:ext cx="2588158" cy="6892743"/>
            <a:chOff x="0" y="0"/>
            <a:chExt cx="3450877" cy="9190325"/>
          </a:xfrm>
        </p:grpSpPr>
        <p:grpSp>
          <p:nvGrpSpPr>
            <p:cNvPr id="31" name="Group 31"/>
            <p:cNvGrpSpPr/>
            <p:nvPr/>
          </p:nvGrpSpPr>
          <p:grpSpPr>
            <a:xfrm>
              <a:off x="0" y="0"/>
              <a:ext cx="3440880" cy="9190325"/>
              <a:chOff x="0" y="0"/>
              <a:chExt cx="679680" cy="1815373"/>
            </a:xfrm>
          </p:grpSpPr>
          <p:sp>
            <p:nvSpPr>
              <p:cNvPr id="32" name="Freeform 32"/>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33" name="TextBox 33"/>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34" name="Group 34"/>
            <p:cNvGrpSpPr/>
            <p:nvPr/>
          </p:nvGrpSpPr>
          <p:grpSpPr>
            <a:xfrm>
              <a:off x="63500" y="2391038"/>
              <a:ext cx="3387377" cy="3387377"/>
              <a:chOff x="0" y="0"/>
              <a:chExt cx="6350000" cy="6350000"/>
            </a:xfrm>
          </p:grpSpPr>
          <p:sp>
            <p:nvSpPr>
              <p:cNvPr id="35" name="Freeform 35"/>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0"/>
                <a:stretch>
                  <a:fillRect l="-38888" r="-38888"/>
                </a:stretch>
              </a:blipFill>
            </p:spPr>
            <p:txBody>
              <a:bodyPr/>
              <a:lstStyle/>
              <a:p>
                <a:endParaRPr lang="en-US"/>
              </a:p>
            </p:txBody>
          </p:sp>
        </p:grpSp>
      </p:grpSp>
      <p:grpSp>
        <p:nvGrpSpPr>
          <p:cNvPr id="36" name="Group 36"/>
          <p:cNvGrpSpPr/>
          <p:nvPr/>
        </p:nvGrpSpPr>
        <p:grpSpPr>
          <a:xfrm>
            <a:off x="986904" y="2027684"/>
            <a:ext cx="16272396" cy="6945015"/>
            <a:chOff x="0" y="0"/>
            <a:chExt cx="4285734" cy="1829140"/>
          </a:xfrm>
        </p:grpSpPr>
        <p:sp>
          <p:nvSpPr>
            <p:cNvPr id="37" name="Freeform 37"/>
            <p:cNvSpPr/>
            <p:nvPr/>
          </p:nvSpPr>
          <p:spPr>
            <a:xfrm>
              <a:off x="0" y="0"/>
              <a:ext cx="4285734" cy="1829140"/>
            </a:xfrm>
            <a:custGeom>
              <a:avLst/>
              <a:gdLst/>
              <a:ahLst/>
              <a:cxnLst/>
              <a:rect l="l" t="t" r="r" b="b"/>
              <a:pathLst>
                <a:path w="4285734" h="1829140">
                  <a:moveTo>
                    <a:pt x="24264" y="0"/>
                  </a:moveTo>
                  <a:lnTo>
                    <a:pt x="4261470" y="0"/>
                  </a:lnTo>
                  <a:cubicBezTo>
                    <a:pt x="4274871" y="0"/>
                    <a:pt x="4285734" y="10863"/>
                    <a:pt x="4285734" y="24264"/>
                  </a:cubicBezTo>
                  <a:lnTo>
                    <a:pt x="4285734" y="1804875"/>
                  </a:lnTo>
                  <a:cubicBezTo>
                    <a:pt x="4285734" y="1811311"/>
                    <a:pt x="4283178" y="1817482"/>
                    <a:pt x="4278627" y="1822033"/>
                  </a:cubicBezTo>
                  <a:cubicBezTo>
                    <a:pt x="4274077" y="1826583"/>
                    <a:pt x="4267905" y="1829140"/>
                    <a:pt x="4261470" y="1829140"/>
                  </a:cubicBezTo>
                  <a:lnTo>
                    <a:pt x="24264" y="1829140"/>
                  </a:lnTo>
                  <a:cubicBezTo>
                    <a:pt x="10863" y="1829140"/>
                    <a:pt x="0" y="1818276"/>
                    <a:pt x="0" y="1804875"/>
                  </a:cubicBezTo>
                  <a:lnTo>
                    <a:pt x="0" y="24264"/>
                  </a:lnTo>
                  <a:cubicBezTo>
                    <a:pt x="0" y="17829"/>
                    <a:pt x="2556" y="11657"/>
                    <a:pt x="7107" y="7107"/>
                  </a:cubicBezTo>
                  <a:cubicBezTo>
                    <a:pt x="11657" y="2556"/>
                    <a:pt x="17829" y="0"/>
                    <a:pt x="24264" y="0"/>
                  </a:cubicBezTo>
                  <a:close/>
                </a:path>
              </a:pathLst>
            </a:custGeom>
            <a:solidFill>
              <a:srgbClr val="336EA8"/>
            </a:solidFill>
          </p:spPr>
          <p:txBody>
            <a:bodyPr/>
            <a:lstStyle/>
            <a:p>
              <a:endParaRPr lang="en-US"/>
            </a:p>
          </p:txBody>
        </p:sp>
        <p:sp>
          <p:nvSpPr>
            <p:cNvPr id="38" name="TextBox 38"/>
            <p:cNvSpPr txBox="1"/>
            <p:nvPr/>
          </p:nvSpPr>
          <p:spPr>
            <a:xfrm>
              <a:off x="0" y="-38100"/>
              <a:ext cx="4285734" cy="1867240"/>
            </a:xfrm>
            <a:prstGeom prst="rect">
              <a:avLst/>
            </a:prstGeom>
          </p:spPr>
          <p:txBody>
            <a:bodyPr lIns="50800" tIns="50800" rIns="50800" bIns="50800" rtlCol="0" anchor="ctr"/>
            <a:lstStyle/>
            <a:p>
              <a:pPr algn="ctr">
                <a:lnSpc>
                  <a:spcPts val="2879"/>
                </a:lnSpc>
              </a:pPr>
              <a:endParaRPr/>
            </a:p>
          </p:txBody>
        </p:sp>
      </p:grpSp>
      <p:sp>
        <p:nvSpPr>
          <p:cNvPr id="41" name="TextBox 41"/>
          <p:cNvSpPr txBox="1"/>
          <p:nvPr/>
        </p:nvSpPr>
        <p:spPr>
          <a:xfrm>
            <a:off x="4272352" y="3333404"/>
            <a:ext cx="12758348" cy="5321566"/>
          </a:xfrm>
          <a:prstGeom prst="rect">
            <a:avLst/>
          </a:prstGeom>
        </p:spPr>
        <p:txBody>
          <a:bodyPr lIns="0" tIns="0" rIns="0" bIns="0" rtlCol="0" anchor="t">
            <a:spAutoFit/>
          </a:bodyPr>
          <a:lstStyle/>
          <a:p>
            <a:pPr algn="ctr">
              <a:lnSpc>
                <a:spcPts val="3835"/>
              </a:lnSpc>
            </a:pPr>
            <a:r>
              <a:rPr lang="en-US" sz="2739" b="1" dirty="0">
                <a:solidFill>
                  <a:srgbClr val="000000"/>
                </a:solidFill>
                <a:latin typeface="Canva Sans Bold"/>
                <a:ea typeface="Canva Sans Bold"/>
                <a:cs typeface="Canva Sans Bold"/>
                <a:sym typeface="Canva Sans Bold"/>
              </a:rPr>
              <a:t>Introduction</a:t>
            </a:r>
          </a:p>
          <a:p>
            <a:pPr algn="l">
              <a:lnSpc>
                <a:spcPts val="3835"/>
              </a:lnSpc>
            </a:pPr>
            <a:r>
              <a:rPr lang="en-US" sz="2739" b="1" dirty="0">
                <a:solidFill>
                  <a:srgbClr val="000000"/>
                </a:solidFill>
                <a:latin typeface="Canva Sans Bold"/>
                <a:ea typeface="Canva Sans Bold"/>
                <a:cs typeface="Canva Sans Bold"/>
                <a:sym typeface="Canva Sans Bold"/>
              </a:rPr>
              <a:t>I’m Mohamed Emad, a </a:t>
            </a:r>
            <a:r>
              <a:rPr lang="ar-EG" sz="2739" b="1" dirty="0">
                <a:solidFill>
                  <a:srgbClr val="000000"/>
                </a:solidFill>
                <a:latin typeface="Canva Sans Bold"/>
                <a:ea typeface="Canva Sans Bold"/>
                <a:cs typeface="Canva Sans Bold"/>
                <a:sym typeface="Canva Sans Bold"/>
              </a:rPr>
              <a:t>20</a:t>
            </a:r>
            <a:r>
              <a:rPr lang="en-US" sz="2739" b="1" dirty="0">
                <a:solidFill>
                  <a:srgbClr val="000000"/>
                </a:solidFill>
                <a:latin typeface="Canva Sans Bold"/>
                <a:ea typeface="Canva Sans Bold"/>
                <a:cs typeface="Canva Sans Bold"/>
                <a:sym typeface="Canva Sans Bold"/>
              </a:rPr>
              <a:t>-year-old student at Al-Azhar University’s Faculty of Agriculture. Passionate about analytical thinking and leveraging technology to solve complex problems. Currently exploring innovative ways to bridge data-driven insights with real-world applications in the agricultural field.</a:t>
            </a:r>
          </a:p>
          <a:p>
            <a:pPr algn="ctr">
              <a:lnSpc>
                <a:spcPts val="3835"/>
              </a:lnSpc>
            </a:pPr>
            <a:r>
              <a:rPr lang="en-US" sz="2800" b="1" dirty="0">
                <a:solidFill>
                  <a:srgbClr val="000000"/>
                </a:solidFill>
                <a:latin typeface="Canva Sans Bold"/>
                <a:ea typeface="Canva Sans Bold"/>
                <a:cs typeface="Canva Sans Bold"/>
                <a:sym typeface="Canva Sans Bold"/>
              </a:rPr>
              <a:t>Team Leader</a:t>
            </a:r>
            <a:endParaRPr lang="en-US" sz="2739" b="1" dirty="0">
              <a:solidFill>
                <a:srgbClr val="000000"/>
              </a:solidFill>
              <a:latin typeface="Canva Sans Bold"/>
              <a:ea typeface="Canva Sans Bold"/>
              <a:cs typeface="Canva Sans Bold"/>
              <a:sym typeface="Canva Sans Bold"/>
            </a:endParaRPr>
          </a:p>
          <a:p>
            <a:pPr algn="ctr">
              <a:lnSpc>
                <a:spcPts val="3835"/>
              </a:lnSpc>
            </a:pPr>
            <a:r>
              <a:rPr lang="en-US" sz="2739" b="1" dirty="0">
                <a:solidFill>
                  <a:srgbClr val="000000"/>
                </a:solidFill>
                <a:latin typeface="Canva Sans Bold"/>
                <a:ea typeface="Canva Sans Bold"/>
                <a:cs typeface="Canva Sans Bold"/>
                <a:sym typeface="Canva Sans Bold"/>
              </a:rPr>
              <a:t>Data Insights Specialist</a:t>
            </a:r>
          </a:p>
          <a:p>
            <a:pPr algn="l">
              <a:lnSpc>
                <a:spcPts val="3835"/>
              </a:lnSpc>
            </a:pPr>
            <a:r>
              <a:rPr lang="en-US" sz="2739" b="1" dirty="0">
                <a:solidFill>
                  <a:srgbClr val="000000"/>
                </a:solidFill>
                <a:latin typeface="Canva Sans Bold"/>
                <a:ea typeface="Canva Sans Bold"/>
                <a:cs typeface="Canva Sans Bold"/>
                <a:sym typeface="Canva Sans Bold"/>
              </a:rPr>
              <a:t> – Data analysis and insights generation </a:t>
            </a:r>
          </a:p>
          <a:p>
            <a:pPr algn="l">
              <a:lnSpc>
                <a:spcPts val="3835"/>
              </a:lnSpc>
            </a:pPr>
            <a:r>
              <a:rPr lang="en-US" sz="2739" b="1" dirty="0">
                <a:solidFill>
                  <a:srgbClr val="000000"/>
                </a:solidFill>
                <a:latin typeface="Canva Sans Bold"/>
                <a:ea typeface="Canva Sans Bold"/>
                <a:cs typeface="Canva Sans Bold"/>
                <a:sym typeface="Canva Sans Bold"/>
              </a:rPr>
              <a:t> – Supporting the team in extracting and refining final insights </a:t>
            </a:r>
          </a:p>
          <a:p>
            <a:pPr algn="l">
              <a:lnSpc>
                <a:spcPts val="3835"/>
              </a:lnSpc>
            </a:pPr>
            <a:r>
              <a:rPr lang="en-US" sz="2739" b="1" dirty="0">
                <a:solidFill>
                  <a:srgbClr val="000000"/>
                </a:solidFill>
                <a:latin typeface="Canva Sans Bold"/>
                <a:ea typeface="Canva Sans Bold"/>
                <a:cs typeface="Canva Sans Bold"/>
                <a:sym typeface="Canva Sans Bold"/>
              </a:rPr>
              <a:t> – Data analysis using Excel (Pivot Tables + Charts)</a:t>
            </a:r>
          </a:p>
        </p:txBody>
      </p:sp>
      <p:sp>
        <p:nvSpPr>
          <p:cNvPr id="42" name="TextBox 42"/>
          <p:cNvSpPr txBox="1"/>
          <p:nvPr/>
        </p:nvSpPr>
        <p:spPr>
          <a:xfrm>
            <a:off x="6117254" y="2266524"/>
            <a:ext cx="8113832" cy="828040"/>
          </a:xfrm>
          <a:prstGeom prst="rect">
            <a:avLst/>
          </a:prstGeom>
        </p:spPr>
        <p:txBody>
          <a:bodyPr lIns="0" tIns="0" rIns="0" bIns="0" rtlCol="0" anchor="t">
            <a:spAutoFit/>
          </a:bodyPr>
          <a:lstStyle/>
          <a:p>
            <a:pPr algn="ctr">
              <a:lnSpc>
                <a:spcPts val="6860"/>
              </a:lnSpc>
            </a:pPr>
            <a:r>
              <a:rPr lang="en-US" sz="4900" b="1" dirty="0">
                <a:solidFill>
                  <a:srgbClr val="000000"/>
                </a:solidFill>
                <a:latin typeface="Canva Sans Bold"/>
                <a:ea typeface="Canva Sans Bold"/>
                <a:cs typeface="Canva Sans Bold"/>
                <a:sym typeface="Canva Sans Bold"/>
              </a:rPr>
              <a:t>Mohamed Emad Ramadan</a:t>
            </a:r>
          </a:p>
        </p:txBody>
      </p:sp>
      <p:pic>
        <p:nvPicPr>
          <p:cNvPr id="44" name="Picture 43">
            <a:extLst>
              <a:ext uri="{FF2B5EF4-FFF2-40B4-BE49-F238E27FC236}">
                <a16:creationId xmlns:a16="http://schemas.microsoft.com/office/drawing/2014/main" id="{F52142E4-EF98-10B2-B78A-8B9D435092E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8962442"/>
            <a:ext cx="1324558" cy="1324558"/>
          </a:xfrm>
          <a:prstGeom prst="rect">
            <a:avLst/>
          </a:prstGeom>
        </p:spPr>
      </p:pic>
      <p:pic>
        <p:nvPicPr>
          <p:cNvPr id="39" name="Picture 38">
            <a:extLst>
              <a:ext uri="{FF2B5EF4-FFF2-40B4-BE49-F238E27FC236}">
                <a16:creationId xmlns:a16="http://schemas.microsoft.com/office/drawing/2014/main" id="{D08E96A7-9501-616D-068B-F7168E3E44E5}"/>
              </a:ext>
            </a:extLst>
          </p:cNvPr>
          <p:cNvPicPr>
            <a:picLocks noChangeAspect="1"/>
          </p:cNvPicPr>
          <p:nvPr/>
        </p:nvPicPr>
        <p:blipFill rotWithShape="1">
          <a:blip r:embed="rId12">
            <a:extLst>
              <a:ext uri="{28A0092B-C50C-407E-A947-70E740481C1C}">
                <a14:useLocalDpi xmlns:a14="http://schemas.microsoft.com/office/drawing/2010/main" val="0"/>
              </a:ext>
            </a:extLst>
          </a:blip>
          <a:srcRect l="37814" t="6773" r="31810" b="70445"/>
          <a:stretch>
            <a:fillRect/>
          </a:stretch>
        </p:blipFill>
        <p:spPr>
          <a:xfrm>
            <a:off x="1195973" y="4061055"/>
            <a:ext cx="2826000" cy="2826000"/>
          </a:xfrm>
          <a:prstGeom prst="ellipse">
            <a:avLst/>
          </a:prstGeom>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30FD6-7373-73A7-B567-71E88BB12CA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0F65A58-39D0-E73A-0415-7B3D7EDAC555}"/>
              </a:ext>
            </a:extLst>
          </p:cNvPr>
          <p:cNvSpPr/>
          <p:nvPr/>
        </p:nvSpPr>
        <p:spPr>
          <a:xfrm>
            <a:off x="0" y="-1945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a:extLst>
              <a:ext uri="{FF2B5EF4-FFF2-40B4-BE49-F238E27FC236}">
                <a16:creationId xmlns:a16="http://schemas.microsoft.com/office/drawing/2014/main" id="{D8B42F78-CC1D-0DFB-854F-FE614AC46C18}"/>
              </a:ext>
            </a:extLst>
          </p:cNvPr>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a:extLst>
              <a:ext uri="{FF2B5EF4-FFF2-40B4-BE49-F238E27FC236}">
                <a16:creationId xmlns:a16="http://schemas.microsoft.com/office/drawing/2014/main" id="{9F848876-310C-F3D4-A658-CC34C72112B8}"/>
              </a:ext>
            </a:extLst>
          </p:cNvPr>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a:extLst>
              <a:ext uri="{FF2B5EF4-FFF2-40B4-BE49-F238E27FC236}">
                <a16:creationId xmlns:a16="http://schemas.microsoft.com/office/drawing/2014/main" id="{1F1C86E5-0054-7388-6890-E84C81C1573C}"/>
              </a:ext>
            </a:extLst>
          </p:cNvPr>
          <p:cNvGrpSpPr/>
          <p:nvPr/>
        </p:nvGrpSpPr>
        <p:grpSpPr>
          <a:xfrm>
            <a:off x="579906" y="1689812"/>
            <a:ext cx="17022707" cy="7568488"/>
            <a:chOff x="0" y="0"/>
            <a:chExt cx="5798675" cy="2578157"/>
          </a:xfrm>
        </p:grpSpPr>
        <p:sp>
          <p:nvSpPr>
            <p:cNvPr id="7" name="Freeform 7">
              <a:extLst>
                <a:ext uri="{FF2B5EF4-FFF2-40B4-BE49-F238E27FC236}">
                  <a16:creationId xmlns:a16="http://schemas.microsoft.com/office/drawing/2014/main" id="{95F1BC4A-3886-C3F8-9C15-951DF3703771}"/>
                </a:ext>
              </a:extLst>
            </p:cNvPr>
            <p:cNvSpPr/>
            <p:nvPr/>
          </p:nvSpPr>
          <p:spPr>
            <a:xfrm>
              <a:off x="0" y="0"/>
              <a:ext cx="5798676" cy="2578157"/>
            </a:xfrm>
            <a:custGeom>
              <a:avLst/>
              <a:gdLst/>
              <a:ahLst/>
              <a:cxnLst/>
              <a:rect l="l" t="t" r="r" b="b"/>
              <a:pathLst>
                <a:path w="5798676" h="2578157">
                  <a:moveTo>
                    <a:pt x="23195" y="0"/>
                  </a:moveTo>
                  <a:lnTo>
                    <a:pt x="5775481" y="0"/>
                  </a:lnTo>
                  <a:cubicBezTo>
                    <a:pt x="5781632" y="0"/>
                    <a:pt x="5787532" y="2444"/>
                    <a:pt x="5791882" y="6794"/>
                  </a:cubicBezTo>
                  <a:cubicBezTo>
                    <a:pt x="5796232" y="11143"/>
                    <a:pt x="5798676" y="17043"/>
                    <a:pt x="5798676" y="23195"/>
                  </a:cubicBezTo>
                  <a:lnTo>
                    <a:pt x="5798676" y="2554962"/>
                  </a:lnTo>
                  <a:cubicBezTo>
                    <a:pt x="5798676" y="2561113"/>
                    <a:pt x="5796232" y="2567013"/>
                    <a:pt x="5791882" y="2571363"/>
                  </a:cubicBezTo>
                  <a:cubicBezTo>
                    <a:pt x="5787532" y="2575713"/>
                    <a:pt x="5781632" y="2578157"/>
                    <a:pt x="5775481" y="2578157"/>
                  </a:cubicBezTo>
                  <a:lnTo>
                    <a:pt x="23195" y="2578157"/>
                  </a:lnTo>
                  <a:cubicBezTo>
                    <a:pt x="17043" y="2578157"/>
                    <a:pt x="11143" y="2575713"/>
                    <a:pt x="6794" y="2571363"/>
                  </a:cubicBezTo>
                  <a:cubicBezTo>
                    <a:pt x="2444" y="2567013"/>
                    <a:pt x="0" y="2561113"/>
                    <a:pt x="0" y="2554962"/>
                  </a:cubicBezTo>
                  <a:lnTo>
                    <a:pt x="0" y="23195"/>
                  </a:lnTo>
                  <a:cubicBezTo>
                    <a:pt x="0" y="17043"/>
                    <a:pt x="2444" y="11143"/>
                    <a:pt x="6794" y="6794"/>
                  </a:cubicBezTo>
                  <a:cubicBezTo>
                    <a:pt x="11143" y="2444"/>
                    <a:pt x="17043" y="0"/>
                    <a:pt x="23195" y="0"/>
                  </a:cubicBezTo>
                  <a:close/>
                </a:path>
              </a:pathLst>
            </a:custGeom>
            <a:solidFill>
              <a:srgbClr val="84E4A8"/>
            </a:solidFill>
          </p:spPr>
          <p:txBody>
            <a:bodyPr/>
            <a:lstStyle/>
            <a:p>
              <a:endParaRPr lang="en-US"/>
            </a:p>
          </p:txBody>
        </p:sp>
        <p:sp>
          <p:nvSpPr>
            <p:cNvPr id="8" name="TextBox 8">
              <a:extLst>
                <a:ext uri="{FF2B5EF4-FFF2-40B4-BE49-F238E27FC236}">
                  <a16:creationId xmlns:a16="http://schemas.microsoft.com/office/drawing/2014/main" id="{EC2ADBB2-9CAC-E3D4-7B6A-74FBB0DBF5C3}"/>
                </a:ext>
              </a:extLst>
            </p:cNvPr>
            <p:cNvSpPr txBox="1"/>
            <p:nvPr/>
          </p:nvSpPr>
          <p:spPr>
            <a:xfrm>
              <a:off x="0" y="-38100"/>
              <a:ext cx="5798675" cy="2616257"/>
            </a:xfrm>
            <a:prstGeom prst="rect">
              <a:avLst/>
            </a:prstGeom>
          </p:spPr>
          <p:txBody>
            <a:bodyPr lIns="39277" tIns="39277" rIns="39277" bIns="39277" rtlCol="0" anchor="ctr"/>
            <a:lstStyle/>
            <a:p>
              <a:pPr algn="ctr">
                <a:lnSpc>
                  <a:spcPts val="2879"/>
                </a:lnSpc>
              </a:pPr>
              <a:endParaRPr/>
            </a:p>
          </p:txBody>
        </p:sp>
      </p:grpSp>
      <p:grpSp>
        <p:nvGrpSpPr>
          <p:cNvPr id="9" name="Group 9">
            <a:extLst>
              <a:ext uri="{FF2B5EF4-FFF2-40B4-BE49-F238E27FC236}">
                <a16:creationId xmlns:a16="http://schemas.microsoft.com/office/drawing/2014/main" id="{56A1442C-8FEF-E5CC-E142-1A2D7F3B8B1C}"/>
              </a:ext>
            </a:extLst>
          </p:cNvPr>
          <p:cNvGrpSpPr/>
          <p:nvPr/>
        </p:nvGrpSpPr>
        <p:grpSpPr>
          <a:xfrm>
            <a:off x="1028700" y="2079956"/>
            <a:ext cx="2580660" cy="6892743"/>
            <a:chOff x="0" y="0"/>
            <a:chExt cx="679680" cy="1815373"/>
          </a:xfrm>
        </p:grpSpPr>
        <p:sp>
          <p:nvSpPr>
            <p:cNvPr id="10" name="Freeform 10">
              <a:extLst>
                <a:ext uri="{FF2B5EF4-FFF2-40B4-BE49-F238E27FC236}">
                  <a16:creationId xmlns:a16="http://schemas.microsoft.com/office/drawing/2014/main" id="{E681134E-7065-233F-1D6C-9208E893C5E0}"/>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1" name="TextBox 11">
              <a:extLst>
                <a:ext uri="{FF2B5EF4-FFF2-40B4-BE49-F238E27FC236}">
                  <a16:creationId xmlns:a16="http://schemas.microsoft.com/office/drawing/2014/main" id="{B226B168-3DD6-A155-13A7-AA2A282E8E9D}"/>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2" name="Group 12">
            <a:extLst>
              <a:ext uri="{FF2B5EF4-FFF2-40B4-BE49-F238E27FC236}">
                <a16:creationId xmlns:a16="http://schemas.microsoft.com/office/drawing/2014/main" id="{AEF066D4-9C9D-4FEF-BEF5-F2631E22AB82}"/>
              </a:ext>
            </a:extLst>
          </p:cNvPr>
          <p:cNvGrpSpPr/>
          <p:nvPr/>
        </p:nvGrpSpPr>
        <p:grpSpPr>
          <a:xfrm>
            <a:off x="1048764" y="3873234"/>
            <a:ext cx="2540533" cy="2540533"/>
            <a:chOff x="0" y="0"/>
            <a:chExt cx="6350000" cy="6350000"/>
          </a:xfrm>
        </p:grpSpPr>
        <p:sp>
          <p:nvSpPr>
            <p:cNvPr id="13" name="Freeform 13">
              <a:extLst>
                <a:ext uri="{FF2B5EF4-FFF2-40B4-BE49-F238E27FC236}">
                  <a16:creationId xmlns:a16="http://schemas.microsoft.com/office/drawing/2014/main" id="{50B15BFD-4A5F-1A5A-C005-B98E1FA77E7D}"/>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t="-25000" b="-25000"/>
              </a:stretch>
            </a:blipFill>
          </p:spPr>
          <p:txBody>
            <a:bodyPr/>
            <a:lstStyle/>
            <a:p>
              <a:endParaRPr lang="en-US"/>
            </a:p>
          </p:txBody>
        </p:sp>
      </p:grpSp>
      <p:sp>
        <p:nvSpPr>
          <p:cNvPr id="14" name="TextBox 14">
            <a:extLst>
              <a:ext uri="{FF2B5EF4-FFF2-40B4-BE49-F238E27FC236}">
                <a16:creationId xmlns:a16="http://schemas.microsoft.com/office/drawing/2014/main" id="{B8267EF1-CE8B-9419-1038-11EDB14D8F79}"/>
              </a:ext>
            </a:extLst>
          </p:cNvPr>
          <p:cNvSpPr txBox="1"/>
          <p:nvPr/>
        </p:nvSpPr>
        <p:spPr>
          <a:xfrm>
            <a:off x="5402536" y="68142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Project Team + Roles</a:t>
            </a:r>
          </a:p>
        </p:txBody>
      </p:sp>
      <p:grpSp>
        <p:nvGrpSpPr>
          <p:cNvPr id="15" name="Group 15">
            <a:extLst>
              <a:ext uri="{FF2B5EF4-FFF2-40B4-BE49-F238E27FC236}">
                <a16:creationId xmlns:a16="http://schemas.microsoft.com/office/drawing/2014/main" id="{E2FA73B1-608B-62E0-BA88-AAA85459C40A}"/>
              </a:ext>
            </a:extLst>
          </p:cNvPr>
          <p:cNvGrpSpPr/>
          <p:nvPr/>
        </p:nvGrpSpPr>
        <p:grpSpPr>
          <a:xfrm>
            <a:off x="1048764" y="2027684"/>
            <a:ext cx="2580660" cy="6892743"/>
            <a:chOff x="0" y="0"/>
            <a:chExt cx="679680" cy="1815373"/>
          </a:xfrm>
        </p:grpSpPr>
        <p:sp>
          <p:nvSpPr>
            <p:cNvPr id="16" name="Freeform 16">
              <a:extLst>
                <a:ext uri="{FF2B5EF4-FFF2-40B4-BE49-F238E27FC236}">
                  <a16:creationId xmlns:a16="http://schemas.microsoft.com/office/drawing/2014/main" id="{4CB32D12-7C66-C73B-C61D-40D715F3B665}"/>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7" name="TextBox 17">
              <a:extLst>
                <a:ext uri="{FF2B5EF4-FFF2-40B4-BE49-F238E27FC236}">
                  <a16:creationId xmlns:a16="http://schemas.microsoft.com/office/drawing/2014/main" id="{D2FE1F53-82BA-8C90-0C93-84E1B83C0713}"/>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8" name="Group 18">
            <a:extLst>
              <a:ext uri="{FF2B5EF4-FFF2-40B4-BE49-F238E27FC236}">
                <a16:creationId xmlns:a16="http://schemas.microsoft.com/office/drawing/2014/main" id="{206415B9-D877-64AF-9419-AAB8AE849580}"/>
              </a:ext>
            </a:extLst>
          </p:cNvPr>
          <p:cNvGrpSpPr/>
          <p:nvPr/>
        </p:nvGrpSpPr>
        <p:grpSpPr>
          <a:xfrm>
            <a:off x="1027031" y="3873234"/>
            <a:ext cx="2540533" cy="2540533"/>
            <a:chOff x="0" y="0"/>
            <a:chExt cx="6350000" cy="6350000"/>
          </a:xfrm>
        </p:grpSpPr>
        <p:sp>
          <p:nvSpPr>
            <p:cNvPr id="19" name="Freeform 19">
              <a:extLst>
                <a:ext uri="{FF2B5EF4-FFF2-40B4-BE49-F238E27FC236}">
                  <a16:creationId xmlns:a16="http://schemas.microsoft.com/office/drawing/2014/main" id="{1EB766FD-7D6D-33C8-349A-08125AEEE3BD}"/>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t="-16747" b="-16747"/>
              </a:stretch>
            </a:blipFill>
          </p:spPr>
          <p:txBody>
            <a:bodyPr/>
            <a:lstStyle/>
            <a:p>
              <a:endParaRPr lang="en-US"/>
            </a:p>
          </p:txBody>
        </p:sp>
      </p:grpSp>
      <p:grpSp>
        <p:nvGrpSpPr>
          <p:cNvPr id="20" name="Group 20">
            <a:extLst>
              <a:ext uri="{FF2B5EF4-FFF2-40B4-BE49-F238E27FC236}">
                <a16:creationId xmlns:a16="http://schemas.microsoft.com/office/drawing/2014/main" id="{2FFFFDA1-EA26-0C42-C4E8-4D6B37B78CB7}"/>
              </a:ext>
            </a:extLst>
          </p:cNvPr>
          <p:cNvGrpSpPr/>
          <p:nvPr/>
        </p:nvGrpSpPr>
        <p:grpSpPr>
          <a:xfrm>
            <a:off x="1084293" y="2027684"/>
            <a:ext cx="2580660" cy="6892743"/>
            <a:chOff x="0" y="0"/>
            <a:chExt cx="679680" cy="1815373"/>
          </a:xfrm>
        </p:grpSpPr>
        <p:sp>
          <p:nvSpPr>
            <p:cNvPr id="21" name="Freeform 21">
              <a:extLst>
                <a:ext uri="{FF2B5EF4-FFF2-40B4-BE49-F238E27FC236}">
                  <a16:creationId xmlns:a16="http://schemas.microsoft.com/office/drawing/2014/main" id="{865EB715-2FAC-07B0-3ECA-5A213D46EA92}"/>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2" name="TextBox 22">
              <a:extLst>
                <a:ext uri="{FF2B5EF4-FFF2-40B4-BE49-F238E27FC236}">
                  <a16:creationId xmlns:a16="http://schemas.microsoft.com/office/drawing/2014/main" id="{29F6A0E5-AD78-5A2A-28F8-6603F2D48F6C}"/>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3" name="Group 23">
            <a:extLst>
              <a:ext uri="{FF2B5EF4-FFF2-40B4-BE49-F238E27FC236}">
                <a16:creationId xmlns:a16="http://schemas.microsoft.com/office/drawing/2014/main" id="{12BE65E9-E0D8-4AAF-CB9C-B92CCBEC7E1D}"/>
              </a:ext>
            </a:extLst>
          </p:cNvPr>
          <p:cNvGrpSpPr/>
          <p:nvPr/>
        </p:nvGrpSpPr>
        <p:grpSpPr>
          <a:xfrm>
            <a:off x="1124421" y="3873234"/>
            <a:ext cx="2540533" cy="2540533"/>
            <a:chOff x="0" y="0"/>
            <a:chExt cx="6350000" cy="6350000"/>
          </a:xfrm>
        </p:grpSpPr>
        <p:sp>
          <p:nvSpPr>
            <p:cNvPr id="24" name="Freeform 24">
              <a:extLst>
                <a:ext uri="{FF2B5EF4-FFF2-40B4-BE49-F238E27FC236}">
                  <a16:creationId xmlns:a16="http://schemas.microsoft.com/office/drawing/2014/main" id="{6B834530-5619-8587-A1DB-26E4D9BF0B5B}"/>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8"/>
              <a:stretch>
                <a:fillRect t="-31120" b="-31120"/>
              </a:stretch>
            </a:blipFill>
          </p:spPr>
          <p:txBody>
            <a:bodyPr/>
            <a:lstStyle/>
            <a:p>
              <a:endParaRPr lang="en-US"/>
            </a:p>
          </p:txBody>
        </p:sp>
      </p:grpSp>
      <p:grpSp>
        <p:nvGrpSpPr>
          <p:cNvPr id="25" name="Group 25">
            <a:extLst>
              <a:ext uri="{FF2B5EF4-FFF2-40B4-BE49-F238E27FC236}">
                <a16:creationId xmlns:a16="http://schemas.microsoft.com/office/drawing/2014/main" id="{652B7907-0DFB-F65F-77F0-8F95511CF274}"/>
              </a:ext>
            </a:extLst>
          </p:cNvPr>
          <p:cNvGrpSpPr/>
          <p:nvPr/>
        </p:nvGrpSpPr>
        <p:grpSpPr>
          <a:xfrm>
            <a:off x="1048764" y="2079956"/>
            <a:ext cx="2580660" cy="6892743"/>
            <a:chOff x="0" y="0"/>
            <a:chExt cx="679680" cy="1815373"/>
          </a:xfrm>
        </p:grpSpPr>
        <p:sp>
          <p:nvSpPr>
            <p:cNvPr id="26" name="Freeform 26">
              <a:extLst>
                <a:ext uri="{FF2B5EF4-FFF2-40B4-BE49-F238E27FC236}">
                  <a16:creationId xmlns:a16="http://schemas.microsoft.com/office/drawing/2014/main" id="{FFD21BE4-E458-AA80-00EC-C9DCE401A661}"/>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7" name="TextBox 27">
              <a:extLst>
                <a:ext uri="{FF2B5EF4-FFF2-40B4-BE49-F238E27FC236}">
                  <a16:creationId xmlns:a16="http://schemas.microsoft.com/office/drawing/2014/main" id="{C395C2D9-229F-111E-01C2-86AEB1567E76}"/>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8" name="Group 28">
            <a:extLst>
              <a:ext uri="{FF2B5EF4-FFF2-40B4-BE49-F238E27FC236}">
                <a16:creationId xmlns:a16="http://schemas.microsoft.com/office/drawing/2014/main" id="{9903CD1D-DC86-68E9-F717-63E64A9F6F4E}"/>
              </a:ext>
            </a:extLst>
          </p:cNvPr>
          <p:cNvGrpSpPr/>
          <p:nvPr/>
        </p:nvGrpSpPr>
        <p:grpSpPr>
          <a:xfrm>
            <a:off x="1084293" y="3873234"/>
            <a:ext cx="2540533" cy="2540533"/>
            <a:chOff x="0" y="0"/>
            <a:chExt cx="6350000" cy="6350000"/>
          </a:xfrm>
        </p:grpSpPr>
        <p:sp>
          <p:nvSpPr>
            <p:cNvPr id="29" name="Freeform 29">
              <a:extLst>
                <a:ext uri="{FF2B5EF4-FFF2-40B4-BE49-F238E27FC236}">
                  <a16:creationId xmlns:a16="http://schemas.microsoft.com/office/drawing/2014/main" id="{7257CC2C-6292-6FF1-F79B-01D9D6DFDB76}"/>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9"/>
              <a:stretch>
                <a:fillRect t="-16666" b="-16666"/>
              </a:stretch>
            </a:blipFill>
          </p:spPr>
          <p:txBody>
            <a:bodyPr/>
            <a:lstStyle/>
            <a:p>
              <a:endParaRPr lang="en-US"/>
            </a:p>
          </p:txBody>
        </p:sp>
      </p:grpSp>
      <p:grpSp>
        <p:nvGrpSpPr>
          <p:cNvPr id="30" name="Group 30">
            <a:extLst>
              <a:ext uri="{FF2B5EF4-FFF2-40B4-BE49-F238E27FC236}">
                <a16:creationId xmlns:a16="http://schemas.microsoft.com/office/drawing/2014/main" id="{7369DE9D-E175-735A-971C-FBE5AD3D5CA9}"/>
              </a:ext>
            </a:extLst>
          </p:cNvPr>
          <p:cNvGrpSpPr/>
          <p:nvPr/>
        </p:nvGrpSpPr>
        <p:grpSpPr>
          <a:xfrm>
            <a:off x="1060480" y="2079956"/>
            <a:ext cx="2588158" cy="6892743"/>
            <a:chOff x="0" y="0"/>
            <a:chExt cx="3450877" cy="9190325"/>
          </a:xfrm>
        </p:grpSpPr>
        <p:grpSp>
          <p:nvGrpSpPr>
            <p:cNvPr id="31" name="Group 31">
              <a:extLst>
                <a:ext uri="{FF2B5EF4-FFF2-40B4-BE49-F238E27FC236}">
                  <a16:creationId xmlns:a16="http://schemas.microsoft.com/office/drawing/2014/main" id="{9F6533F4-6EDD-E66C-6A6B-F9ACC3A15457}"/>
                </a:ext>
              </a:extLst>
            </p:cNvPr>
            <p:cNvGrpSpPr/>
            <p:nvPr/>
          </p:nvGrpSpPr>
          <p:grpSpPr>
            <a:xfrm>
              <a:off x="0" y="0"/>
              <a:ext cx="3440880" cy="9190325"/>
              <a:chOff x="0" y="0"/>
              <a:chExt cx="679680" cy="1815373"/>
            </a:xfrm>
          </p:grpSpPr>
          <p:sp>
            <p:nvSpPr>
              <p:cNvPr id="32" name="Freeform 32">
                <a:extLst>
                  <a:ext uri="{FF2B5EF4-FFF2-40B4-BE49-F238E27FC236}">
                    <a16:creationId xmlns:a16="http://schemas.microsoft.com/office/drawing/2014/main" id="{B0EA2F88-CB5F-4E6A-3EB4-4E42A1A0C080}"/>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33" name="TextBox 33">
                <a:extLst>
                  <a:ext uri="{FF2B5EF4-FFF2-40B4-BE49-F238E27FC236}">
                    <a16:creationId xmlns:a16="http://schemas.microsoft.com/office/drawing/2014/main" id="{FE1A5C3E-1C0E-D569-9114-D42A443C6D5A}"/>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34" name="Group 34">
              <a:extLst>
                <a:ext uri="{FF2B5EF4-FFF2-40B4-BE49-F238E27FC236}">
                  <a16:creationId xmlns:a16="http://schemas.microsoft.com/office/drawing/2014/main" id="{8C7D6C55-7D99-E42A-D9F1-A084F411AEC1}"/>
                </a:ext>
              </a:extLst>
            </p:cNvPr>
            <p:cNvGrpSpPr/>
            <p:nvPr/>
          </p:nvGrpSpPr>
          <p:grpSpPr>
            <a:xfrm>
              <a:off x="63500" y="2391038"/>
              <a:ext cx="3387377" cy="3387377"/>
              <a:chOff x="0" y="0"/>
              <a:chExt cx="6350000" cy="6350000"/>
            </a:xfrm>
          </p:grpSpPr>
          <p:sp>
            <p:nvSpPr>
              <p:cNvPr id="35" name="Freeform 35">
                <a:extLst>
                  <a:ext uri="{FF2B5EF4-FFF2-40B4-BE49-F238E27FC236}">
                    <a16:creationId xmlns:a16="http://schemas.microsoft.com/office/drawing/2014/main" id="{FC2FFAC5-7EB9-6E75-DEF0-2DF883E19315}"/>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0"/>
                <a:stretch>
                  <a:fillRect l="-38888" r="-38888"/>
                </a:stretch>
              </a:blipFill>
            </p:spPr>
            <p:txBody>
              <a:bodyPr/>
              <a:lstStyle/>
              <a:p>
                <a:endParaRPr lang="en-US"/>
              </a:p>
            </p:txBody>
          </p:sp>
        </p:grpSp>
      </p:grpSp>
      <p:grpSp>
        <p:nvGrpSpPr>
          <p:cNvPr id="36" name="Group 36">
            <a:extLst>
              <a:ext uri="{FF2B5EF4-FFF2-40B4-BE49-F238E27FC236}">
                <a16:creationId xmlns:a16="http://schemas.microsoft.com/office/drawing/2014/main" id="{4376B5CF-284A-AEE7-06D1-DDBF21F31905}"/>
              </a:ext>
            </a:extLst>
          </p:cNvPr>
          <p:cNvGrpSpPr/>
          <p:nvPr/>
        </p:nvGrpSpPr>
        <p:grpSpPr>
          <a:xfrm>
            <a:off x="986904" y="2027684"/>
            <a:ext cx="16272396" cy="6945015"/>
            <a:chOff x="0" y="0"/>
            <a:chExt cx="4285734" cy="1829140"/>
          </a:xfrm>
        </p:grpSpPr>
        <p:sp>
          <p:nvSpPr>
            <p:cNvPr id="37" name="Freeform 37">
              <a:extLst>
                <a:ext uri="{FF2B5EF4-FFF2-40B4-BE49-F238E27FC236}">
                  <a16:creationId xmlns:a16="http://schemas.microsoft.com/office/drawing/2014/main" id="{BB4AC2AC-7E8A-F21A-115F-EE6133781DAA}"/>
                </a:ext>
              </a:extLst>
            </p:cNvPr>
            <p:cNvSpPr/>
            <p:nvPr/>
          </p:nvSpPr>
          <p:spPr>
            <a:xfrm>
              <a:off x="0" y="0"/>
              <a:ext cx="4285734" cy="1829140"/>
            </a:xfrm>
            <a:custGeom>
              <a:avLst/>
              <a:gdLst/>
              <a:ahLst/>
              <a:cxnLst/>
              <a:rect l="l" t="t" r="r" b="b"/>
              <a:pathLst>
                <a:path w="4285734" h="1829140">
                  <a:moveTo>
                    <a:pt x="24264" y="0"/>
                  </a:moveTo>
                  <a:lnTo>
                    <a:pt x="4261470" y="0"/>
                  </a:lnTo>
                  <a:cubicBezTo>
                    <a:pt x="4274871" y="0"/>
                    <a:pt x="4285734" y="10863"/>
                    <a:pt x="4285734" y="24264"/>
                  </a:cubicBezTo>
                  <a:lnTo>
                    <a:pt x="4285734" y="1804875"/>
                  </a:lnTo>
                  <a:cubicBezTo>
                    <a:pt x="4285734" y="1811311"/>
                    <a:pt x="4283178" y="1817482"/>
                    <a:pt x="4278627" y="1822033"/>
                  </a:cubicBezTo>
                  <a:cubicBezTo>
                    <a:pt x="4274077" y="1826583"/>
                    <a:pt x="4267905" y="1829140"/>
                    <a:pt x="4261470" y="1829140"/>
                  </a:cubicBezTo>
                  <a:lnTo>
                    <a:pt x="24264" y="1829140"/>
                  </a:lnTo>
                  <a:cubicBezTo>
                    <a:pt x="10863" y="1829140"/>
                    <a:pt x="0" y="1818276"/>
                    <a:pt x="0" y="1804875"/>
                  </a:cubicBezTo>
                  <a:lnTo>
                    <a:pt x="0" y="24264"/>
                  </a:lnTo>
                  <a:cubicBezTo>
                    <a:pt x="0" y="17829"/>
                    <a:pt x="2556" y="11657"/>
                    <a:pt x="7107" y="7107"/>
                  </a:cubicBezTo>
                  <a:cubicBezTo>
                    <a:pt x="11657" y="2556"/>
                    <a:pt x="17829" y="0"/>
                    <a:pt x="24264" y="0"/>
                  </a:cubicBezTo>
                  <a:close/>
                </a:path>
              </a:pathLst>
            </a:custGeom>
            <a:solidFill>
              <a:srgbClr val="336EA8"/>
            </a:solidFill>
          </p:spPr>
          <p:txBody>
            <a:bodyPr/>
            <a:lstStyle/>
            <a:p>
              <a:endParaRPr lang="en-US"/>
            </a:p>
          </p:txBody>
        </p:sp>
        <p:sp>
          <p:nvSpPr>
            <p:cNvPr id="38" name="TextBox 38">
              <a:extLst>
                <a:ext uri="{FF2B5EF4-FFF2-40B4-BE49-F238E27FC236}">
                  <a16:creationId xmlns:a16="http://schemas.microsoft.com/office/drawing/2014/main" id="{867367BC-6A52-D40B-DADF-BEFA3118A416}"/>
                </a:ext>
              </a:extLst>
            </p:cNvPr>
            <p:cNvSpPr txBox="1"/>
            <p:nvPr/>
          </p:nvSpPr>
          <p:spPr>
            <a:xfrm>
              <a:off x="0" y="-38100"/>
              <a:ext cx="4285734" cy="1867240"/>
            </a:xfrm>
            <a:prstGeom prst="rect">
              <a:avLst/>
            </a:prstGeom>
          </p:spPr>
          <p:txBody>
            <a:bodyPr lIns="50800" tIns="50800" rIns="50800" bIns="50800" rtlCol="0" anchor="ctr"/>
            <a:lstStyle/>
            <a:p>
              <a:pPr algn="ctr">
                <a:lnSpc>
                  <a:spcPts val="2879"/>
                </a:lnSpc>
              </a:pPr>
              <a:endParaRPr/>
            </a:p>
          </p:txBody>
        </p:sp>
      </p:grpSp>
      <p:sp>
        <p:nvSpPr>
          <p:cNvPr id="41" name="TextBox 41">
            <a:extLst>
              <a:ext uri="{FF2B5EF4-FFF2-40B4-BE49-F238E27FC236}">
                <a16:creationId xmlns:a16="http://schemas.microsoft.com/office/drawing/2014/main" id="{2643EBF3-CA2E-2444-C7B2-E4DB61F1F2FF}"/>
              </a:ext>
            </a:extLst>
          </p:cNvPr>
          <p:cNvSpPr txBox="1"/>
          <p:nvPr/>
        </p:nvSpPr>
        <p:spPr>
          <a:xfrm>
            <a:off x="4272352" y="3333404"/>
            <a:ext cx="12758348" cy="4841967"/>
          </a:xfrm>
          <a:prstGeom prst="rect">
            <a:avLst/>
          </a:prstGeom>
        </p:spPr>
        <p:txBody>
          <a:bodyPr lIns="0" tIns="0" rIns="0" bIns="0" rtlCol="0" anchor="t">
            <a:spAutoFit/>
          </a:bodyPr>
          <a:lstStyle/>
          <a:p>
            <a:pPr algn="ctr">
              <a:lnSpc>
                <a:spcPts val="3835"/>
              </a:lnSpc>
            </a:pPr>
            <a:r>
              <a:rPr lang="en-US" sz="2739" b="1" dirty="0">
                <a:solidFill>
                  <a:srgbClr val="000000"/>
                </a:solidFill>
                <a:latin typeface="Canva Sans Bold"/>
                <a:ea typeface="Canva Sans Bold"/>
                <a:cs typeface="Canva Sans Bold"/>
                <a:sym typeface="Canva Sans Bold"/>
              </a:rPr>
              <a:t>Introduction</a:t>
            </a:r>
          </a:p>
          <a:p>
            <a:pPr>
              <a:lnSpc>
                <a:spcPts val="3835"/>
              </a:lnSpc>
            </a:pPr>
            <a:r>
              <a:rPr lang="en-US" sz="2739" b="1" dirty="0">
                <a:solidFill>
                  <a:srgbClr val="000000"/>
                </a:solidFill>
                <a:latin typeface="Canva Sans Bold"/>
                <a:ea typeface="Canva Sans Bold"/>
                <a:cs typeface="Canva Sans Bold"/>
                <a:sym typeface="Canva Sans Bold"/>
              </a:rPr>
              <a:t>I am a third-year MIS student at Helwan University (English Section). I specialize in integrating technology with business strategies. My focus is on optimizing operational efficiency through digital transformation and providing actionable, data-driven insights to enhance decision-making..</a:t>
            </a:r>
          </a:p>
          <a:p>
            <a:pPr algn="ctr">
              <a:lnSpc>
                <a:spcPts val="3835"/>
              </a:lnSpc>
            </a:pPr>
            <a:r>
              <a:rPr lang="en-US" sz="2739" b="1" dirty="0">
                <a:solidFill>
                  <a:srgbClr val="000000"/>
                </a:solidFill>
                <a:latin typeface="Canva Sans Bold"/>
                <a:ea typeface="Canva Sans Bold"/>
                <a:cs typeface="Canva Sans Bold"/>
                <a:sym typeface="Canva Sans Bold"/>
              </a:rPr>
              <a:t>Role</a:t>
            </a:r>
          </a:p>
          <a:p>
            <a:pPr algn="ctr">
              <a:lnSpc>
                <a:spcPts val="3835"/>
              </a:lnSpc>
            </a:pPr>
            <a:r>
              <a:rPr lang="en-US" sz="2739" b="1" dirty="0">
                <a:solidFill>
                  <a:srgbClr val="000000"/>
                </a:solidFill>
                <a:latin typeface="Canva Sans Bold"/>
                <a:ea typeface="Canva Sans Bold"/>
                <a:cs typeface="Canva Sans Bold"/>
                <a:sym typeface="Canva Sans Bold"/>
              </a:rPr>
              <a:t>Data Insights Specialist</a:t>
            </a:r>
          </a:p>
          <a:p>
            <a:pPr algn="l">
              <a:lnSpc>
                <a:spcPts val="3835"/>
              </a:lnSpc>
            </a:pPr>
            <a:r>
              <a:rPr lang="en-US" sz="2739" b="1" dirty="0">
                <a:solidFill>
                  <a:srgbClr val="000000"/>
                </a:solidFill>
                <a:latin typeface="Canva Sans Bold"/>
                <a:ea typeface="Canva Sans Bold"/>
                <a:cs typeface="Canva Sans Bold"/>
                <a:sym typeface="Canva Sans Bold"/>
              </a:rPr>
              <a:t> – Data analysis and insights generation </a:t>
            </a:r>
          </a:p>
          <a:p>
            <a:pPr algn="l">
              <a:lnSpc>
                <a:spcPts val="3835"/>
              </a:lnSpc>
            </a:pPr>
            <a:r>
              <a:rPr lang="en-US" sz="2739" b="1" dirty="0">
                <a:solidFill>
                  <a:srgbClr val="000000"/>
                </a:solidFill>
                <a:latin typeface="Canva Sans Bold"/>
                <a:ea typeface="Canva Sans Bold"/>
                <a:cs typeface="Canva Sans Bold"/>
                <a:sym typeface="Canva Sans Bold"/>
              </a:rPr>
              <a:t> – Supporting the team in extracting and refining final insights </a:t>
            </a:r>
          </a:p>
          <a:p>
            <a:pPr algn="l">
              <a:lnSpc>
                <a:spcPts val="3835"/>
              </a:lnSpc>
            </a:pPr>
            <a:r>
              <a:rPr lang="en-US" sz="2739" b="1" dirty="0">
                <a:solidFill>
                  <a:srgbClr val="000000"/>
                </a:solidFill>
                <a:latin typeface="Canva Sans Bold"/>
                <a:ea typeface="Canva Sans Bold"/>
                <a:cs typeface="Canva Sans Bold"/>
                <a:sym typeface="Canva Sans Bold"/>
              </a:rPr>
              <a:t> – Data analysis using Excel (Pivot Tables + Charts)</a:t>
            </a:r>
          </a:p>
        </p:txBody>
      </p:sp>
      <p:sp>
        <p:nvSpPr>
          <p:cNvPr id="42" name="TextBox 42">
            <a:extLst>
              <a:ext uri="{FF2B5EF4-FFF2-40B4-BE49-F238E27FC236}">
                <a16:creationId xmlns:a16="http://schemas.microsoft.com/office/drawing/2014/main" id="{AB16C266-31DD-118D-80B5-6EF959186FE4}"/>
              </a:ext>
            </a:extLst>
          </p:cNvPr>
          <p:cNvSpPr txBox="1"/>
          <p:nvPr/>
        </p:nvSpPr>
        <p:spPr>
          <a:xfrm>
            <a:off x="6117254" y="2266524"/>
            <a:ext cx="8113832" cy="828040"/>
          </a:xfrm>
          <a:prstGeom prst="rect">
            <a:avLst/>
          </a:prstGeom>
        </p:spPr>
        <p:txBody>
          <a:bodyPr lIns="0" tIns="0" rIns="0" bIns="0" rtlCol="0" anchor="t">
            <a:spAutoFit/>
          </a:bodyPr>
          <a:lstStyle/>
          <a:p>
            <a:pPr algn="ctr">
              <a:lnSpc>
                <a:spcPts val="6860"/>
              </a:lnSpc>
            </a:pPr>
            <a:r>
              <a:rPr lang="en-US" sz="4900" b="1" dirty="0">
                <a:solidFill>
                  <a:srgbClr val="000000"/>
                </a:solidFill>
                <a:latin typeface="Canva Sans Bold"/>
                <a:ea typeface="Canva Sans Bold"/>
                <a:cs typeface="Canva Sans Bold"/>
                <a:sym typeface="Canva Sans Bold"/>
              </a:rPr>
              <a:t>Menna Younes</a:t>
            </a:r>
          </a:p>
        </p:txBody>
      </p:sp>
      <p:pic>
        <p:nvPicPr>
          <p:cNvPr id="44" name="Picture 43">
            <a:extLst>
              <a:ext uri="{FF2B5EF4-FFF2-40B4-BE49-F238E27FC236}">
                <a16:creationId xmlns:a16="http://schemas.microsoft.com/office/drawing/2014/main" id="{FC7B8468-2677-48DF-C704-A0B6DAE61AF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8962442"/>
            <a:ext cx="1324558" cy="1324558"/>
          </a:xfrm>
          <a:prstGeom prst="rect">
            <a:avLst/>
          </a:prstGeom>
        </p:spPr>
      </p:pic>
      <p:pic>
        <p:nvPicPr>
          <p:cNvPr id="5" name="Picture 4">
            <a:extLst>
              <a:ext uri="{FF2B5EF4-FFF2-40B4-BE49-F238E27FC236}">
                <a16:creationId xmlns:a16="http://schemas.microsoft.com/office/drawing/2014/main" id="{BBF787AE-DD35-CFBB-B1C9-6A916CED0666}"/>
              </a:ext>
            </a:extLst>
          </p:cNvPr>
          <p:cNvPicPr>
            <a:picLocks noChangeAspect="1"/>
          </p:cNvPicPr>
          <p:nvPr/>
        </p:nvPicPr>
        <p:blipFill>
          <a:blip r:embed="rId12" cstate="print">
            <a:extLst>
              <a:ext uri="{28A0092B-C50C-407E-A947-70E740481C1C}">
                <a14:useLocalDpi xmlns:a14="http://schemas.microsoft.com/office/drawing/2010/main" val="0"/>
              </a:ext>
            </a:extLst>
          </a:blip>
          <a:srcRect l="19007" t="11848" r="24550" b="31709"/>
          <a:stretch>
            <a:fillRect/>
          </a:stretch>
        </p:blipFill>
        <p:spPr>
          <a:xfrm>
            <a:off x="1358254" y="4004953"/>
            <a:ext cx="2567681" cy="2827453"/>
          </a:xfrm>
          <a:prstGeom prst="ellipse">
            <a:avLst/>
          </a:prstGeom>
        </p:spPr>
      </p:pic>
    </p:spTree>
    <p:extLst>
      <p:ext uri="{BB962C8B-B14F-4D97-AF65-F5344CB8AC3E}">
        <p14:creationId xmlns:p14="http://schemas.microsoft.com/office/powerpoint/2010/main" val="3993199324"/>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4D42E-EAFA-800E-2876-B026DE06BDB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9774AA0-E6CC-96B2-9137-7B915D5AC215}"/>
              </a:ext>
            </a:extLst>
          </p:cNvPr>
          <p:cNvSpPr/>
          <p:nvPr/>
        </p:nvSpPr>
        <p:spPr>
          <a:xfrm>
            <a:off x="0" y="-1945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a:extLst>
              <a:ext uri="{FF2B5EF4-FFF2-40B4-BE49-F238E27FC236}">
                <a16:creationId xmlns:a16="http://schemas.microsoft.com/office/drawing/2014/main" id="{6DEF0402-3D17-2BEA-6A57-6B92E1712C29}"/>
              </a:ext>
            </a:extLst>
          </p:cNvPr>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a:extLst>
              <a:ext uri="{FF2B5EF4-FFF2-40B4-BE49-F238E27FC236}">
                <a16:creationId xmlns:a16="http://schemas.microsoft.com/office/drawing/2014/main" id="{F4049525-67C3-DC7C-5923-DCE835C193DD}"/>
              </a:ext>
            </a:extLst>
          </p:cNvPr>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a:extLst>
              <a:ext uri="{FF2B5EF4-FFF2-40B4-BE49-F238E27FC236}">
                <a16:creationId xmlns:a16="http://schemas.microsoft.com/office/drawing/2014/main" id="{6D9E03E5-488E-581C-75F8-4727F217BAE3}"/>
              </a:ext>
            </a:extLst>
          </p:cNvPr>
          <p:cNvGrpSpPr/>
          <p:nvPr/>
        </p:nvGrpSpPr>
        <p:grpSpPr>
          <a:xfrm>
            <a:off x="579906" y="1689812"/>
            <a:ext cx="17022707" cy="7568488"/>
            <a:chOff x="0" y="0"/>
            <a:chExt cx="5798675" cy="2578157"/>
          </a:xfrm>
        </p:grpSpPr>
        <p:sp>
          <p:nvSpPr>
            <p:cNvPr id="7" name="Freeform 7">
              <a:extLst>
                <a:ext uri="{FF2B5EF4-FFF2-40B4-BE49-F238E27FC236}">
                  <a16:creationId xmlns:a16="http://schemas.microsoft.com/office/drawing/2014/main" id="{B40B029F-2CD3-5C9F-93FE-72D791959D2F}"/>
                </a:ext>
              </a:extLst>
            </p:cNvPr>
            <p:cNvSpPr/>
            <p:nvPr/>
          </p:nvSpPr>
          <p:spPr>
            <a:xfrm>
              <a:off x="0" y="0"/>
              <a:ext cx="5798676" cy="2578157"/>
            </a:xfrm>
            <a:custGeom>
              <a:avLst/>
              <a:gdLst/>
              <a:ahLst/>
              <a:cxnLst/>
              <a:rect l="l" t="t" r="r" b="b"/>
              <a:pathLst>
                <a:path w="5798676" h="2578157">
                  <a:moveTo>
                    <a:pt x="23195" y="0"/>
                  </a:moveTo>
                  <a:lnTo>
                    <a:pt x="5775481" y="0"/>
                  </a:lnTo>
                  <a:cubicBezTo>
                    <a:pt x="5781632" y="0"/>
                    <a:pt x="5787532" y="2444"/>
                    <a:pt x="5791882" y="6794"/>
                  </a:cubicBezTo>
                  <a:cubicBezTo>
                    <a:pt x="5796232" y="11143"/>
                    <a:pt x="5798676" y="17043"/>
                    <a:pt x="5798676" y="23195"/>
                  </a:cubicBezTo>
                  <a:lnTo>
                    <a:pt x="5798676" y="2554962"/>
                  </a:lnTo>
                  <a:cubicBezTo>
                    <a:pt x="5798676" y="2561113"/>
                    <a:pt x="5796232" y="2567013"/>
                    <a:pt x="5791882" y="2571363"/>
                  </a:cubicBezTo>
                  <a:cubicBezTo>
                    <a:pt x="5787532" y="2575713"/>
                    <a:pt x="5781632" y="2578157"/>
                    <a:pt x="5775481" y="2578157"/>
                  </a:cubicBezTo>
                  <a:lnTo>
                    <a:pt x="23195" y="2578157"/>
                  </a:lnTo>
                  <a:cubicBezTo>
                    <a:pt x="17043" y="2578157"/>
                    <a:pt x="11143" y="2575713"/>
                    <a:pt x="6794" y="2571363"/>
                  </a:cubicBezTo>
                  <a:cubicBezTo>
                    <a:pt x="2444" y="2567013"/>
                    <a:pt x="0" y="2561113"/>
                    <a:pt x="0" y="2554962"/>
                  </a:cubicBezTo>
                  <a:lnTo>
                    <a:pt x="0" y="23195"/>
                  </a:lnTo>
                  <a:cubicBezTo>
                    <a:pt x="0" y="17043"/>
                    <a:pt x="2444" y="11143"/>
                    <a:pt x="6794" y="6794"/>
                  </a:cubicBezTo>
                  <a:cubicBezTo>
                    <a:pt x="11143" y="2444"/>
                    <a:pt x="17043" y="0"/>
                    <a:pt x="23195" y="0"/>
                  </a:cubicBezTo>
                  <a:close/>
                </a:path>
              </a:pathLst>
            </a:custGeom>
            <a:solidFill>
              <a:srgbClr val="84E4A8"/>
            </a:solidFill>
          </p:spPr>
          <p:txBody>
            <a:bodyPr/>
            <a:lstStyle/>
            <a:p>
              <a:endParaRPr lang="en-US"/>
            </a:p>
          </p:txBody>
        </p:sp>
        <p:sp>
          <p:nvSpPr>
            <p:cNvPr id="8" name="TextBox 8">
              <a:extLst>
                <a:ext uri="{FF2B5EF4-FFF2-40B4-BE49-F238E27FC236}">
                  <a16:creationId xmlns:a16="http://schemas.microsoft.com/office/drawing/2014/main" id="{14EB11F8-7255-94A0-ABA7-3653ECE4DB1B}"/>
                </a:ext>
              </a:extLst>
            </p:cNvPr>
            <p:cNvSpPr txBox="1"/>
            <p:nvPr/>
          </p:nvSpPr>
          <p:spPr>
            <a:xfrm>
              <a:off x="0" y="-38100"/>
              <a:ext cx="5798675" cy="2616257"/>
            </a:xfrm>
            <a:prstGeom prst="rect">
              <a:avLst/>
            </a:prstGeom>
          </p:spPr>
          <p:txBody>
            <a:bodyPr lIns="39277" tIns="39277" rIns="39277" bIns="39277" rtlCol="0" anchor="ctr"/>
            <a:lstStyle/>
            <a:p>
              <a:pPr algn="ctr">
                <a:lnSpc>
                  <a:spcPts val="2879"/>
                </a:lnSpc>
              </a:pPr>
              <a:endParaRPr/>
            </a:p>
          </p:txBody>
        </p:sp>
      </p:grpSp>
      <p:grpSp>
        <p:nvGrpSpPr>
          <p:cNvPr id="9" name="Group 9">
            <a:extLst>
              <a:ext uri="{FF2B5EF4-FFF2-40B4-BE49-F238E27FC236}">
                <a16:creationId xmlns:a16="http://schemas.microsoft.com/office/drawing/2014/main" id="{85B440FA-42A7-5DAA-A432-DAE40145B0C9}"/>
              </a:ext>
            </a:extLst>
          </p:cNvPr>
          <p:cNvGrpSpPr/>
          <p:nvPr/>
        </p:nvGrpSpPr>
        <p:grpSpPr>
          <a:xfrm>
            <a:off x="1028700" y="2079956"/>
            <a:ext cx="2580660" cy="6892743"/>
            <a:chOff x="0" y="0"/>
            <a:chExt cx="679680" cy="1815373"/>
          </a:xfrm>
        </p:grpSpPr>
        <p:sp>
          <p:nvSpPr>
            <p:cNvPr id="10" name="Freeform 10">
              <a:extLst>
                <a:ext uri="{FF2B5EF4-FFF2-40B4-BE49-F238E27FC236}">
                  <a16:creationId xmlns:a16="http://schemas.microsoft.com/office/drawing/2014/main" id="{5C191C75-B1A6-EDEE-584F-D2E2C99DF3B3}"/>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1" name="TextBox 11">
              <a:extLst>
                <a:ext uri="{FF2B5EF4-FFF2-40B4-BE49-F238E27FC236}">
                  <a16:creationId xmlns:a16="http://schemas.microsoft.com/office/drawing/2014/main" id="{B43D2633-7FAF-AECA-A9F8-1E7B1B9C8E44}"/>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2" name="Group 12">
            <a:extLst>
              <a:ext uri="{FF2B5EF4-FFF2-40B4-BE49-F238E27FC236}">
                <a16:creationId xmlns:a16="http://schemas.microsoft.com/office/drawing/2014/main" id="{E9594B34-D6D1-1715-7F68-F60E12195A5B}"/>
              </a:ext>
            </a:extLst>
          </p:cNvPr>
          <p:cNvGrpSpPr/>
          <p:nvPr/>
        </p:nvGrpSpPr>
        <p:grpSpPr>
          <a:xfrm>
            <a:off x="1048764" y="3873234"/>
            <a:ext cx="2540533" cy="2540533"/>
            <a:chOff x="0" y="0"/>
            <a:chExt cx="6350000" cy="6350000"/>
          </a:xfrm>
        </p:grpSpPr>
        <p:sp>
          <p:nvSpPr>
            <p:cNvPr id="13" name="Freeform 13">
              <a:extLst>
                <a:ext uri="{FF2B5EF4-FFF2-40B4-BE49-F238E27FC236}">
                  <a16:creationId xmlns:a16="http://schemas.microsoft.com/office/drawing/2014/main" id="{E6518C4A-D298-8ABC-8F0A-F932DFD2264B}"/>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t="-25000" b="-25000"/>
              </a:stretch>
            </a:blipFill>
          </p:spPr>
          <p:txBody>
            <a:bodyPr/>
            <a:lstStyle/>
            <a:p>
              <a:endParaRPr lang="en-US"/>
            </a:p>
          </p:txBody>
        </p:sp>
      </p:grpSp>
      <p:sp>
        <p:nvSpPr>
          <p:cNvPr id="14" name="TextBox 14">
            <a:extLst>
              <a:ext uri="{FF2B5EF4-FFF2-40B4-BE49-F238E27FC236}">
                <a16:creationId xmlns:a16="http://schemas.microsoft.com/office/drawing/2014/main" id="{28EFBC29-6542-203C-4743-6522D9B3DB63}"/>
              </a:ext>
            </a:extLst>
          </p:cNvPr>
          <p:cNvSpPr txBox="1"/>
          <p:nvPr/>
        </p:nvSpPr>
        <p:spPr>
          <a:xfrm>
            <a:off x="5402536" y="68142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Project Team + Roles</a:t>
            </a:r>
          </a:p>
        </p:txBody>
      </p:sp>
      <p:grpSp>
        <p:nvGrpSpPr>
          <p:cNvPr id="15" name="Group 15">
            <a:extLst>
              <a:ext uri="{FF2B5EF4-FFF2-40B4-BE49-F238E27FC236}">
                <a16:creationId xmlns:a16="http://schemas.microsoft.com/office/drawing/2014/main" id="{59458BF6-C594-568C-11E0-6D5866F90480}"/>
              </a:ext>
            </a:extLst>
          </p:cNvPr>
          <p:cNvGrpSpPr/>
          <p:nvPr/>
        </p:nvGrpSpPr>
        <p:grpSpPr>
          <a:xfrm>
            <a:off x="1048764" y="2027684"/>
            <a:ext cx="2580660" cy="6892743"/>
            <a:chOff x="0" y="0"/>
            <a:chExt cx="679680" cy="1815373"/>
          </a:xfrm>
        </p:grpSpPr>
        <p:sp>
          <p:nvSpPr>
            <p:cNvPr id="16" name="Freeform 16">
              <a:extLst>
                <a:ext uri="{FF2B5EF4-FFF2-40B4-BE49-F238E27FC236}">
                  <a16:creationId xmlns:a16="http://schemas.microsoft.com/office/drawing/2014/main" id="{E6D6ED6F-5A51-D553-3CB5-329DF1D5B631}"/>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7" name="TextBox 17">
              <a:extLst>
                <a:ext uri="{FF2B5EF4-FFF2-40B4-BE49-F238E27FC236}">
                  <a16:creationId xmlns:a16="http://schemas.microsoft.com/office/drawing/2014/main" id="{C811C17F-2DD1-52CD-B792-17D19769E281}"/>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8" name="Group 18">
            <a:extLst>
              <a:ext uri="{FF2B5EF4-FFF2-40B4-BE49-F238E27FC236}">
                <a16:creationId xmlns:a16="http://schemas.microsoft.com/office/drawing/2014/main" id="{D429E85B-9CB8-413C-2945-411E796A605B}"/>
              </a:ext>
            </a:extLst>
          </p:cNvPr>
          <p:cNvGrpSpPr/>
          <p:nvPr/>
        </p:nvGrpSpPr>
        <p:grpSpPr>
          <a:xfrm>
            <a:off x="1027031" y="3873234"/>
            <a:ext cx="2540533" cy="2540533"/>
            <a:chOff x="0" y="0"/>
            <a:chExt cx="6350000" cy="6350000"/>
          </a:xfrm>
        </p:grpSpPr>
        <p:sp>
          <p:nvSpPr>
            <p:cNvPr id="19" name="Freeform 19">
              <a:extLst>
                <a:ext uri="{FF2B5EF4-FFF2-40B4-BE49-F238E27FC236}">
                  <a16:creationId xmlns:a16="http://schemas.microsoft.com/office/drawing/2014/main" id="{2549B4D1-98C9-D7EA-E18C-D652BCCE6802}"/>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t="-16747" b="-16747"/>
              </a:stretch>
            </a:blipFill>
          </p:spPr>
          <p:txBody>
            <a:bodyPr/>
            <a:lstStyle/>
            <a:p>
              <a:endParaRPr lang="en-US"/>
            </a:p>
          </p:txBody>
        </p:sp>
      </p:grpSp>
      <p:grpSp>
        <p:nvGrpSpPr>
          <p:cNvPr id="20" name="Group 20">
            <a:extLst>
              <a:ext uri="{FF2B5EF4-FFF2-40B4-BE49-F238E27FC236}">
                <a16:creationId xmlns:a16="http://schemas.microsoft.com/office/drawing/2014/main" id="{1CDD287B-90CF-DDA0-1DA6-C52EC234A14A}"/>
              </a:ext>
            </a:extLst>
          </p:cNvPr>
          <p:cNvGrpSpPr/>
          <p:nvPr/>
        </p:nvGrpSpPr>
        <p:grpSpPr>
          <a:xfrm>
            <a:off x="1084293" y="2027684"/>
            <a:ext cx="2580660" cy="6892743"/>
            <a:chOff x="0" y="0"/>
            <a:chExt cx="679680" cy="1815373"/>
          </a:xfrm>
        </p:grpSpPr>
        <p:sp>
          <p:nvSpPr>
            <p:cNvPr id="21" name="Freeform 21">
              <a:extLst>
                <a:ext uri="{FF2B5EF4-FFF2-40B4-BE49-F238E27FC236}">
                  <a16:creationId xmlns:a16="http://schemas.microsoft.com/office/drawing/2014/main" id="{95F0EE5B-62E9-F3F9-D34A-CE17FE52F5E0}"/>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2" name="TextBox 22">
              <a:extLst>
                <a:ext uri="{FF2B5EF4-FFF2-40B4-BE49-F238E27FC236}">
                  <a16:creationId xmlns:a16="http://schemas.microsoft.com/office/drawing/2014/main" id="{E414B2CD-335E-E72E-814E-38ADCCBE7976}"/>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3" name="Group 23">
            <a:extLst>
              <a:ext uri="{FF2B5EF4-FFF2-40B4-BE49-F238E27FC236}">
                <a16:creationId xmlns:a16="http://schemas.microsoft.com/office/drawing/2014/main" id="{55E4DAA6-4778-4D40-34AE-4D660CF8A5A7}"/>
              </a:ext>
            </a:extLst>
          </p:cNvPr>
          <p:cNvGrpSpPr/>
          <p:nvPr/>
        </p:nvGrpSpPr>
        <p:grpSpPr>
          <a:xfrm>
            <a:off x="1124421" y="3873234"/>
            <a:ext cx="2540533" cy="2540533"/>
            <a:chOff x="0" y="0"/>
            <a:chExt cx="6350000" cy="6350000"/>
          </a:xfrm>
        </p:grpSpPr>
        <p:sp>
          <p:nvSpPr>
            <p:cNvPr id="24" name="Freeform 24">
              <a:extLst>
                <a:ext uri="{FF2B5EF4-FFF2-40B4-BE49-F238E27FC236}">
                  <a16:creationId xmlns:a16="http://schemas.microsoft.com/office/drawing/2014/main" id="{6F7A22E3-CF4B-498A-B915-2180DE58DEC9}"/>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8"/>
              <a:stretch>
                <a:fillRect t="-31120" b="-31120"/>
              </a:stretch>
            </a:blipFill>
          </p:spPr>
          <p:txBody>
            <a:bodyPr/>
            <a:lstStyle/>
            <a:p>
              <a:endParaRPr lang="en-US"/>
            </a:p>
          </p:txBody>
        </p:sp>
      </p:grpSp>
      <p:grpSp>
        <p:nvGrpSpPr>
          <p:cNvPr id="25" name="Group 25">
            <a:extLst>
              <a:ext uri="{FF2B5EF4-FFF2-40B4-BE49-F238E27FC236}">
                <a16:creationId xmlns:a16="http://schemas.microsoft.com/office/drawing/2014/main" id="{E1124995-D91A-1FAC-7BF3-CE72A6073B52}"/>
              </a:ext>
            </a:extLst>
          </p:cNvPr>
          <p:cNvGrpSpPr/>
          <p:nvPr/>
        </p:nvGrpSpPr>
        <p:grpSpPr>
          <a:xfrm>
            <a:off x="1048764" y="2079956"/>
            <a:ext cx="2580660" cy="6892743"/>
            <a:chOff x="0" y="0"/>
            <a:chExt cx="679680" cy="1815373"/>
          </a:xfrm>
        </p:grpSpPr>
        <p:sp>
          <p:nvSpPr>
            <p:cNvPr id="26" name="Freeform 26">
              <a:extLst>
                <a:ext uri="{FF2B5EF4-FFF2-40B4-BE49-F238E27FC236}">
                  <a16:creationId xmlns:a16="http://schemas.microsoft.com/office/drawing/2014/main" id="{291628CD-5C3B-7A3B-191F-4CE48B3A8D0F}"/>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7" name="TextBox 27">
              <a:extLst>
                <a:ext uri="{FF2B5EF4-FFF2-40B4-BE49-F238E27FC236}">
                  <a16:creationId xmlns:a16="http://schemas.microsoft.com/office/drawing/2014/main" id="{C52D40EA-FE17-7F3E-7BAF-5453E6850D02}"/>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8" name="Group 28">
            <a:extLst>
              <a:ext uri="{FF2B5EF4-FFF2-40B4-BE49-F238E27FC236}">
                <a16:creationId xmlns:a16="http://schemas.microsoft.com/office/drawing/2014/main" id="{005742A9-7354-9996-1D3F-6CB3EAEE565C}"/>
              </a:ext>
            </a:extLst>
          </p:cNvPr>
          <p:cNvGrpSpPr/>
          <p:nvPr/>
        </p:nvGrpSpPr>
        <p:grpSpPr>
          <a:xfrm>
            <a:off x="1084293" y="3873234"/>
            <a:ext cx="2540533" cy="2540533"/>
            <a:chOff x="0" y="0"/>
            <a:chExt cx="6350000" cy="6350000"/>
          </a:xfrm>
        </p:grpSpPr>
        <p:sp>
          <p:nvSpPr>
            <p:cNvPr id="29" name="Freeform 29">
              <a:extLst>
                <a:ext uri="{FF2B5EF4-FFF2-40B4-BE49-F238E27FC236}">
                  <a16:creationId xmlns:a16="http://schemas.microsoft.com/office/drawing/2014/main" id="{4A12FD7C-E213-33C4-4125-14BDE26C3F62}"/>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9"/>
              <a:stretch>
                <a:fillRect t="-16666" b="-16666"/>
              </a:stretch>
            </a:blipFill>
          </p:spPr>
          <p:txBody>
            <a:bodyPr/>
            <a:lstStyle/>
            <a:p>
              <a:endParaRPr lang="en-US"/>
            </a:p>
          </p:txBody>
        </p:sp>
      </p:grpSp>
      <p:grpSp>
        <p:nvGrpSpPr>
          <p:cNvPr id="30" name="Group 30">
            <a:extLst>
              <a:ext uri="{FF2B5EF4-FFF2-40B4-BE49-F238E27FC236}">
                <a16:creationId xmlns:a16="http://schemas.microsoft.com/office/drawing/2014/main" id="{370FE1CE-8673-F1F1-D689-DB9A7722B2FC}"/>
              </a:ext>
            </a:extLst>
          </p:cNvPr>
          <p:cNvGrpSpPr/>
          <p:nvPr/>
        </p:nvGrpSpPr>
        <p:grpSpPr>
          <a:xfrm>
            <a:off x="1060480" y="2079956"/>
            <a:ext cx="2588158" cy="6892743"/>
            <a:chOff x="0" y="0"/>
            <a:chExt cx="3450877" cy="9190325"/>
          </a:xfrm>
        </p:grpSpPr>
        <p:grpSp>
          <p:nvGrpSpPr>
            <p:cNvPr id="31" name="Group 31">
              <a:extLst>
                <a:ext uri="{FF2B5EF4-FFF2-40B4-BE49-F238E27FC236}">
                  <a16:creationId xmlns:a16="http://schemas.microsoft.com/office/drawing/2014/main" id="{ABAE8A59-BA33-4286-1579-5DC5FC2C692D}"/>
                </a:ext>
              </a:extLst>
            </p:cNvPr>
            <p:cNvGrpSpPr/>
            <p:nvPr/>
          </p:nvGrpSpPr>
          <p:grpSpPr>
            <a:xfrm>
              <a:off x="0" y="0"/>
              <a:ext cx="3440880" cy="9190325"/>
              <a:chOff x="0" y="0"/>
              <a:chExt cx="679680" cy="1815373"/>
            </a:xfrm>
          </p:grpSpPr>
          <p:sp>
            <p:nvSpPr>
              <p:cNvPr id="32" name="Freeform 32">
                <a:extLst>
                  <a:ext uri="{FF2B5EF4-FFF2-40B4-BE49-F238E27FC236}">
                    <a16:creationId xmlns:a16="http://schemas.microsoft.com/office/drawing/2014/main" id="{F51E2DDB-EBFF-FDBD-F0E7-608FE7661229}"/>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33" name="TextBox 33">
                <a:extLst>
                  <a:ext uri="{FF2B5EF4-FFF2-40B4-BE49-F238E27FC236}">
                    <a16:creationId xmlns:a16="http://schemas.microsoft.com/office/drawing/2014/main" id="{538BE578-7EC2-098B-4A8A-4A1BBBC72B6F}"/>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34" name="Group 34">
              <a:extLst>
                <a:ext uri="{FF2B5EF4-FFF2-40B4-BE49-F238E27FC236}">
                  <a16:creationId xmlns:a16="http://schemas.microsoft.com/office/drawing/2014/main" id="{358346F1-0745-3E10-361A-49AEFF960BC6}"/>
                </a:ext>
              </a:extLst>
            </p:cNvPr>
            <p:cNvGrpSpPr/>
            <p:nvPr/>
          </p:nvGrpSpPr>
          <p:grpSpPr>
            <a:xfrm>
              <a:off x="63500" y="2391038"/>
              <a:ext cx="3387377" cy="3387377"/>
              <a:chOff x="0" y="0"/>
              <a:chExt cx="6350000" cy="6350000"/>
            </a:xfrm>
          </p:grpSpPr>
          <p:sp>
            <p:nvSpPr>
              <p:cNvPr id="35" name="Freeform 35">
                <a:extLst>
                  <a:ext uri="{FF2B5EF4-FFF2-40B4-BE49-F238E27FC236}">
                    <a16:creationId xmlns:a16="http://schemas.microsoft.com/office/drawing/2014/main" id="{7436D2F9-9F34-5D6D-F4B0-46CE616E2915}"/>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0"/>
                <a:stretch>
                  <a:fillRect l="-38888" r="-38888"/>
                </a:stretch>
              </a:blipFill>
            </p:spPr>
            <p:txBody>
              <a:bodyPr/>
              <a:lstStyle/>
              <a:p>
                <a:endParaRPr lang="en-US"/>
              </a:p>
            </p:txBody>
          </p:sp>
        </p:grpSp>
      </p:grpSp>
      <p:grpSp>
        <p:nvGrpSpPr>
          <p:cNvPr id="36" name="Group 36">
            <a:extLst>
              <a:ext uri="{FF2B5EF4-FFF2-40B4-BE49-F238E27FC236}">
                <a16:creationId xmlns:a16="http://schemas.microsoft.com/office/drawing/2014/main" id="{F05EE64B-C990-AD03-9853-6CF35295C423}"/>
              </a:ext>
            </a:extLst>
          </p:cNvPr>
          <p:cNvGrpSpPr/>
          <p:nvPr/>
        </p:nvGrpSpPr>
        <p:grpSpPr>
          <a:xfrm>
            <a:off x="986904" y="2027684"/>
            <a:ext cx="16272396" cy="6945015"/>
            <a:chOff x="0" y="0"/>
            <a:chExt cx="4285734" cy="1829140"/>
          </a:xfrm>
        </p:grpSpPr>
        <p:sp>
          <p:nvSpPr>
            <p:cNvPr id="37" name="Freeform 37">
              <a:extLst>
                <a:ext uri="{FF2B5EF4-FFF2-40B4-BE49-F238E27FC236}">
                  <a16:creationId xmlns:a16="http://schemas.microsoft.com/office/drawing/2014/main" id="{40BFDEEF-7B8E-43FA-5E1D-E1E38E9D62ED}"/>
                </a:ext>
              </a:extLst>
            </p:cNvPr>
            <p:cNvSpPr/>
            <p:nvPr/>
          </p:nvSpPr>
          <p:spPr>
            <a:xfrm>
              <a:off x="0" y="0"/>
              <a:ext cx="4285734" cy="1829140"/>
            </a:xfrm>
            <a:custGeom>
              <a:avLst/>
              <a:gdLst/>
              <a:ahLst/>
              <a:cxnLst/>
              <a:rect l="l" t="t" r="r" b="b"/>
              <a:pathLst>
                <a:path w="4285734" h="1829140">
                  <a:moveTo>
                    <a:pt x="24264" y="0"/>
                  </a:moveTo>
                  <a:lnTo>
                    <a:pt x="4261470" y="0"/>
                  </a:lnTo>
                  <a:cubicBezTo>
                    <a:pt x="4274871" y="0"/>
                    <a:pt x="4285734" y="10863"/>
                    <a:pt x="4285734" y="24264"/>
                  </a:cubicBezTo>
                  <a:lnTo>
                    <a:pt x="4285734" y="1804875"/>
                  </a:lnTo>
                  <a:cubicBezTo>
                    <a:pt x="4285734" y="1811311"/>
                    <a:pt x="4283178" y="1817482"/>
                    <a:pt x="4278627" y="1822033"/>
                  </a:cubicBezTo>
                  <a:cubicBezTo>
                    <a:pt x="4274077" y="1826583"/>
                    <a:pt x="4267905" y="1829140"/>
                    <a:pt x="4261470" y="1829140"/>
                  </a:cubicBezTo>
                  <a:lnTo>
                    <a:pt x="24264" y="1829140"/>
                  </a:lnTo>
                  <a:cubicBezTo>
                    <a:pt x="10863" y="1829140"/>
                    <a:pt x="0" y="1818276"/>
                    <a:pt x="0" y="1804875"/>
                  </a:cubicBezTo>
                  <a:lnTo>
                    <a:pt x="0" y="24264"/>
                  </a:lnTo>
                  <a:cubicBezTo>
                    <a:pt x="0" y="17829"/>
                    <a:pt x="2556" y="11657"/>
                    <a:pt x="7107" y="7107"/>
                  </a:cubicBezTo>
                  <a:cubicBezTo>
                    <a:pt x="11657" y="2556"/>
                    <a:pt x="17829" y="0"/>
                    <a:pt x="24264" y="0"/>
                  </a:cubicBezTo>
                  <a:close/>
                </a:path>
              </a:pathLst>
            </a:custGeom>
            <a:solidFill>
              <a:srgbClr val="336EA8"/>
            </a:solidFill>
          </p:spPr>
          <p:txBody>
            <a:bodyPr/>
            <a:lstStyle/>
            <a:p>
              <a:endParaRPr lang="en-US"/>
            </a:p>
          </p:txBody>
        </p:sp>
        <p:sp>
          <p:nvSpPr>
            <p:cNvPr id="38" name="TextBox 38">
              <a:extLst>
                <a:ext uri="{FF2B5EF4-FFF2-40B4-BE49-F238E27FC236}">
                  <a16:creationId xmlns:a16="http://schemas.microsoft.com/office/drawing/2014/main" id="{C1BD0A9F-A306-D491-3C5E-23F4641258CF}"/>
                </a:ext>
              </a:extLst>
            </p:cNvPr>
            <p:cNvSpPr txBox="1"/>
            <p:nvPr/>
          </p:nvSpPr>
          <p:spPr>
            <a:xfrm>
              <a:off x="0" y="-38100"/>
              <a:ext cx="4285734" cy="1867240"/>
            </a:xfrm>
            <a:prstGeom prst="rect">
              <a:avLst/>
            </a:prstGeom>
          </p:spPr>
          <p:txBody>
            <a:bodyPr lIns="50800" tIns="50800" rIns="50800" bIns="50800" rtlCol="0" anchor="ctr"/>
            <a:lstStyle/>
            <a:p>
              <a:pPr algn="ctr">
                <a:lnSpc>
                  <a:spcPts val="2879"/>
                </a:lnSpc>
              </a:pPr>
              <a:endParaRPr/>
            </a:p>
          </p:txBody>
        </p:sp>
      </p:grpSp>
      <p:sp>
        <p:nvSpPr>
          <p:cNvPr id="41" name="TextBox 41">
            <a:extLst>
              <a:ext uri="{FF2B5EF4-FFF2-40B4-BE49-F238E27FC236}">
                <a16:creationId xmlns:a16="http://schemas.microsoft.com/office/drawing/2014/main" id="{2C6C7D44-24B6-68A5-3A66-7CB029605BB0}"/>
              </a:ext>
            </a:extLst>
          </p:cNvPr>
          <p:cNvSpPr txBox="1"/>
          <p:nvPr/>
        </p:nvSpPr>
        <p:spPr>
          <a:xfrm>
            <a:off x="4272352" y="3333404"/>
            <a:ext cx="12758348" cy="4513543"/>
          </a:xfrm>
          <a:prstGeom prst="rect">
            <a:avLst/>
          </a:prstGeom>
        </p:spPr>
        <p:txBody>
          <a:bodyPr lIns="0" tIns="0" rIns="0" bIns="0" rtlCol="0" anchor="t">
            <a:spAutoFit/>
          </a:bodyPr>
          <a:lstStyle/>
          <a:p>
            <a:pPr algn="ctr">
              <a:lnSpc>
                <a:spcPts val="3835"/>
              </a:lnSpc>
            </a:pPr>
            <a:r>
              <a:rPr lang="en-US" sz="2739" b="1" dirty="0">
                <a:solidFill>
                  <a:srgbClr val="000000"/>
                </a:solidFill>
                <a:latin typeface="Canva Sans Bold"/>
                <a:ea typeface="Canva Sans Bold"/>
                <a:cs typeface="Canva Sans Bold"/>
                <a:sym typeface="Canva Sans Bold"/>
              </a:rPr>
              <a:t>Introduction</a:t>
            </a:r>
          </a:p>
          <a:p>
            <a:r>
              <a:rPr lang="en-US" sz="2740" b="1" dirty="0"/>
              <a:t>Mohamed Elsayed Mohamed, is a 23-year-old, a Telecommunications &amp; Electronics Engineering student passionate about Data Analytics. Skilled in the full data lifecycle including data cleaning, modeling, and building professional dashboards using Excel and Power BI to turn raw data into actionable insights.</a:t>
            </a:r>
            <a:endParaRPr lang="ar-EG" sz="2740" b="1" dirty="0"/>
          </a:p>
          <a:p>
            <a:pPr algn="ctr"/>
            <a:r>
              <a:rPr lang="en-US" sz="2739" b="1" dirty="0">
                <a:solidFill>
                  <a:srgbClr val="000000"/>
                </a:solidFill>
                <a:latin typeface="Canva Sans Bold"/>
                <a:ea typeface="Canva Sans Bold"/>
                <a:cs typeface="Canva Sans Bold"/>
                <a:sym typeface="Canva Sans Bold"/>
              </a:rPr>
              <a:t>Role</a:t>
            </a:r>
          </a:p>
          <a:p>
            <a:pPr algn="ctr">
              <a:lnSpc>
                <a:spcPts val="3835"/>
              </a:lnSpc>
            </a:pPr>
            <a:r>
              <a:rPr lang="en-US" sz="2739" b="1" dirty="0">
                <a:solidFill>
                  <a:srgbClr val="000000"/>
                </a:solidFill>
                <a:latin typeface="Canva Sans Bold"/>
                <a:ea typeface="Canva Sans Bold"/>
                <a:cs typeface="Canva Sans Bold"/>
                <a:sym typeface="Canva Sans Bold"/>
              </a:rPr>
              <a:t>Data Insights Specialist</a:t>
            </a:r>
          </a:p>
          <a:p>
            <a:pPr algn="l">
              <a:lnSpc>
                <a:spcPts val="3835"/>
              </a:lnSpc>
            </a:pPr>
            <a:r>
              <a:rPr lang="en-US" sz="2739" b="1" dirty="0">
                <a:solidFill>
                  <a:srgbClr val="000000"/>
                </a:solidFill>
                <a:latin typeface="Canva Sans Bold"/>
                <a:ea typeface="Canva Sans Bold"/>
                <a:cs typeface="Canva Sans Bold"/>
                <a:sym typeface="Canva Sans Bold"/>
              </a:rPr>
              <a:t> – Data analysis and insights generation </a:t>
            </a:r>
          </a:p>
          <a:p>
            <a:pPr algn="l">
              <a:lnSpc>
                <a:spcPts val="3835"/>
              </a:lnSpc>
            </a:pPr>
            <a:r>
              <a:rPr lang="en-US" sz="2739" b="1" dirty="0">
                <a:solidFill>
                  <a:srgbClr val="000000"/>
                </a:solidFill>
                <a:latin typeface="Canva Sans Bold"/>
                <a:ea typeface="Canva Sans Bold"/>
                <a:cs typeface="Canva Sans Bold"/>
                <a:sym typeface="Canva Sans Bold"/>
              </a:rPr>
              <a:t> – Supporting the team in extracting and refining final insights </a:t>
            </a:r>
          </a:p>
          <a:p>
            <a:pPr algn="l">
              <a:lnSpc>
                <a:spcPts val="3835"/>
              </a:lnSpc>
            </a:pPr>
            <a:r>
              <a:rPr lang="en-US" sz="2739" b="1" dirty="0">
                <a:solidFill>
                  <a:srgbClr val="000000"/>
                </a:solidFill>
                <a:latin typeface="Canva Sans Bold"/>
                <a:ea typeface="Canva Sans Bold"/>
                <a:cs typeface="Canva Sans Bold"/>
                <a:sym typeface="Canva Sans Bold"/>
              </a:rPr>
              <a:t> – Data analysis using Excel (Pivot Tables + Charts)</a:t>
            </a:r>
          </a:p>
        </p:txBody>
      </p:sp>
      <p:sp>
        <p:nvSpPr>
          <p:cNvPr id="42" name="TextBox 42">
            <a:extLst>
              <a:ext uri="{FF2B5EF4-FFF2-40B4-BE49-F238E27FC236}">
                <a16:creationId xmlns:a16="http://schemas.microsoft.com/office/drawing/2014/main" id="{56D6B13C-FC0F-4E12-F608-1F4BB43A0339}"/>
              </a:ext>
            </a:extLst>
          </p:cNvPr>
          <p:cNvSpPr txBox="1"/>
          <p:nvPr/>
        </p:nvSpPr>
        <p:spPr>
          <a:xfrm>
            <a:off x="6117254" y="2266524"/>
            <a:ext cx="8113832" cy="809324"/>
          </a:xfrm>
          <a:prstGeom prst="rect">
            <a:avLst/>
          </a:prstGeom>
        </p:spPr>
        <p:txBody>
          <a:bodyPr lIns="0" tIns="0" rIns="0" bIns="0" rtlCol="0" anchor="t">
            <a:spAutoFit/>
          </a:bodyPr>
          <a:lstStyle/>
          <a:p>
            <a:pPr algn="ctr">
              <a:lnSpc>
                <a:spcPts val="6860"/>
              </a:lnSpc>
            </a:pPr>
            <a:r>
              <a:rPr lang="en-US" sz="4400" b="1" dirty="0">
                <a:solidFill>
                  <a:srgbClr val="000000"/>
                </a:solidFill>
                <a:latin typeface="Canva Sans Bold"/>
                <a:ea typeface="Canva Sans Bold"/>
                <a:cs typeface="Canva Sans Bold"/>
                <a:sym typeface="Canva Sans Bold"/>
              </a:rPr>
              <a:t>Mohamed Elsayed Mohamed</a:t>
            </a:r>
          </a:p>
        </p:txBody>
      </p:sp>
      <p:pic>
        <p:nvPicPr>
          <p:cNvPr id="44" name="Picture 43">
            <a:extLst>
              <a:ext uri="{FF2B5EF4-FFF2-40B4-BE49-F238E27FC236}">
                <a16:creationId xmlns:a16="http://schemas.microsoft.com/office/drawing/2014/main" id="{5206F990-17CA-81C3-7002-A8D84F2E8C5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8962442"/>
            <a:ext cx="1324558" cy="1324558"/>
          </a:xfrm>
          <a:prstGeom prst="rect">
            <a:avLst/>
          </a:prstGeom>
        </p:spPr>
      </p:pic>
      <p:pic>
        <p:nvPicPr>
          <p:cNvPr id="5" name="Picture 4">
            <a:extLst>
              <a:ext uri="{FF2B5EF4-FFF2-40B4-BE49-F238E27FC236}">
                <a16:creationId xmlns:a16="http://schemas.microsoft.com/office/drawing/2014/main" id="{FBB29138-364A-C1F5-84D6-D379D8B8AE62}"/>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5944" t="11984" r="17436" b="21395"/>
          <a:stretch>
            <a:fillRect/>
          </a:stretch>
        </p:blipFill>
        <p:spPr>
          <a:xfrm>
            <a:off x="1171736" y="3677376"/>
            <a:ext cx="2864686" cy="2864686"/>
          </a:xfrm>
          <a:prstGeom prst="ellipse">
            <a:avLst/>
          </a:prstGeom>
        </p:spPr>
      </p:pic>
    </p:spTree>
    <p:extLst>
      <p:ext uri="{BB962C8B-B14F-4D97-AF65-F5344CB8AC3E}">
        <p14:creationId xmlns:p14="http://schemas.microsoft.com/office/powerpoint/2010/main" val="917513565"/>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D6AF9-557F-E97A-9C22-39F94590C95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279BFB1-0AFC-FA63-C4A4-D13682E30EEC}"/>
              </a:ext>
            </a:extLst>
          </p:cNvPr>
          <p:cNvSpPr/>
          <p:nvPr/>
        </p:nvSpPr>
        <p:spPr>
          <a:xfrm>
            <a:off x="0" y="-1945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a:extLst>
              <a:ext uri="{FF2B5EF4-FFF2-40B4-BE49-F238E27FC236}">
                <a16:creationId xmlns:a16="http://schemas.microsoft.com/office/drawing/2014/main" id="{69FBF7E2-14D9-986D-E54E-FC43554DB5C0}"/>
              </a:ext>
            </a:extLst>
          </p:cNvPr>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a:extLst>
              <a:ext uri="{FF2B5EF4-FFF2-40B4-BE49-F238E27FC236}">
                <a16:creationId xmlns:a16="http://schemas.microsoft.com/office/drawing/2014/main" id="{E8CD51EC-A619-FB53-A8F6-2EB3114F929E}"/>
              </a:ext>
            </a:extLst>
          </p:cNvPr>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a:extLst>
              <a:ext uri="{FF2B5EF4-FFF2-40B4-BE49-F238E27FC236}">
                <a16:creationId xmlns:a16="http://schemas.microsoft.com/office/drawing/2014/main" id="{C3BA7E31-0DF9-5652-429B-04AC94B4CCEF}"/>
              </a:ext>
            </a:extLst>
          </p:cNvPr>
          <p:cNvGrpSpPr/>
          <p:nvPr/>
        </p:nvGrpSpPr>
        <p:grpSpPr>
          <a:xfrm>
            <a:off x="579906" y="1689812"/>
            <a:ext cx="17022707" cy="7568488"/>
            <a:chOff x="0" y="0"/>
            <a:chExt cx="5798675" cy="2578157"/>
          </a:xfrm>
        </p:grpSpPr>
        <p:sp>
          <p:nvSpPr>
            <p:cNvPr id="7" name="Freeform 7">
              <a:extLst>
                <a:ext uri="{FF2B5EF4-FFF2-40B4-BE49-F238E27FC236}">
                  <a16:creationId xmlns:a16="http://schemas.microsoft.com/office/drawing/2014/main" id="{991D787E-13B3-2613-1640-A3D0217333C8}"/>
                </a:ext>
              </a:extLst>
            </p:cNvPr>
            <p:cNvSpPr/>
            <p:nvPr/>
          </p:nvSpPr>
          <p:spPr>
            <a:xfrm>
              <a:off x="0" y="0"/>
              <a:ext cx="5798676" cy="2578157"/>
            </a:xfrm>
            <a:custGeom>
              <a:avLst/>
              <a:gdLst/>
              <a:ahLst/>
              <a:cxnLst/>
              <a:rect l="l" t="t" r="r" b="b"/>
              <a:pathLst>
                <a:path w="5798676" h="2578157">
                  <a:moveTo>
                    <a:pt x="23195" y="0"/>
                  </a:moveTo>
                  <a:lnTo>
                    <a:pt x="5775481" y="0"/>
                  </a:lnTo>
                  <a:cubicBezTo>
                    <a:pt x="5781632" y="0"/>
                    <a:pt x="5787532" y="2444"/>
                    <a:pt x="5791882" y="6794"/>
                  </a:cubicBezTo>
                  <a:cubicBezTo>
                    <a:pt x="5796232" y="11143"/>
                    <a:pt x="5798676" y="17043"/>
                    <a:pt x="5798676" y="23195"/>
                  </a:cubicBezTo>
                  <a:lnTo>
                    <a:pt x="5798676" y="2554962"/>
                  </a:lnTo>
                  <a:cubicBezTo>
                    <a:pt x="5798676" y="2561113"/>
                    <a:pt x="5796232" y="2567013"/>
                    <a:pt x="5791882" y="2571363"/>
                  </a:cubicBezTo>
                  <a:cubicBezTo>
                    <a:pt x="5787532" y="2575713"/>
                    <a:pt x="5781632" y="2578157"/>
                    <a:pt x="5775481" y="2578157"/>
                  </a:cubicBezTo>
                  <a:lnTo>
                    <a:pt x="23195" y="2578157"/>
                  </a:lnTo>
                  <a:cubicBezTo>
                    <a:pt x="17043" y="2578157"/>
                    <a:pt x="11143" y="2575713"/>
                    <a:pt x="6794" y="2571363"/>
                  </a:cubicBezTo>
                  <a:cubicBezTo>
                    <a:pt x="2444" y="2567013"/>
                    <a:pt x="0" y="2561113"/>
                    <a:pt x="0" y="2554962"/>
                  </a:cubicBezTo>
                  <a:lnTo>
                    <a:pt x="0" y="23195"/>
                  </a:lnTo>
                  <a:cubicBezTo>
                    <a:pt x="0" y="17043"/>
                    <a:pt x="2444" y="11143"/>
                    <a:pt x="6794" y="6794"/>
                  </a:cubicBezTo>
                  <a:cubicBezTo>
                    <a:pt x="11143" y="2444"/>
                    <a:pt x="17043" y="0"/>
                    <a:pt x="23195" y="0"/>
                  </a:cubicBezTo>
                  <a:close/>
                </a:path>
              </a:pathLst>
            </a:custGeom>
            <a:solidFill>
              <a:srgbClr val="84E4A8"/>
            </a:solidFill>
          </p:spPr>
          <p:txBody>
            <a:bodyPr/>
            <a:lstStyle/>
            <a:p>
              <a:endParaRPr lang="en-US"/>
            </a:p>
          </p:txBody>
        </p:sp>
        <p:sp>
          <p:nvSpPr>
            <p:cNvPr id="8" name="TextBox 8">
              <a:extLst>
                <a:ext uri="{FF2B5EF4-FFF2-40B4-BE49-F238E27FC236}">
                  <a16:creationId xmlns:a16="http://schemas.microsoft.com/office/drawing/2014/main" id="{871D26A3-3E9C-092C-E69F-C922E05A6F85}"/>
                </a:ext>
              </a:extLst>
            </p:cNvPr>
            <p:cNvSpPr txBox="1"/>
            <p:nvPr/>
          </p:nvSpPr>
          <p:spPr>
            <a:xfrm>
              <a:off x="0" y="-38100"/>
              <a:ext cx="5798675" cy="2616257"/>
            </a:xfrm>
            <a:prstGeom prst="rect">
              <a:avLst/>
            </a:prstGeom>
          </p:spPr>
          <p:txBody>
            <a:bodyPr lIns="39277" tIns="39277" rIns="39277" bIns="39277" rtlCol="0" anchor="ctr"/>
            <a:lstStyle/>
            <a:p>
              <a:pPr algn="ctr">
                <a:lnSpc>
                  <a:spcPts val="2879"/>
                </a:lnSpc>
              </a:pPr>
              <a:endParaRPr/>
            </a:p>
          </p:txBody>
        </p:sp>
      </p:grpSp>
      <p:grpSp>
        <p:nvGrpSpPr>
          <p:cNvPr id="9" name="Group 9">
            <a:extLst>
              <a:ext uri="{FF2B5EF4-FFF2-40B4-BE49-F238E27FC236}">
                <a16:creationId xmlns:a16="http://schemas.microsoft.com/office/drawing/2014/main" id="{0F5C563B-26EC-0B7F-08C2-4B0E8E51DD7B}"/>
              </a:ext>
            </a:extLst>
          </p:cNvPr>
          <p:cNvGrpSpPr/>
          <p:nvPr/>
        </p:nvGrpSpPr>
        <p:grpSpPr>
          <a:xfrm>
            <a:off x="1028700" y="2079956"/>
            <a:ext cx="2580660" cy="6892743"/>
            <a:chOff x="0" y="0"/>
            <a:chExt cx="679680" cy="1815373"/>
          </a:xfrm>
        </p:grpSpPr>
        <p:sp>
          <p:nvSpPr>
            <p:cNvPr id="10" name="Freeform 10">
              <a:extLst>
                <a:ext uri="{FF2B5EF4-FFF2-40B4-BE49-F238E27FC236}">
                  <a16:creationId xmlns:a16="http://schemas.microsoft.com/office/drawing/2014/main" id="{B6395D43-CA52-EE36-91EE-3B3010A8E71E}"/>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1" name="TextBox 11">
              <a:extLst>
                <a:ext uri="{FF2B5EF4-FFF2-40B4-BE49-F238E27FC236}">
                  <a16:creationId xmlns:a16="http://schemas.microsoft.com/office/drawing/2014/main" id="{EE4A6BEE-D924-40C7-DDC4-E73D1611B29E}"/>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2" name="Group 12">
            <a:extLst>
              <a:ext uri="{FF2B5EF4-FFF2-40B4-BE49-F238E27FC236}">
                <a16:creationId xmlns:a16="http://schemas.microsoft.com/office/drawing/2014/main" id="{C1608BEF-E19B-D765-3900-303E23371D4E}"/>
              </a:ext>
            </a:extLst>
          </p:cNvPr>
          <p:cNvGrpSpPr/>
          <p:nvPr/>
        </p:nvGrpSpPr>
        <p:grpSpPr>
          <a:xfrm>
            <a:off x="1048764" y="3873234"/>
            <a:ext cx="2540533" cy="2540533"/>
            <a:chOff x="0" y="0"/>
            <a:chExt cx="6350000" cy="6350000"/>
          </a:xfrm>
        </p:grpSpPr>
        <p:sp>
          <p:nvSpPr>
            <p:cNvPr id="13" name="Freeform 13">
              <a:extLst>
                <a:ext uri="{FF2B5EF4-FFF2-40B4-BE49-F238E27FC236}">
                  <a16:creationId xmlns:a16="http://schemas.microsoft.com/office/drawing/2014/main" id="{2DDC857B-5ABA-2D49-0198-6B5B7AD81991}"/>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t="-25000" b="-25000"/>
              </a:stretch>
            </a:blipFill>
          </p:spPr>
          <p:txBody>
            <a:bodyPr/>
            <a:lstStyle/>
            <a:p>
              <a:endParaRPr lang="en-US"/>
            </a:p>
          </p:txBody>
        </p:sp>
      </p:grpSp>
      <p:sp>
        <p:nvSpPr>
          <p:cNvPr id="14" name="TextBox 14">
            <a:extLst>
              <a:ext uri="{FF2B5EF4-FFF2-40B4-BE49-F238E27FC236}">
                <a16:creationId xmlns:a16="http://schemas.microsoft.com/office/drawing/2014/main" id="{74C1B30B-8B36-5938-B823-182DE040B24C}"/>
              </a:ext>
            </a:extLst>
          </p:cNvPr>
          <p:cNvSpPr txBox="1"/>
          <p:nvPr/>
        </p:nvSpPr>
        <p:spPr>
          <a:xfrm>
            <a:off x="5402536" y="68142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Project Team + Roles</a:t>
            </a:r>
          </a:p>
        </p:txBody>
      </p:sp>
      <p:grpSp>
        <p:nvGrpSpPr>
          <p:cNvPr id="15" name="Group 15">
            <a:extLst>
              <a:ext uri="{FF2B5EF4-FFF2-40B4-BE49-F238E27FC236}">
                <a16:creationId xmlns:a16="http://schemas.microsoft.com/office/drawing/2014/main" id="{407F35D1-85D0-E970-FB7C-32075E1DA95D}"/>
              </a:ext>
            </a:extLst>
          </p:cNvPr>
          <p:cNvGrpSpPr/>
          <p:nvPr/>
        </p:nvGrpSpPr>
        <p:grpSpPr>
          <a:xfrm>
            <a:off x="1048764" y="2027684"/>
            <a:ext cx="2580660" cy="6892743"/>
            <a:chOff x="0" y="0"/>
            <a:chExt cx="679680" cy="1815373"/>
          </a:xfrm>
        </p:grpSpPr>
        <p:sp>
          <p:nvSpPr>
            <p:cNvPr id="16" name="Freeform 16">
              <a:extLst>
                <a:ext uri="{FF2B5EF4-FFF2-40B4-BE49-F238E27FC236}">
                  <a16:creationId xmlns:a16="http://schemas.microsoft.com/office/drawing/2014/main" id="{739DFD45-AE8F-B4CA-167B-36D9B758BA5F}"/>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7" name="TextBox 17">
              <a:extLst>
                <a:ext uri="{FF2B5EF4-FFF2-40B4-BE49-F238E27FC236}">
                  <a16:creationId xmlns:a16="http://schemas.microsoft.com/office/drawing/2014/main" id="{F31D8E1E-4ED7-14B8-EF2E-EE06B9656CE2}"/>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8" name="Group 18">
            <a:extLst>
              <a:ext uri="{FF2B5EF4-FFF2-40B4-BE49-F238E27FC236}">
                <a16:creationId xmlns:a16="http://schemas.microsoft.com/office/drawing/2014/main" id="{BB4AEA3A-F04E-6E19-44F5-04E5B51BDAEB}"/>
              </a:ext>
            </a:extLst>
          </p:cNvPr>
          <p:cNvGrpSpPr/>
          <p:nvPr/>
        </p:nvGrpSpPr>
        <p:grpSpPr>
          <a:xfrm>
            <a:off x="1027031" y="3873234"/>
            <a:ext cx="2540533" cy="2540533"/>
            <a:chOff x="0" y="0"/>
            <a:chExt cx="6350000" cy="6350000"/>
          </a:xfrm>
        </p:grpSpPr>
        <p:sp>
          <p:nvSpPr>
            <p:cNvPr id="19" name="Freeform 19">
              <a:extLst>
                <a:ext uri="{FF2B5EF4-FFF2-40B4-BE49-F238E27FC236}">
                  <a16:creationId xmlns:a16="http://schemas.microsoft.com/office/drawing/2014/main" id="{D5586534-8530-6C9F-9C02-A4AFCD482343}"/>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t="-16747" b="-16747"/>
              </a:stretch>
            </a:blipFill>
          </p:spPr>
          <p:txBody>
            <a:bodyPr/>
            <a:lstStyle/>
            <a:p>
              <a:endParaRPr lang="en-US"/>
            </a:p>
          </p:txBody>
        </p:sp>
      </p:grpSp>
      <p:grpSp>
        <p:nvGrpSpPr>
          <p:cNvPr id="20" name="Group 20">
            <a:extLst>
              <a:ext uri="{FF2B5EF4-FFF2-40B4-BE49-F238E27FC236}">
                <a16:creationId xmlns:a16="http://schemas.microsoft.com/office/drawing/2014/main" id="{D8BBE2A9-5A61-CEA3-B4C8-ADE10EEBD8CA}"/>
              </a:ext>
            </a:extLst>
          </p:cNvPr>
          <p:cNvGrpSpPr/>
          <p:nvPr/>
        </p:nvGrpSpPr>
        <p:grpSpPr>
          <a:xfrm>
            <a:off x="1084293" y="2027684"/>
            <a:ext cx="2580660" cy="6892743"/>
            <a:chOff x="0" y="0"/>
            <a:chExt cx="679680" cy="1815373"/>
          </a:xfrm>
        </p:grpSpPr>
        <p:sp>
          <p:nvSpPr>
            <p:cNvPr id="21" name="Freeform 21">
              <a:extLst>
                <a:ext uri="{FF2B5EF4-FFF2-40B4-BE49-F238E27FC236}">
                  <a16:creationId xmlns:a16="http://schemas.microsoft.com/office/drawing/2014/main" id="{980E30C9-6E54-F1A6-C44F-1DFB99081277}"/>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2" name="TextBox 22">
              <a:extLst>
                <a:ext uri="{FF2B5EF4-FFF2-40B4-BE49-F238E27FC236}">
                  <a16:creationId xmlns:a16="http://schemas.microsoft.com/office/drawing/2014/main" id="{64993BF6-20AB-E16E-DBBD-C62CE7B74245}"/>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3" name="Group 23">
            <a:extLst>
              <a:ext uri="{FF2B5EF4-FFF2-40B4-BE49-F238E27FC236}">
                <a16:creationId xmlns:a16="http://schemas.microsoft.com/office/drawing/2014/main" id="{595603FF-30F5-7824-1C54-BCB142F91BDD}"/>
              </a:ext>
            </a:extLst>
          </p:cNvPr>
          <p:cNvGrpSpPr/>
          <p:nvPr/>
        </p:nvGrpSpPr>
        <p:grpSpPr>
          <a:xfrm>
            <a:off x="1124421" y="3873234"/>
            <a:ext cx="2540533" cy="2540533"/>
            <a:chOff x="0" y="0"/>
            <a:chExt cx="6350000" cy="6350000"/>
          </a:xfrm>
        </p:grpSpPr>
        <p:sp>
          <p:nvSpPr>
            <p:cNvPr id="24" name="Freeform 24">
              <a:extLst>
                <a:ext uri="{FF2B5EF4-FFF2-40B4-BE49-F238E27FC236}">
                  <a16:creationId xmlns:a16="http://schemas.microsoft.com/office/drawing/2014/main" id="{D5812EEA-C631-54FE-83D2-3C731EA2F5D3}"/>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8"/>
              <a:stretch>
                <a:fillRect t="-31120" b="-31120"/>
              </a:stretch>
            </a:blipFill>
          </p:spPr>
          <p:txBody>
            <a:bodyPr/>
            <a:lstStyle/>
            <a:p>
              <a:endParaRPr lang="en-US"/>
            </a:p>
          </p:txBody>
        </p:sp>
      </p:grpSp>
      <p:grpSp>
        <p:nvGrpSpPr>
          <p:cNvPr id="25" name="Group 25">
            <a:extLst>
              <a:ext uri="{FF2B5EF4-FFF2-40B4-BE49-F238E27FC236}">
                <a16:creationId xmlns:a16="http://schemas.microsoft.com/office/drawing/2014/main" id="{5208783B-D565-E0A4-1E93-0F0D7A3AB878}"/>
              </a:ext>
            </a:extLst>
          </p:cNvPr>
          <p:cNvGrpSpPr/>
          <p:nvPr/>
        </p:nvGrpSpPr>
        <p:grpSpPr>
          <a:xfrm>
            <a:off x="1048764" y="2079956"/>
            <a:ext cx="2580660" cy="6892743"/>
            <a:chOff x="0" y="0"/>
            <a:chExt cx="679680" cy="1815373"/>
          </a:xfrm>
        </p:grpSpPr>
        <p:sp>
          <p:nvSpPr>
            <p:cNvPr id="26" name="Freeform 26">
              <a:extLst>
                <a:ext uri="{FF2B5EF4-FFF2-40B4-BE49-F238E27FC236}">
                  <a16:creationId xmlns:a16="http://schemas.microsoft.com/office/drawing/2014/main" id="{F06A0C67-7FBF-8DA3-46EE-9306C15FF4A9}"/>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7" name="TextBox 27">
              <a:extLst>
                <a:ext uri="{FF2B5EF4-FFF2-40B4-BE49-F238E27FC236}">
                  <a16:creationId xmlns:a16="http://schemas.microsoft.com/office/drawing/2014/main" id="{5F49C7CE-648C-0FCB-3B44-B3E7FF2837E9}"/>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8" name="Group 28">
            <a:extLst>
              <a:ext uri="{FF2B5EF4-FFF2-40B4-BE49-F238E27FC236}">
                <a16:creationId xmlns:a16="http://schemas.microsoft.com/office/drawing/2014/main" id="{1F9F975A-1BB7-E567-3FC5-BA024CAAD5CD}"/>
              </a:ext>
            </a:extLst>
          </p:cNvPr>
          <p:cNvGrpSpPr/>
          <p:nvPr/>
        </p:nvGrpSpPr>
        <p:grpSpPr>
          <a:xfrm>
            <a:off x="1084293" y="3873234"/>
            <a:ext cx="2540533" cy="2540533"/>
            <a:chOff x="0" y="0"/>
            <a:chExt cx="6350000" cy="6350000"/>
          </a:xfrm>
        </p:grpSpPr>
        <p:sp>
          <p:nvSpPr>
            <p:cNvPr id="29" name="Freeform 29">
              <a:extLst>
                <a:ext uri="{FF2B5EF4-FFF2-40B4-BE49-F238E27FC236}">
                  <a16:creationId xmlns:a16="http://schemas.microsoft.com/office/drawing/2014/main" id="{F5BE1771-3F66-E6DE-4AEC-3E867E0B7CC0}"/>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9"/>
              <a:stretch>
                <a:fillRect t="-16666" b="-16666"/>
              </a:stretch>
            </a:blipFill>
          </p:spPr>
          <p:txBody>
            <a:bodyPr/>
            <a:lstStyle/>
            <a:p>
              <a:endParaRPr lang="en-US"/>
            </a:p>
          </p:txBody>
        </p:sp>
      </p:grpSp>
      <p:grpSp>
        <p:nvGrpSpPr>
          <p:cNvPr id="30" name="Group 30">
            <a:extLst>
              <a:ext uri="{FF2B5EF4-FFF2-40B4-BE49-F238E27FC236}">
                <a16:creationId xmlns:a16="http://schemas.microsoft.com/office/drawing/2014/main" id="{0319ABD4-BAC9-2043-45EA-FB7C106DE8BF}"/>
              </a:ext>
            </a:extLst>
          </p:cNvPr>
          <p:cNvGrpSpPr/>
          <p:nvPr/>
        </p:nvGrpSpPr>
        <p:grpSpPr>
          <a:xfrm>
            <a:off x="1060480" y="2079956"/>
            <a:ext cx="2588158" cy="6892743"/>
            <a:chOff x="0" y="0"/>
            <a:chExt cx="3450877" cy="9190325"/>
          </a:xfrm>
        </p:grpSpPr>
        <p:grpSp>
          <p:nvGrpSpPr>
            <p:cNvPr id="31" name="Group 31">
              <a:extLst>
                <a:ext uri="{FF2B5EF4-FFF2-40B4-BE49-F238E27FC236}">
                  <a16:creationId xmlns:a16="http://schemas.microsoft.com/office/drawing/2014/main" id="{7B32DFBA-042C-1780-4FC3-8A8E291D5EFC}"/>
                </a:ext>
              </a:extLst>
            </p:cNvPr>
            <p:cNvGrpSpPr/>
            <p:nvPr/>
          </p:nvGrpSpPr>
          <p:grpSpPr>
            <a:xfrm>
              <a:off x="0" y="0"/>
              <a:ext cx="3440880" cy="9190325"/>
              <a:chOff x="0" y="0"/>
              <a:chExt cx="679680" cy="1815373"/>
            </a:xfrm>
          </p:grpSpPr>
          <p:sp>
            <p:nvSpPr>
              <p:cNvPr id="32" name="Freeform 32">
                <a:extLst>
                  <a:ext uri="{FF2B5EF4-FFF2-40B4-BE49-F238E27FC236}">
                    <a16:creationId xmlns:a16="http://schemas.microsoft.com/office/drawing/2014/main" id="{2B8FF927-3145-98DA-465B-84517FCBE800}"/>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33" name="TextBox 33">
                <a:extLst>
                  <a:ext uri="{FF2B5EF4-FFF2-40B4-BE49-F238E27FC236}">
                    <a16:creationId xmlns:a16="http://schemas.microsoft.com/office/drawing/2014/main" id="{1CF5711C-D3D2-6DFB-F785-CA2154A41883}"/>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34" name="Group 34">
              <a:extLst>
                <a:ext uri="{FF2B5EF4-FFF2-40B4-BE49-F238E27FC236}">
                  <a16:creationId xmlns:a16="http://schemas.microsoft.com/office/drawing/2014/main" id="{C527B79B-08D7-6A13-18F2-A5856924D6FE}"/>
                </a:ext>
              </a:extLst>
            </p:cNvPr>
            <p:cNvGrpSpPr/>
            <p:nvPr/>
          </p:nvGrpSpPr>
          <p:grpSpPr>
            <a:xfrm>
              <a:off x="63500" y="2391038"/>
              <a:ext cx="3387377" cy="3387377"/>
              <a:chOff x="0" y="0"/>
              <a:chExt cx="6350000" cy="6350000"/>
            </a:xfrm>
          </p:grpSpPr>
          <p:sp>
            <p:nvSpPr>
              <p:cNvPr id="35" name="Freeform 35">
                <a:extLst>
                  <a:ext uri="{FF2B5EF4-FFF2-40B4-BE49-F238E27FC236}">
                    <a16:creationId xmlns:a16="http://schemas.microsoft.com/office/drawing/2014/main" id="{5C4FA9B3-1375-9A2D-3979-40883DDAE256}"/>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0"/>
                <a:stretch>
                  <a:fillRect l="-38888" r="-38888"/>
                </a:stretch>
              </a:blipFill>
            </p:spPr>
            <p:txBody>
              <a:bodyPr/>
              <a:lstStyle/>
              <a:p>
                <a:endParaRPr lang="en-US"/>
              </a:p>
            </p:txBody>
          </p:sp>
        </p:grpSp>
      </p:grpSp>
      <p:grpSp>
        <p:nvGrpSpPr>
          <p:cNvPr id="36" name="Group 36">
            <a:extLst>
              <a:ext uri="{FF2B5EF4-FFF2-40B4-BE49-F238E27FC236}">
                <a16:creationId xmlns:a16="http://schemas.microsoft.com/office/drawing/2014/main" id="{2AD7E55D-8B4A-B5F8-C314-D4D9FFB6DB16}"/>
              </a:ext>
            </a:extLst>
          </p:cNvPr>
          <p:cNvGrpSpPr/>
          <p:nvPr/>
        </p:nvGrpSpPr>
        <p:grpSpPr>
          <a:xfrm>
            <a:off x="986904" y="2027684"/>
            <a:ext cx="16272396" cy="6945015"/>
            <a:chOff x="0" y="0"/>
            <a:chExt cx="4285734" cy="1829140"/>
          </a:xfrm>
        </p:grpSpPr>
        <p:sp>
          <p:nvSpPr>
            <p:cNvPr id="37" name="Freeform 37">
              <a:extLst>
                <a:ext uri="{FF2B5EF4-FFF2-40B4-BE49-F238E27FC236}">
                  <a16:creationId xmlns:a16="http://schemas.microsoft.com/office/drawing/2014/main" id="{1DC264D3-BF6D-FE73-7F7F-2F1ACB8391CF}"/>
                </a:ext>
              </a:extLst>
            </p:cNvPr>
            <p:cNvSpPr/>
            <p:nvPr/>
          </p:nvSpPr>
          <p:spPr>
            <a:xfrm>
              <a:off x="0" y="0"/>
              <a:ext cx="4285734" cy="1829140"/>
            </a:xfrm>
            <a:custGeom>
              <a:avLst/>
              <a:gdLst/>
              <a:ahLst/>
              <a:cxnLst/>
              <a:rect l="l" t="t" r="r" b="b"/>
              <a:pathLst>
                <a:path w="4285734" h="1829140">
                  <a:moveTo>
                    <a:pt x="24264" y="0"/>
                  </a:moveTo>
                  <a:lnTo>
                    <a:pt x="4261470" y="0"/>
                  </a:lnTo>
                  <a:cubicBezTo>
                    <a:pt x="4274871" y="0"/>
                    <a:pt x="4285734" y="10863"/>
                    <a:pt x="4285734" y="24264"/>
                  </a:cubicBezTo>
                  <a:lnTo>
                    <a:pt x="4285734" y="1804875"/>
                  </a:lnTo>
                  <a:cubicBezTo>
                    <a:pt x="4285734" y="1811311"/>
                    <a:pt x="4283178" y="1817482"/>
                    <a:pt x="4278627" y="1822033"/>
                  </a:cubicBezTo>
                  <a:cubicBezTo>
                    <a:pt x="4274077" y="1826583"/>
                    <a:pt x="4267905" y="1829140"/>
                    <a:pt x="4261470" y="1829140"/>
                  </a:cubicBezTo>
                  <a:lnTo>
                    <a:pt x="24264" y="1829140"/>
                  </a:lnTo>
                  <a:cubicBezTo>
                    <a:pt x="10863" y="1829140"/>
                    <a:pt x="0" y="1818276"/>
                    <a:pt x="0" y="1804875"/>
                  </a:cubicBezTo>
                  <a:lnTo>
                    <a:pt x="0" y="24264"/>
                  </a:lnTo>
                  <a:cubicBezTo>
                    <a:pt x="0" y="17829"/>
                    <a:pt x="2556" y="11657"/>
                    <a:pt x="7107" y="7107"/>
                  </a:cubicBezTo>
                  <a:cubicBezTo>
                    <a:pt x="11657" y="2556"/>
                    <a:pt x="17829" y="0"/>
                    <a:pt x="24264" y="0"/>
                  </a:cubicBezTo>
                  <a:close/>
                </a:path>
              </a:pathLst>
            </a:custGeom>
            <a:solidFill>
              <a:srgbClr val="336EA8"/>
            </a:solidFill>
          </p:spPr>
          <p:txBody>
            <a:bodyPr/>
            <a:lstStyle/>
            <a:p>
              <a:endParaRPr lang="en-US"/>
            </a:p>
          </p:txBody>
        </p:sp>
        <p:sp>
          <p:nvSpPr>
            <p:cNvPr id="38" name="TextBox 38">
              <a:extLst>
                <a:ext uri="{FF2B5EF4-FFF2-40B4-BE49-F238E27FC236}">
                  <a16:creationId xmlns:a16="http://schemas.microsoft.com/office/drawing/2014/main" id="{D5A15BA4-40A9-651B-80E7-E811ABAEAD90}"/>
                </a:ext>
              </a:extLst>
            </p:cNvPr>
            <p:cNvSpPr txBox="1"/>
            <p:nvPr/>
          </p:nvSpPr>
          <p:spPr>
            <a:xfrm>
              <a:off x="0" y="-38100"/>
              <a:ext cx="4285734" cy="1867240"/>
            </a:xfrm>
            <a:prstGeom prst="rect">
              <a:avLst/>
            </a:prstGeom>
          </p:spPr>
          <p:txBody>
            <a:bodyPr lIns="50800" tIns="50800" rIns="50800" bIns="50800" rtlCol="0" anchor="ctr"/>
            <a:lstStyle/>
            <a:p>
              <a:pPr algn="ctr">
                <a:lnSpc>
                  <a:spcPts val="2879"/>
                </a:lnSpc>
              </a:pPr>
              <a:endParaRPr/>
            </a:p>
          </p:txBody>
        </p:sp>
      </p:grpSp>
      <p:sp>
        <p:nvSpPr>
          <p:cNvPr id="41" name="TextBox 41">
            <a:extLst>
              <a:ext uri="{FF2B5EF4-FFF2-40B4-BE49-F238E27FC236}">
                <a16:creationId xmlns:a16="http://schemas.microsoft.com/office/drawing/2014/main" id="{CA9EB78A-33F2-4247-13C2-4DA234B6899C}"/>
              </a:ext>
            </a:extLst>
          </p:cNvPr>
          <p:cNvSpPr txBox="1"/>
          <p:nvPr/>
        </p:nvSpPr>
        <p:spPr>
          <a:xfrm>
            <a:off x="4272352" y="3333404"/>
            <a:ext cx="12758348" cy="5329279"/>
          </a:xfrm>
          <a:prstGeom prst="rect">
            <a:avLst/>
          </a:prstGeom>
        </p:spPr>
        <p:txBody>
          <a:bodyPr lIns="0" tIns="0" rIns="0" bIns="0" rtlCol="0" anchor="t">
            <a:spAutoFit/>
          </a:bodyPr>
          <a:lstStyle/>
          <a:p>
            <a:pPr algn="ctr">
              <a:lnSpc>
                <a:spcPts val="3835"/>
              </a:lnSpc>
            </a:pPr>
            <a:r>
              <a:rPr lang="en-US" sz="2739" b="1" dirty="0">
                <a:solidFill>
                  <a:srgbClr val="000000"/>
                </a:solidFill>
                <a:latin typeface="Canva Sans Bold"/>
                <a:ea typeface="Canva Sans Bold"/>
                <a:cs typeface="Canva Sans Bold"/>
                <a:sym typeface="Canva Sans Bold"/>
              </a:rPr>
              <a:t>Introduction</a:t>
            </a:r>
          </a:p>
          <a:p>
            <a:pPr>
              <a:lnSpc>
                <a:spcPts val="3835"/>
              </a:lnSpc>
            </a:pPr>
            <a:r>
              <a:rPr lang="en-US" sz="2739" b="1" dirty="0">
                <a:solidFill>
                  <a:srgbClr val="000000"/>
                </a:solidFill>
                <a:latin typeface="Canva Sans Bold"/>
                <a:ea typeface="Canva Sans Bold"/>
                <a:cs typeface="Canva Sans Bold"/>
                <a:sym typeface="Canva Sans Bold"/>
              </a:rPr>
              <a:t>Farah Magdy A 19 years old student at Cairo University and Georgia State University joint program. Specializing in Data Analysis and Marketing, I am passionate about transforming raw data into actionable business insights and creative branding strategies. I am dedicated to continuous technical growth and professional excellence.</a:t>
            </a:r>
            <a:r>
              <a:rPr lang="ar-EG" sz="2739" b="1" dirty="0">
                <a:solidFill>
                  <a:srgbClr val="000000"/>
                </a:solidFill>
                <a:latin typeface="Canva Sans Bold"/>
                <a:ea typeface="Canva Sans Bold"/>
                <a:cs typeface="Canva Sans Bold"/>
                <a:sym typeface="Canva Sans Bold"/>
              </a:rPr>
              <a:t> </a:t>
            </a:r>
          </a:p>
          <a:p>
            <a:pPr>
              <a:lnSpc>
                <a:spcPts val="3835"/>
              </a:lnSpc>
            </a:pPr>
            <a:r>
              <a:rPr lang="ar-EG" sz="2739" b="1" dirty="0">
                <a:solidFill>
                  <a:srgbClr val="000000"/>
                </a:solidFill>
                <a:latin typeface="Canva Sans Bold"/>
                <a:ea typeface="Canva Sans Bold"/>
                <a:cs typeface="Canva Sans Bold"/>
                <a:sym typeface="Canva Sans Bold"/>
              </a:rPr>
              <a:t>						</a:t>
            </a:r>
            <a:r>
              <a:rPr lang="en-US" sz="2739" b="1" dirty="0">
                <a:solidFill>
                  <a:srgbClr val="000000"/>
                </a:solidFill>
                <a:latin typeface="Canva Sans Bold"/>
                <a:ea typeface="Canva Sans Bold"/>
                <a:cs typeface="Canva Sans Bold"/>
                <a:sym typeface="Canva Sans Bold"/>
              </a:rPr>
              <a:t>Role</a:t>
            </a:r>
          </a:p>
          <a:p>
            <a:pPr algn="ctr">
              <a:lnSpc>
                <a:spcPts val="3835"/>
              </a:lnSpc>
            </a:pPr>
            <a:r>
              <a:rPr lang="en-US" sz="2739" b="1" dirty="0">
                <a:solidFill>
                  <a:srgbClr val="000000"/>
                </a:solidFill>
                <a:latin typeface="Canva Sans Bold"/>
                <a:ea typeface="Canva Sans Bold"/>
                <a:cs typeface="Canva Sans Bold"/>
                <a:sym typeface="Canva Sans Bold"/>
              </a:rPr>
              <a:t>Data Insights Specialist</a:t>
            </a:r>
          </a:p>
          <a:p>
            <a:pPr algn="l">
              <a:lnSpc>
                <a:spcPts val="3835"/>
              </a:lnSpc>
            </a:pPr>
            <a:r>
              <a:rPr lang="en-US" sz="2739" b="1" dirty="0">
                <a:solidFill>
                  <a:srgbClr val="000000"/>
                </a:solidFill>
                <a:latin typeface="Canva Sans Bold"/>
                <a:ea typeface="Canva Sans Bold"/>
                <a:cs typeface="Canva Sans Bold"/>
                <a:sym typeface="Canva Sans Bold"/>
              </a:rPr>
              <a:t> – Data analysis and insights generation </a:t>
            </a:r>
          </a:p>
          <a:p>
            <a:pPr algn="l">
              <a:lnSpc>
                <a:spcPts val="3835"/>
              </a:lnSpc>
            </a:pPr>
            <a:r>
              <a:rPr lang="en-US" sz="2739" b="1" dirty="0">
                <a:solidFill>
                  <a:srgbClr val="000000"/>
                </a:solidFill>
                <a:latin typeface="Canva Sans Bold"/>
                <a:ea typeface="Canva Sans Bold"/>
                <a:cs typeface="Canva Sans Bold"/>
                <a:sym typeface="Canva Sans Bold"/>
              </a:rPr>
              <a:t> – Supporting the team in extracting and refining final insights </a:t>
            </a:r>
          </a:p>
          <a:p>
            <a:pPr algn="l">
              <a:lnSpc>
                <a:spcPts val="3835"/>
              </a:lnSpc>
            </a:pPr>
            <a:r>
              <a:rPr lang="en-US" sz="2739" b="1" dirty="0">
                <a:solidFill>
                  <a:srgbClr val="000000"/>
                </a:solidFill>
                <a:latin typeface="Canva Sans Bold"/>
                <a:ea typeface="Canva Sans Bold"/>
                <a:cs typeface="Canva Sans Bold"/>
                <a:sym typeface="Canva Sans Bold"/>
              </a:rPr>
              <a:t> – Data analysis using Excel (Pivot Tables + Charts)</a:t>
            </a:r>
          </a:p>
        </p:txBody>
      </p:sp>
      <p:sp>
        <p:nvSpPr>
          <p:cNvPr id="42" name="TextBox 42">
            <a:extLst>
              <a:ext uri="{FF2B5EF4-FFF2-40B4-BE49-F238E27FC236}">
                <a16:creationId xmlns:a16="http://schemas.microsoft.com/office/drawing/2014/main" id="{9CECF519-E418-BD3C-A52A-7B0CF347D64B}"/>
              </a:ext>
            </a:extLst>
          </p:cNvPr>
          <p:cNvSpPr txBox="1"/>
          <p:nvPr/>
        </p:nvSpPr>
        <p:spPr>
          <a:xfrm>
            <a:off x="6117254" y="2266524"/>
            <a:ext cx="8113832" cy="828040"/>
          </a:xfrm>
          <a:prstGeom prst="rect">
            <a:avLst/>
          </a:prstGeom>
        </p:spPr>
        <p:txBody>
          <a:bodyPr lIns="0" tIns="0" rIns="0" bIns="0" rtlCol="0" anchor="t">
            <a:spAutoFit/>
          </a:bodyPr>
          <a:lstStyle/>
          <a:p>
            <a:pPr algn="ctr">
              <a:lnSpc>
                <a:spcPts val="6860"/>
              </a:lnSpc>
            </a:pPr>
            <a:r>
              <a:rPr lang="en-US" sz="4900" b="1" dirty="0">
                <a:solidFill>
                  <a:srgbClr val="000000"/>
                </a:solidFill>
                <a:latin typeface="Canva Sans Bold"/>
                <a:ea typeface="Canva Sans Bold"/>
                <a:cs typeface="Canva Sans Bold"/>
                <a:sym typeface="Canva Sans Bold"/>
              </a:rPr>
              <a:t>Farah Magdy </a:t>
            </a:r>
          </a:p>
        </p:txBody>
      </p:sp>
      <p:pic>
        <p:nvPicPr>
          <p:cNvPr id="44" name="Picture 43">
            <a:extLst>
              <a:ext uri="{FF2B5EF4-FFF2-40B4-BE49-F238E27FC236}">
                <a16:creationId xmlns:a16="http://schemas.microsoft.com/office/drawing/2014/main" id="{88704FAE-16CB-3E4F-15BC-89F503EE4DD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8962442"/>
            <a:ext cx="1324558" cy="1324558"/>
          </a:xfrm>
          <a:prstGeom prst="rect">
            <a:avLst/>
          </a:prstGeom>
        </p:spPr>
      </p:pic>
      <p:pic>
        <p:nvPicPr>
          <p:cNvPr id="5" name="Picture 4">
            <a:extLst>
              <a:ext uri="{FF2B5EF4-FFF2-40B4-BE49-F238E27FC236}">
                <a16:creationId xmlns:a16="http://schemas.microsoft.com/office/drawing/2014/main" id="{1468117A-8EED-9BD4-3158-FA7A6C2081C7}"/>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27401" t="780" r="30140" b="50684"/>
          <a:stretch>
            <a:fillRect/>
          </a:stretch>
        </p:blipFill>
        <p:spPr>
          <a:xfrm>
            <a:off x="1358734" y="4018138"/>
            <a:ext cx="2554325" cy="2767174"/>
          </a:xfrm>
          <a:prstGeom prst="ellipse">
            <a:avLst/>
          </a:prstGeom>
        </p:spPr>
      </p:pic>
    </p:spTree>
    <p:extLst>
      <p:ext uri="{BB962C8B-B14F-4D97-AF65-F5344CB8AC3E}">
        <p14:creationId xmlns:p14="http://schemas.microsoft.com/office/powerpoint/2010/main" val="3586304564"/>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086D-0CF9-E650-C286-86665DD1609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A1530DA-86AE-5B57-2CCA-CE3CEE28E4D9}"/>
              </a:ext>
            </a:extLst>
          </p:cNvPr>
          <p:cNvSpPr/>
          <p:nvPr/>
        </p:nvSpPr>
        <p:spPr>
          <a:xfrm>
            <a:off x="0" y="-1945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a:extLst>
              <a:ext uri="{FF2B5EF4-FFF2-40B4-BE49-F238E27FC236}">
                <a16:creationId xmlns:a16="http://schemas.microsoft.com/office/drawing/2014/main" id="{87C08990-6F4F-6CCF-D0EF-B014AAF13044}"/>
              </a:ext>
            </a:extLst>
          </p:cNvPr>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a:extLst>
              <a:ext uri="{FF2B5EF4-FFF2-40B4-BE49-F238E27FC236}">
                <a16:creationId xmlns:a16="http://schemas.microsoft.com/office/drawing/2014/main" id="{6DD61541-E04E-AADB-70AE-846B878CCB4B}"/>
              </a:ext>
            </a:extLst>
          </p:cNvPr>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6" name="Group 6">
            <a:extLst>
              <a:ext uri="{FF2B5EF4-FFF2-40B4-BE49-F238E27FC236}">
                <a16:creationId xmlns:a16="http://schemas.microsoft.com/office/drawing/2014/main" id="{920A030A-9D11-BE7A-A331-64F935845644}"/>
              </a:ext>
            </a:extLst>
          </p:cNvPr>
          <p:cNvGrpSpPr/>
          <p:nvPr/>
        </p:nvGrpSpPr>
        <p:grpSpPr>
          <a:xfrm>
            <a:off x="579906" y="1689812"/>
            <a:ext cx="17022707" cy="7568488"/>
            <a:chOff x="0" y="0"/>
            <a:chExt cx="5798675" cy="2578157"/>
          </a:xfrm>
        </p:grpSpPr>
        <p:sp>
          <p:nvSpPr>
            <p:cNvPr id="7" name="Freeform 7">
              <a:extLst>
                <a:ext uri="{FF2B5EF4-FFF2-40B4-BE49-F238E27FC236}">
                  <a16:creationId xmlns:a16="http://schemas.microsoft.com/office/drawing/2014/main" id="{09E3045E-CE81-A1D3-344E-1C9077576FE6}"/>
                </a:ext>
              </a:extLst>
            </p:cNvPr>
            <p:cNvSpPr/>
            <p:nvPr/>
          </p:nvSpPr>
          <p:spPr>
            <a:xfrm>
              <a:off x="0" y="0"/>
              <a:ext cx="5798676" cy="2578157"/>
            </a:xfrm>
            <a:custGeom>
              <a:avLst/>
              <a:gdLst/>
              <a:ahLst/>
              <a:cxnLst/>
              <a:rect l="l" t="t" r="r" b="b"/>
              <a:pathLst>
                <a:path w="5798676" h="2578157">
                  <a:moveTo>
                    <a:pt x="23195" y="0"/>
                  </a:moveTo>
                  <a:lnTo>
                    <a:pt x="5775481" y="0"/>
                  </a:lnTo>
                  <a:cubicBezTo>
                    <a:pt x="5781632" y="0"/>
                    <a:pt x="5787532" y="2444"/>
                    <a:pt x="5791882" y="6794"/>
                  </a:cubicBezTo>
                  <a:cubicBezTo>
                    <a:pt x="5796232" y="11143"/>
                    <a:pt x="5798676" y="17043"/>
                    <a:pt x="5798676" y="23195"/>
                  </a:cubicBezTo>
                  <a:lnTo>
                    <a:pt x="5798676" y="2554962"/>
                  </a:lnTo>
                  <a:cubicBezTo>
                    <a:pt x="5798676" y="2561113"/>
                    <a:pt x="5796232" y="2567013"/>
                    <a:pt x="5791882" y="2571363"/>
                  </a:cubicBezTo>
                  <a:cubicBezTo>
                    <a:pt x="5787532" y="2575713"/>
                    <a:pt x="5781632" y="2578157"/>
                    <a:pt x="5775481" y="2578157"/>
                  </a:cubicBezTo>
                  <a:lnTo>
                    <a:pt x="23195" y="2578157"/>
                  </a:lnTo>
                  <a:cubicBezTo>
                    <a:pt x="17043" y="2578157"/>
                    <a:pt x="11143" y="2575713"/>
                    <a:pt x="6794" y="2571363"/>
                  </a:cubicBezTo>
                  <a:cubicBezTo>
                    <a:pt x="2444" y="2567013"/>
                    <a:pt x="0" y="2561113"/>
                    <a:pt x="0" y="2554962"/>
                  </a:cubicBezTo>
                  <a:lnTo>
                    <a:pt x="0" y="23195"/>
                  </a:lnTo>
                  <a:cubicBezTo>
                    <a:pt x="0" y="17043"/>
                    <a:pt x="2444" y="11143"/>
                    <a:pt x="6794" y="6794"/>
                  </a:cubicBezTo>
                  <a:cubicBezTo>
                    <a:pt x="11143" y="2444"/>
                    <a:pt x="17043" y="0"/>
                    <a:pt x="23195" y="0"/>
                  </a:cubicBezTo>
                  <a:close/>
                </a:path>
              </a:pathLst>
            </a:custGeom>
            <a:solidFill>
              <a:srgbClr val="84E4A8"/>
            </a:solidFill>
          </p:spPr>
          <p:txBody>
            <a:bodyPr/>
            <a:lstStyle/>
            <a:p>
              <a:endParaRPr lang="en-US"/>
            </a:p>
          </p:txBody>
        </p:sp>
        <p:sp>
          <p:nvSpPr>
            <p:cNvPr id="8" name="TextBox 8">
              <a:extLst>
                <a:ext uri="{FF2B5EF4-FFF2-40B4-BE49-F238E27FC236}">
                  <a16:creationId xmlns:a16="http://schemas.microsoft.com/office/drawing/2014/main" id="{99216965-5FE2-8CC6-F9D1-C4934607A017}"/>
                </a:ext>
              </a:extLst>
            </p:cNvPr>
            <p:cNvSpPr txBox="1"/>
            <p:nvPr/>
          </p:nvSpPr>
          <p:spPr>
            <a:xfrm>
              <a:off x="0" y="-38100"/>
              <a:ext cx="5798675" cy="2616257"/>
            </a:xfrm>
            <a:prstGeom prst="rect">
              <a:avLst/>
            </a:prstGeom>
          </p:spPr>
          <p:txBody>
            <a:bodyPr lIns="39277" tIns="39277" rIns="39277" bIns="39277" rtlCol="0" anchor="ctr"/>
            <a:lstStyle/>
            <a:p>
              <a:pPr algn="ctr">
                <a:lnSpc>
                  <a:spcPts val="2879"/>
                </a:lnSpc>
              </a:pPr>
              <a:endParaRPr/>
            </a:p>
          </p:txBody>
        </p:sp>
      </p:grpSp>
      <p:grpSp>
        <p:nvGrpSpPr>
          <p:cNvPr id="9" name="Group 9">
            <a:extLst>
              <a:ext uri="{FF2B5EF4-FFF2-40B4-BE49-F238E27FC236}">
                <a16:creationId xmlns:a16="http://schemas.microsoft.com/office/drawing/2014/main" id="{08CA34B3-37DC-CC45-19AF-9E0DF056FFB5}"/>
              </a:ext>
            </a:extLst>
          </p:cNvPr>
          <p:cNvGrpSpPr/>
          <p:nvPr/>
        </p:nvGrpSpPr>
        <p:grpSpPr>
          <a:xfrm>
            <a:off x="1028700" y="2079956"/>
            <a:ext cx="2580660" cy="6892743"/>
            <a:chOff x="0" y="0"/>
            <a:chExt cx="679680" cy="1815373"/>
          </a:xfrm>
        </p:grpSpPr>
        <p:sp>
          <p:nvSpPr>
            <p:cNvPr id="10" name="Freeform 10">
              <a:extLst>
                <a:ext uri="{FF2B5EF4-FFF2-40B4-BE49-F238E27FC236}">
                  <a16:creationId xmlns:a16="http://schemas.microsoft.com/office/drawing/2014/main" id="{9103787F-6D3B-27B9-07A5-603BFE2036C8}"/>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1" name="TextBox 11">
              <a:extLst>
                <a:ext uri="{FF2B5EF4-FFF2-40B4-BE49-F238E27FC236}">
                  <a16:creationId xmlns:a16="http://schemas.microsoft.com/office/drawing/2014/main" id="{1240B074-8243-220A-5685-EF968F5A920A}"/>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2" name="Group 12">
            <a:extLst>
              <a:ext uri="{FF2B5EF4-FFF2-40B4-BE49-F238E27FC236}">
                <a16:creationId xmlns:a16="http://schemas.microsoft.com/office/drawing/2014/main" id="{04B46C55-9AF2-5159-E8F0-F2D7E3263338}"/>
              </a:ext>
            </a:extLst>
          </p:cNvPr>
          <p:cNvGrpSpPr/>
          <p:nvPr/>
        </p:nvGrpSpPr>
        <p:grpSpPr>
          <a:xfrm>
            <a:off x="1048764" y="3873234"/>
            <a:ext cx="2540533" cy="2540533"/>
            <a:chOff x="0" y="0"/>
            <a:chExt cx="6350000" cy="6350000"/>
          </a:xfrm>
        </p:grpSpPr>
        <p:sp>
          <p:nvSpPr>
            <p:cNvPr id="13" name="Freeform 13">
              <a:extLst>
                <a:ext uri="{FF2B5EF4-FFF2-40B4-BE49-F238E27FC236}">
                  <a16:creationId xmlns:a16="http://schemas.microsoft.com/office/drawing/2014/main" id="{1C7DA507-8232-1D05-2059-196A090F75D7}"/>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t="-25000" b="-25000"/>
              </a:stretch>
            </a:blipFill>
          </p:spPr>
          <p:txBody>
            <a:bodyPr/>
            <a:lstStyle/>
            <a:p>
              <a:endParaRPr lang="en-US"/>
            </a:p>
          </p:txBody>
        </p:sp>
      </p:grpSp>
      <p:sp>
        <p:nvSpPr>
          <p:cNvPr id="14" name="TextBox 14">
            <a:extLst>
              <a:ext uri="{FF2B5EF4-FFF2-40B4-BE49-F238E27FC236}">
                <a16:creationId xmlns:a16="http://schemas.microsoft.com/office/drawing/2014/main" id="{E3B39375-C036-A83E-716B-F0F85D8E69D9}"/>
              </a:ext>
            </a:extLst>
          </p:cNvPr>
          <p:cNvSpPr txBox="1"/>
          <p:nvPr/>
        </p:nvSpPr>
        <p:spPr>
          <a:xfrm>
            <a:off x="5402536" y="68142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Project Team + Roles</a:t>
            </a:r>
          </a:p>
        </p:txBody>
      </p:sp>
      <p:grpSp>
        <p:nvGrpSpPr>
          <p:cNvPr id="15" name="Group 15">
            <a:extLst>
              <a:ext uri="{FF2B5EF4-FFF2-40B4-BE49-F238E27FC236}">
                <a16:creationId xmlns:a16="http://schemas.microsoft.com/office/drawing/2014/main" id="{8FFAA63B-3309-F38F-F583-989841175245}"/>
              </a:ext>
            </a:extLst>
          </p:cNvPr>
          <p:cNvGrpSpPr/>
          <p:nvPr/>
        </p:nvGrpSpPr>
        <p:grpSpPr>
          <a:xfrm>
            <a:off x="1048764" y="2027684"/>
            <a:ext cx="2580660" cy="6892743"/>
            <a:chOff x="0" y="0"/>
            <a:chExt cx="679680" cy="1815373"/>
          </a:xfrm>
        </p:grpSpPr>
        <p:sp>
          <p:nvSpPr>
            <p:cNvPr id="16" name="Freeform 16">
              <a:extLst>
                <a:ext uri="{FF2B5EF4-FFF2-40B4-BE49-F238E27FC236}">
                  <a16:creationId xmlns:a16="http://schemas.microsoft.com/office/drawing/2014/main" id="{8A8CAF43-28F5-6EEA-4416-F58444BE9CCC}"/>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17" name="TextBox 17">
              <a:extLst>
                <a:ext uri="{FF2B5EF4-FFF2-40B4-BE49-F238E27FC236}">
                  <a16:creationId xmlns:a16="http://schemas.microsoft.com/office/drawing/2014/main" id="{26E44619-D7E8-9B88-42D8-52897BCB3C37}"/>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18" name="Group 18">
            <a:extLst>
              <a:ext uri="{FF2B5EF4-FFF2-40B4-BE49-F238E27FC236}">
                <a16:creationId xmlns:a16="http://schemas.microsoft.com/office/drawing/2014/main" id="{F383E146-832D-669A-8629-8BD3BA03F729}"/>
              </a:ext>
            </a:extLst>
          </p:cNvPr>
          <p:cNvGrpSpPr/>
          <p:nvPr/>
        </p:nvGrpSpPr>
        <p:grpSpPr>
          <a:xfrm>
            <a:off x="1027031" y="3873234"/>
            <a:ext cx="2540533" cy="2540533"/>
            <a:chOff x="0" y="0"/>
            <a:chExt cx="6350000" cy="6350000"/>
          </a:xfrm>
        </p:grpSpPr>
        <p:sp>
          <p:nvSpPr>
            <p:cNvPr id="19" name="Freeform 19">
              <a:extLst>
                <a:ext uri="{FF2B5EF4-FFF2-40B4-BE49-F238E27FC236}">
                  <a16:creationId xmlns:a16="http://schemas.microsoft.com/office/drawing/2014/main" id="{7957804E-BA7E-3A46-D96D-DE5FD1E1E3F8}"/>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7"/>
              <a:stretch>
                <a:fillRect t="-16747" b="-16747"/>
              </a:stretch>
            </a:blipFill>
          </p:spPr>
          <p:txBody>
            <a:bodyPr/>
            <a:lstStyle/>
            <a:p>
              <a:endParaRPr lang="en-US"/>
            </a:p>
          </p:txBody>
        </p:sp>
      </p:grpSp>
      <p:grpSp>
        <p:nvGrpSpPr>
          <p:cNvPr id="20" name="Group 20">
            <a:extLst>
              <a:ext uri="{FF2B5EF4-FFF2-40B4-BE49-F238E27FC236}">
                <a16:creationId xmlns:a16="http://schemas.microsoft.com/office/drawing/2014/main" id="{14C0E842-9141-149A-FA24-0B39491D0681}"/>
              </a:ext>
            </a:extLst>
          </p:cNvPr>
          <p:cNvGrpSpPr/>
          <p:nvPr/>
        </p:nvGrpSpPr>
        <p:grpSpPr>
          <a:xfrm>
            <a:off x="1084293" y="2027684"/>
            <a:ext cx="2580660" cy="6892743"/>
            <a:chOff x="0" y="0"/>
            <a:chExt cx="679680" cy="1815373"/>
          </a:xfrm>
        </p:grpSpPr>
        <p:sp>
          <p:nvSpPr>
            <p:cNvPr id="21" name="Freeform 21">
              <a:extLst>
                <a:ext uri="{FF2B5EF4-FFF2-40B4-BE49-F238E27FC236}">
                  <a16:creationId xmlns:a16="http://schemas.microsoft.com/office/drawing/2014/main" id="{32ED0BC8-3AA9-E858-7250-14CBA27FDDD3}"/>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2" name="TextBox 22">
              <a:extLst>
                <a:ext uri="{FF2B5EF4-FFF2-40B4-BE49-F238E27FC236}">
                  <a16:creationId xmlns:a16="http://schemas.microsoft.com/office/drawing/2014/main" id="{036D03EE-1559-9D5F-026D-D90000E3D57F}"/>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3" name="Group 23">
            <a:extLst>
              <a:ext uri="{FF2B5EF4-FFF2-40B4-BE49-F238E27FC236}">
                <a16:creationId xmlns:a16="http://schemas.microsoft.com/office/drawing/2014/main" id="{B2C2ECB1-29FC-B85A-9559-938ABC369521}"/>
              </a:ext>
            </a:extLst>
          </p:cNvPr>
          <p:cNvGrpSpPr/>
          <p:nvPr/>
        </p:nvGrpSpPr>
        <p:grpSpPr>
          <a:xfrm>
            <a:off x="1124421" y="3873234"/>
            <a:ext cx="2540533" cy="2540533"/>
            <a:chOff x="0" y="0"/>
            <a:chExt cx="6350000" cy="6350000"/>
          </a:xfrm>
        </p:grpSpPr>
        <p:sp>
          <p:nvSpPr>
            <p:cNvPr id="24" name="Freeform 24">
              <a:extLst>
                <a:ext uri="{FF2B5EF4-FFF2-40B4-BE49-F238E27FC236}">
                  <a16:creationId xmlns:a16="http://schemas.microsoft.com/office/drawing/2014/main" id="{E8C300C9-BA0D-C7CE-AE09-FDBF86FC85C8}"/>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8"/>
              <a:stretch>
                <a:fillRect t="-31120" b="-31120"/>
              </a:stretch>
            </a:blipFill>
          </p:spPr>
          <p:txBody>
            <a:bodyPr/>
            <a:lstStyle/>
            <a:p>
              <a:endParaRPr lang="en-US"/>
            </a:p>
          </p:txBody>
        </p:sp>
      </p:grpSp>
      <p:grpSp>
        <p:nvGrpSpPr>
          <p:cNvPr id="25" name="Group 25">
            <a:extLst>
              <a:ext uri="{FF2B5EF4-FFF2-40B4-BE49-F238E27FC236}">
                <a16:creationId xmlns:a16="http://schemas.microsoft.com/office/drawing/2014/main" id="{421A48D1-ACC3-0EAD-87EF-EB5EB9D5BD12}"/>
              </a:ext>
            </a:extLst>
          </p:cNvPr>
          <p:cNvGrpSpPr/>
          <p:nvPr/>
        </p:nvGrpSpPr>
        <p:grpSpPr>
          <a:xfrm>
            <a:off x="1048764" y="2079956"/>
            <a:ext cx="2580660" cy="6892743"/>
            <a:chOff x="0" y="0"/>
            <a:chExt cx="679680" cy="1815373"/>
          </a:xfrm>
        </p:grpSpPr>
        <p:sp>
          <p:nvSpPr>
            <p:cNvPr id="26" name="Freeform 26">
              <a:extLst>
                <a:ext uri="{FF2B5EF4-FFF2-40B4-BE49-F238E27FC236}">
                  <a16:creationId xmlns:a16="http://schemas.microsoft.com/office/drawing/2014/main" id="{2A07E0CA-02E0-E346-16FC-4233E572A1DA}"/>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27" name="TextBox 27">
              <a:extLst>
                <a:ext uri="{FF2B5EF4-FFF2-40B4-BE49-F238E27FC236}">
                  <a16:creationId xmlns:a16="http://schemas.microsoft.com/office/drawing/2014/main" id="{481087E8-CFBD-1F02-B98E-4B75268A3BED}"/>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28" name="Group 28">
            <a:extLst>
              <a:ext uri="{FF2B5EF4-FFF2-40B4-BE49-F238E27FC236}">
                <a16:creationId xmlns:a16="http://schemas.microsoft.com/office/drawing/2014/main" id="{AAA614CB-0B1A-F456-BE64-6DDBBAE7F196}"/>
              </a:ext>
            </a:extLst>
          </p:cNvPr>
          <p:cNvGrpSpPr/>
          <p:nvPr/>
        </p:nvGrpSpPr>
        <p:grpSpPr>
          <a:xfrm>
            <a:off x="1084293" y="3873234"/>
            <a:ext cx="2540533" cy="2540533"/>
            <a:chOff x="0" y="0"/>
            <a:chExt cx="6350000" cy="6350000"/>
          </a:xfrm>
        </p:grpSpPr>
        <p:sp>
          <p:nvSpPr>
            <p:cNvPr id="29" name="Freeform 29">
              <a:extLst>
                <a:ext uri="{FF2B5EF4-FFF2-40B4-BE49-F238E27FC236}">
                  <a16:creationId xmlns:a16="http://schemas.microsoft.com/office/drawing/2014/main" id="{67153FEF-A556-F7D7-AB9B-AA6C24118F60}"/>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9"/>
              <a:stretch>
                <a:fillRect t="-16666" b="-16666"/>
              </a:stretch>
            </a:blipFill>
          </p:spPr>
          <p:txBody>
            <a:bodyPr/>
            <a:lstStyle/>
            <a:p>
              <a:endParaRPr lang="en-US"/>
            </a:p>
          </p:txBody>
        </p:sp>
      </p:grpSp>
      <p:grpSp>
        <p:nvGrpSpPr>
          <p:cNvPr id="30" name="Group 30">
            <a:extLst>
              <a:ext uri="{FF2B5EF4-FFF2-40B4-BE49-F238E27FC236}">
                <a16:creationId xmlns:a16="http://schemas.microsoft.com/office/drawing/2014/main" id="{1B57606B-40EE-FDEB-D282-18331CE9FC14}"/>
              </a:ext>
            </a:extLst>
          </p:cNvPr>
          <p:cNvGrpSpPr/>
          <p:nvPr/>
        </p:nvGrpSpPr>
        <p:grpSpPr>
          <a:xfrm>
            <a:off x="1060480" y="2079956"/>
            <a:ext cx="2588158" cy="6892743"/>
            <a:chOff x="0" y="0"/>
            <a:chExt cx="3450877" cy="9190325"/>
          </a:xfrm>
        </p:grpSpPr>
        <p:grpSp>
          <p:nvGrpSpPr>
            <p:cNvPr id="31" name="Group 31">
              <a:extLst>
                <a:ext uri="{FF2B5EF4-FFF2-40B4-BE49-F238E27FC236}">
                  <a16:creationId xmlns:a16="http://schemas.microsoft.com/office/drawing/2014/main" id="{C51F8B8A-3B8B-4262-DB90-E4854D6B5184}"/>
                </a:ext>
              </a:extLst>
            </p:cNvPr>
            <p:cNvGrpSpPr/>
            <p:nvPr/>
          </p:nvGrpSpPr>
          <p:grpSpPr>
            <a:xfrm>
              <a:off x="0" y="0"/>
              <a:ext cx="3440880" cy="9190325"/>
              <a:chOff x="0" y="0"/>
              <a:chExt cx="679680" cy="1815373"/>
            </a:xfrm>
          </p:grpSpPr>
          <p:sp>
            <p:nvSpPr>
              <p:cNvPr id="32" name="Freeform 32">
                <a:extLst>
                  <a:ext uri="{FF2B5EF4-FFF2-40B4-BE49-F238E27FC236}">
                    <a16:creationId xmlns:a16="http://schemas.microsoft.com/office/drawing/2014/main" id="{F12E086F-856A-DFFC-CF37-AD9FFFCCCEC3}"/>
                  </a:ext>
                </a:extLst>
              </p:cNvPr>
              <p:cNvSpPr/>
              <p:nvPr/>
            </p:nvSpPr>
            <p:spPr>
              <a:xfrm>
                <a:off x="0" y="0"/>
                <a:ext cx="679680" cy="1815373"/>
              </a:xfrm>
              <a:custGeom>
                <a:avLst/>
                <a:gdLst/>
                <a:ahLst/>
                <a:cxnLst/>
                <a:rect l="l" t="t" r="r" b="b"/>
                <a:pathLst>
                  <a:path w="679680" h="1815373">
                    <a:moveTo>
                      <a:pt x="152999" y="0"/>
                    </a:moveTo>
                    <a:lnTo>
                      <a:pt x="526681" y="0"/>
                    </a:lnTo>
                    <a:cubicBezTo>
                      <a:pt x="611180" y="0"/>
                      <a:pt x="679680" y="68500"/>
                      <a:pt x="679680" y="152999"/>
                    </a:cubicBezTo>
                    <a:lnTo>
                      <a:pt x="679680" y="1662374"/>
                    </a:lnTo>
                    <a:cubicBezTo>
                      <a:pt x="679680" y="1746873"/>
                      <a:pt x="611180" y="1815373"/>
                      <a:pt x="526681" y="1815373"/>
                    </a:cubicBezTo>
                    <a:lnTo>
                      <a:pt x="152999" y="1815373"/>
                    </a:lnTo>
                    <a:cubicBezTo>
                      <a:pt x="68500" y="1815373"/>
                      <a:pt x="0" y="1746873"/>
                      <a:pt x="0" y="1662374"/>
                    </a:cubicBezTo>
                    <a:lnTo>
                      <a:pt x="0" y="152999"/>
                    </a:lnTo>
                    <a:cubicBezTo>
                      <a:pt x="0" y="68500"/>
                      <a:pt x="68500" y="0"/>
                      <a:pt x="152999" y="0"/>
                    </a:cubicBezTo>
                    <a:close/>
                  </a:path>
                </a:pathLst>
              </a:custGeom>
              <a:solidFill>
                <a:srgbClr val="336EA8"/>
              </a:solidFill>
            </p:spPr>
            <p:txBody>
              <a:bodyPr/>
              <a:lstStyle/>
              <a:p>
                <a:endParaRPr lang="en-US"/>
              </a:p>
            </p:txBody>
          </p:sp>
          <p:sp>
            <p:nvSpPr>
              <p:cNvPr id="33" name="TextBox 33">
                <a:extLst>
                  <a:ext uri="{FF2B5EF4-FFF2-40B4-BE49-F238E27FC236}">
                    <a16:creationId xmlns:a16="http://schemas.microsoft.com/office/drawing/2014/main" id="{02123954-7876-0ACC-F218-DAD8884ABCB8}"/>
                  </a:ext>
                </a:extLst>
              </p:cNvPr>
              <p:cNvSpPr txBox="1"/>
              <p:nvPr/>
            </p:nvSpPr>
            <p:spPr>
              <a:xfrm>
                <a:off x="0" y="-38100"/>
                <a:ext cx="679680" cy="1853473"/>
              </a:xfrm>
              <a:prstGeom prst="rect">
                <a:avLst/>
              </a:prstGeom>
            </p:spPr>
            <p:txBody>
              <a:bodyPr lIns="50800" tIns="50800" rIns="50800" bIns="50800" rtlCol="0" anchor="ctr"/>
              <a:lstStyle/>
              <a:p>
                <a:pPr algn="ctr">
                  <a:lnSpc>
                    <a:spcPts val="2879"/>
                  </a:lnSpc>
                </a:pPr>
                <a:endParaRPr/>
              </a:p>
            </p:txBody>
          </p:sp>
        </p:grpSp>
        <p:grpSp>
          <p:nvGrpSpPr>
            <p:cNvPr id="34" name="Group 34">
              <a:extLst>
                <a:ext uri="{FF2B5EF4-FFF2-40B4-BE49-F238E27FC236}">
                  <a16:creationId xmlns:a16="http://schemas.microsoft.com/office/drawing/2014/main" id="{C7FFF68C-61DB-3784-7C32-1105CBBC1823}"/>
                </a:ext>
              </a:extLst>
            </p:cNvPr>
            <p:cNvGrpSpPr/>
            <p:nvPr/>
          </p:nvGrpSpPr>
          <p:grpSpPr>
            <a:xfrm>
              <a:off x="63500" y="2391038"/>
              <a:ext cx="3387377" cy="3387377"/>
              <a:chOff x="0" y="0"/>
              <a:chExt cx="6350000" cy="6350000"/>
            </a:xfrm>
          </p:grpSpPr>
          <p:sp>
            <p:nvSpPr>
              <p:cNvPr id="35" name="Freeform 35">
                <a:extLst>
                  <a:ext uri="{FF2B5EF4-FFF2-40B4-BE49-F238E27FC236}">
                    <a16:creationId xmlns:a16="http://schemas.microsoft.com/office/drawing/2014/main" id="{E34369EF-58B9-997C-C4CD-53BD190BC325}"/>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10"/>
                <a:stretch>
                  <a:fillRect l="-38888" r="-38888"/>
                </a:stretch>
              </a:blipFill>
            </p:spPr>
            <p:txBody>
              <a:bodyPr/>
              <a:lstStyle/>
              <a:p>
                <a:endParaRPr lang="en-US"/>
              </a:p>
            </p:txBody>
          </p:sp>
        </p:grpSp>
      </p:grpSp>
      <p:grpSp>
        <p:nvGrpSpPr>
          <p:cNvPr id="36" name="Group 36">
            <a:extLst>
              <a:ext uri="{FF2B5EF4-FFF2-40B4-BE49-F238E27FC236}">
                <a16:creationId xmlns:a16="http://schemas.microsoft.com/office/drawing/2014/main" id="{1A9A1A14-BDAF-C356-5F42-B5AB962FD362}"/>
              </a:ext>
            </a:extLst>
          </p:cNvPr>
          <p:cNvGrpSpPr/>
          <p:nvPr/>
        </p:nvGrpSpPr>
        <p:grpSpPr>
          <a:xfrm>
            <a:off x="986904" y="2027684"/>
            <a:ext cx="16272396" cy="6945015"/>
            <a:chOff x="0" y="0"/>
            <a:chExt cx="4285734" cy="1829140"/>
          </a:xfrm>
        </p:grpSpPr>
        <p:sp>
          <p:nvSpPr>
            <p:cNvPr id="37" name="Freeform 37">
              <a:extLst>
                <a:ext uri="{FF2B5EF4-FFF2-40B4-BE49-F238E27FC236}">
                  <a16:creationId xmlns:a16="http://schemas.microsoft.com/office/drawing/2014/main" id="{635EE5C1-70CA-F0BE-4EFC-D34126FAEF57}"/>
                </a:ext>
              </a:extLst>
            </p:cNvPr>
            <p:cNvSpPr/>
            <p:nvPr/>
          </p:nvSpPr>
          <p:spPr>
            <a:xfrm>
              <a:off x="0" y="0"/>
              <a:ext cx="4285734" cy="1829140"/>
            </a:xfrm>
            <a:custGeom>
              <a:avLst/>
              <a:gdLst/>
              <a:ahLst/>
              <a:cxnLst/>
              <a:rect l="l" t="t" r="r" b="b"/>
              <a:pathLst>
                <a:path w="4285734" h="1829140">
                  <a:moveTo>
                    <a:pt x="24264" y="0"/>
                  </a:moveTo>
                  <a:lnTo>
                    <a:pt x="4261470" y="0"/>
                  </a:lnTo>
                  <a:cubicBezTo>
                    <a:pt x="4274871" y="0"/>
                    <a:pt x="4285734" y="10863"/>
                    <a:pt x="4285734" y="24264"/>
                  </a:cubicBezTo>
                  <a:lnTo>
                    <a:pt x="4285734" y="1804875"/>
                  </a:lnTo>
                  <a:cubicBezTo>
                    <a:pt x="4285734" y="1811311"/>
                    <a:pt x="4283178" y="1817482"/>
                    <a:pt x="4278627" y="1822033"/>
                  </a:cubicBezTo>
                  <a:cubicBezTo>
                    <a:pt x="4274077" y="1826583"/>
                    <a:pt x="4267905" y="1829140"/>
                    <a:pt x="4261470" y="1829140"/>
                  </a:cubicBezTo>
                  <a:lnTo>
                    <a:pt x="24264" y="1829140"/>
                  </a:lnTo>
                  <a:cubicBezTo>
                    <a:pt x="10863" y="1829140"/>
                    <a:pt x="0" y="1818276"/>
                    <a:pt x="0" y="1804875"/>
                  </a:cubicBezTo>
                  <a:lnTo>
                    <a:pt x="0" y="24264"/>
                  </a:lnTo>
                  <a:cubicBezTo>
                    <a:pt x="0" y="17829"/>
                    <a:pt x="2556" y="11657"/>
                    <a:pt x="7107" y="7107"/>
                  </a:cubicBezTo>
                  <a:cubicBezTo>
                    <a:pt x="11657" y="2556"/>
                    <a:pt x="17829" y="0"/>
                    <a:pt x="24264" y="0"/>
                  </a:cubicBezTo>
                  <a:close/>
                </a:path>
              </a:pathLst>
            </a:custGeom>
            <a:solidFill>
              <a:srgbClr val="336EA8"/>
            </a:solidFill>
          </p:spPr>
          <p:txBody>
            <a:bodyPr/>
            <a:lstStyle/>
            <a:p>
              <a:endParaRPr lang="en-US" dirty="0"/>
            </a:p>
          </p:txBody>
        </p:sp>
        <p:sp>
          <p:nvSpPr>
            <p:cNvPr id="38" name="TextBox 38">
              <a:extLst>
                <a:ext uri="{FF2B5EF4-FFF2-40B4-BE49-F238E27FC236}">
                  <a16:creationId xmlns:a16="http://schemas.microsoft.com/office/drawing/2014/main" id="{CCBAEBC3-7345-D40A-9AD5-F8B6CFD3593F}"/>
                </a:ext>
              </a:extLst>
            </p:cNvPr>
            <p:cNvSpPr txBox="1"/>
            <p:nvPr/>
          </p:nvSpPr>
          <p:spPr>
            <a:xfrm>
              <a:off x="0" y="-38100"/>
              <a:ext cx="4285734" cy="1867240"/>
            </a:xfrm>
            <a:prstGeom prst="rect">
              <a:avLst/>
            </a:prstGeom>
          </p:spPr>
          <p:txBody>
            <a:bodyPr lIns="50800" tIns="50800" rIns="50800" bIns="50800" rtlCol="0" anchor="ctr"/>
            <a:lstStyle/>
            <a:p>
              <a:pPr algn="ctr">
                <a:lnSpc>
                  <a:spcPts val="2879"/>
                </a:lnSpc>
              </a:pPr>
              <a:endParaRPr/>
            </a:p>
          </p:txBody>
        </p:sp>
      </p:grpSp>
      <p:sp>
        <p:nvSpPr>
          <p:cNvPr id="41" name="TextBox 41">
            <a:extLst>
              <a:ext uri="{FF2B5EF4-FFF2-40B4-BE49-F238E27FC236}">
                <a16:creationId xmlns:a16="http://schemas.microsoft.com/office/drawing/2014/main" id="{371CE67B-5805-6F0E-EA10-15FBC06B4596}"/>
              </a:ext>
            </a:extLst>
          </p:cNvPr>
          <p:cNvSpPr txBox="1"/>
          <p:nvPr/>
        </p:nvSpPr>
        <p:spPr>
          <a:xfrm>
            <a:off x="4272352" y="3333404"/>
            <a:ext cx="12758348" cy="5329279"/>
          </a:xfrm>
          <a:prstGeom prst="rect">
            <a:avLst/>
          </a:prstGeom>
        </p:spPr>
        <p:txBody>
          <a:bodyPr lIns="0" tIns="0" rIns="0" bIns="0" rtlCol="0" anchor="t">
            <a:spAutoFit/>
          </a:bodyPr>
          <a:lstStyle/>
          <a:p>
            <a:pPr algn="ctr">
              <a:lnSpc>
                <a:spcPts val="3835"/>
              </a:lnSpc>
            </a:pPr>
            <a:r>
              <a:rPr lang="en-US" sz="2739" b="1" dirty="0">
                <a:solidFill>
                  <a:srgbClr val="000000"/>
                </a:solidFill>
                <a:latin typeface="Canva Sans Bold"/>
                <a:ea typeface="Canva Sans Bold"/>
                <a:cs typeface="Canva Sans Bold"/>
                <a:sym typeface="Canva Sans Bold"/>
              </a:rPr>
              <a:t>Introduction</a:t>
            </a:r>
          </a:p>
          <a:p>
            <a:pPr>
              <a:lnSpc>
                <a:spcPts val="3835"/>
              </a:lnSpc>
            </a:pPr>
            <a:r>
              <a:rPr lang="en-US" sz="2739" b="1" dirty="0">
                <a:solidFill>
                  <a:srgbClr val="000000"/>
                </a:solidFill>
                <a:latin typeface="Canva Sans Bold"/>
                <a:ea typeface="Canva Sans Bold"/>
                <a:cs typeface="Canva Sans Bold"/>
                <a:sym typeface="Canva Sans Bold"/>
              </a:rPr>
              <a:t>Mohamed Ahmed Abubakr, l’m 20 years old. Intelligent Systems Engineering student at Helwan National University (HNU) specializing in Data Analytics and Business Intelligence. Experienced in analyzing complex datasets and transforming them into clear, interactive visualizations using Power BI and Excel, enabling better understanding of data, uncovering hidden insights, and supporting strategic decision.</a:t>
            </a:r>
          </a:p>
          <a:p>
            <a:pPr algn="ctr">
              <a:lnSpc>
                <a:spcPts val="3835"/>
              </a:lnSpc>
            </a:pPr>
            <a:r>
              <a:rPr lang="en-US" sz="2739" b="1" dirty="0">
                <a:solidFill>
                  <a:srgbClr val="000000"/>
                </a:solidFill>
                <a:latin typeface="Canva Sans Bold"/>
                <a:ea typeface="Canva Sans Bold"/>
                <a:cs typeface="Canva Sans Bold"/>
                <a:sym typeface="Canva Sans Bold"/>
              </a:rPr>
              <a:t>Data Insights Specialist</a:t>
            </a:r>
          </a:p>
          <a:p>
            <a:pPr algn="l">
              <a:lnSpc>
                <a:spcPts val="3835"/>
              </a:lnSpc>
            </a:pPr>
            <a:r>
              <a:rPr lang="en-US" sz="2739" b="1" dirty="0">
                <a:solidFill>
                  <a:srgbClr val="000000"/>
                </a:solidFill>
                <a:latin typeface="Canva Sans Bold"/>
                <a:ea typeface="Canva Sans Bold"/>
                <a:cs typeface="Canva Sans Bold"/>
                <a:sym typeface="Canva Sans Bold"/>
              </a:rPr>
              <a:t> – Data analysis and insights generation </a:t>
            </a:r>
          </a:p>
          <a:p>
            <a:pPr algn="l">
              <a:lnSpc>
                <a:spcPts val="3835"/>
              </a:lnSpc>
            </a:pPr>
            <a:r>
              <a:rPr lang="en-US" sz="2739" b="1" dirty="0">
                <a:solidFill>
                  <a:srgbClr val="000000"/>
                </a:solidFill>
                <a:latin typeface="Canva Sans Bold"/>
                <a:ea typeface="Canva Sans Bold"/>
                <a:cs typeface="Canva Sans Bold"/>
                <a:sym typeface="Canva Sans Bold"/>
              </a:rPr>
              <a:t> – Supporting the team in extracting and refining final insights </a:t>
            </a:r>
          </a:p>
          <a:p>
            <a:pPr algn="l">
              <a:lnSpc>
                <a:spcPts val="3835"/>
              </a:lnSpc>
            </a:pPr>
            <a:r>
              <a:rPr lang="en-US" sz="2739" b="1" dirty="0">
                <a:solidFill>
                  <a:srgbClr val="000000"/>
                </a:solidFill>
                <a:latin typeface="Canva Sans Bold"/>
                <a:ea typeface="Canva Sans Bold"/>
                <a:cs typeface="Canva Sans Bold"/>
                <a:sym typeface="Canva Sans Bold"/>
              </a:rPr>
              <a:t> – Data analysis using Excel (Pivot Tables + Charts)</a:t>
            </a:r>
          </a:p>
        </p:txBody>
      </p:sp>
      <p:sp>
        <p:nvSpPr>
          <p:cNvPr id="42" name="TextBox 42">
            <a:extLst>
              <a:ext uri="{FF2B5EF4-FFF2-40B4-BE49-F238E27FC236}">
                <a16:creationId xmlns:a16="http://schemas.microsoft.com/office/drawing/2014/main" id="{49CA5D90-0659-E2D2-FD12-1237B6B70CC1}"/>
              </a:ext>
            </a:extLst>
          </p:cNvPr>
          <p:cNvSpPr txBox="1"/>
          <p:nvPr/>
        </p:nvSpPr>
        <p:spPr>
          <a:xfrm>
            <a:off x="6117254" y="2266524"/>
            <a:ext cx="8113832" cy="828040"/>
          </a:xfrm>
          <a:prstGeom prst="rect">
            <a:avLst/>
          </a:prstGeom>
        </p:spPr>
        <p:txBody>
          <a:bodyPr lIns="0" tIns="0" rIns="0" bIns="0" rtlCol="0" anchor="t">
            <a:spAutoFit/>
          </a:bodyPr>
          <a:lstStyle/>
          <a:p>
            <a:pPr algn="ctr">
              <a:lnSpc>
                <a:spcPts val="6860"/>
              </a:lnSpc>
            </a:pPr>
            <a:r>
              <a:rPr lang="en-US" sz="4900" b="1" dirty="0">
                <a:solidFill>
                  <a:srgbClr val="000000"/>
                </a:solidFill>
                <a:latin typeface="Canva Sans Bold"/>
                <a:ea typeface="Canva Sans Bold"/>
                <a:cs typeface="Canva Sans Bold"/>
                <a:sym typeface="Canva Sans Bold"/>
              </a:rPr>
              <a:t>Mohamed Ahmed Abubakr</a:t>
            </a:r>
          </a:p>
        </p:txBody>
      </p:sp>
      <p:pic>
        <p:nvPicPr>
          <p:cNvPr id="44" name="Picture 43">
            <a:extLst>
              <a:ext uri="{FF2B5EF4-FFF2-40B4-BE49-F238E27FC236}">
                <a16:creationId xmlns:a16="http://schemas.microsoft.com/office/drawing/2014/main" id="{CCE4EC09-C96A-4A92-1DAA-FB7394677D5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8962442"/>
            <a:ext cx="1324558" cy="1324558"/>
          </a:xfrm>
          <a:prstGeom prst="rect">
            <a:avLst/>
          </a:prstGeom>
        </p:spPr>
      </p:pic>
      <p:pic>
        <p:nvPicPr>
          <p:cNvPr id="5" name="Picture 4">
            <a:extLst>
              <a:ext uri="{FF2B5EF4-FFF2-40B4-BE49-F238E27FC236}">
                <a16:creationId xmlns:a16="http://schemas.microsoft.com/office/drawing/2014/main" id="{07FF68AB-7E13-9690-3C0D-B68F3767F7C0}"/>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32419" t="34555" r="33200" b="37484"/>
          <a:stretch>
            <a:fillRect/>
          </a:stretch>
        </p:blipFill>
        <p:spPr>
          <a:xfrm>
            <a:off x="1300746" y="3732357"/>
            <a:ext cx="2595367" cy="2814156"/>
          </a:xfrm>
          <a:prstGeom prst="ellipse">
            <a:avLst/>
          </a:prstGeom>
        </p:spPr>
      </p:pic>
    </p:spTree>
    <p:extLst>
      <p:ext uri="{BB962C8B-B14F-4D97-AF65-F5344CB8AC3E}">
        <p14:creationId xmlns:p14="http://schemas.microsoft.com/office/powerpoint/2010/main" val="2429649388"/>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r="-17"/>
            </a:stretch>
          </a:blipFill>
        </p:spPr>
        <p:txBody>
          <a:bodyPr/>
          <a:lstStyle/>
          <a:p>
            <a:endParaRPr lang="en-US"/>
          </a:p>
        </p:txBody>
      </p:sp>
      <p:sp>
        <p:nvSpPr>
          <p:cNvPr id="3" name="Freeform 3"/>
          <p:cNvSpPr/>
          <p:nvPr/>
        </p:nvSpPr>
        <p:spPr>
          <a:xfrm>
            <a:off x="16067268" y="495320"/>
            <a:ext cx="1926864" cy="956639"/>
          </a:xfrm>
          <a:custGeom>
            <a:avLst/>
            <a:gdLst/>
            <a:ahLst/>
            <a:cxnLst/>
            <a:rect l="l" t="t" r="r" b="b"/>
            <a:pathLst>
              <a:path w="1926864" h="956639">
                <a:moveTo>
                  <a:pt x="0" y="0"/>
                </a:moveTo>
                <a:lnTo>
                  <a:pt x="1926864" y="0"/>
                </a:lnTo>
                <a:lnTo>
                  <a:pt x="1926864" y="956638"/>
                </a:lnTo>
                <a:lnTo>
                  <a:pt x="0" y="956638"/>
                </a:lnTo>
                <a:lnTo>
                  <a:pt x="0" y="0"/>
                </a:lnTo>
                <a:close/>
              </a:path>
            </a:pathLst>
          </a:custGeom>
          <a:blipFill>
            <a:blip r:embed="rId4"/>
            <a:stretch>
              <a:fillRect/>
            </a:stretch>
          </a:blipFill>
        </p:spPr>
        <p:txBody>
          <a:bodyPr/>
          <a:lstStyle/>
          <a:p>
            <a:endParaRPr lang="en-US"/>
          </a:p>
        </p:txBody>
      </p:sp>
      <p:sp>
        <p:nvSpPr>
          <p:cNvPr id="4" name="Freeform 4"/>
          <p:cNvSpPr/>
          <p:nvPr/>
        </p:nvSpPr>
        <p:spPr>
          <a:xfrm>
            <a:off x="139976" y="0"/>
            <a:ext cx="2234648" cy="2079956"/>
          </a:xfrm>
          <a:custGeom>
            <a:avLst/>
            <a:gdLst/>
            <a:ahLst/>
            <a:cxnLst/>
            <a:rect l="l" t="t" r="r" b="b"/>
            <a:pathLst>
              <a:path w="2234648" h="2079956">
                <a:moveTo>
                  <a:pt x="0" y="0"/>
                </a:moveTo>
                <a:lnTo>
                  <a:pt x="2234647" y="0"/>
                </a:lnTo>
                <a:lnTo>
                  <a:pt x="2234647" y="2079956"/>
                </a:lnTo>
                <a:lnTo>
                  <a:pt x="0" y="2079956"/>
                </a:lnTo>
                <a:lnTo>
                  <a:pt x="0" y="0"/>
                </a:lnTo>
                <a:close/>
              </a:path>
            </a:pathLst>
          </a:custGeom>
          <a:blipFill>
            <a:blip r:embed="rId5"/>
            <a:stretch>
              <a:fillRect b="-2"/>
            </a:stretch>
          </a:blipFill>
        </p:spPr>
        <p:txBody>
          <a:bodyPr/>
          <a:lstStyle/>
          <a:p>
            <a:endParaRPr lang="en-US"/>
          </a:p>
        </p:txBody>
      </p:sp>
      <p:grpSp>
        <p:nvGrpSpPr>
          <p:cNvPr id="7" name="Group 7"/>
          <p:cNvGrpSpPr/>
          <p:nvPr/>
        </p:nvGrpSpPr>
        <p:grpSpPr>
          <a:xfrm>
            <a:off x="5483168" y="5386306"/>
            <a:ext cx="7570488" cy="1062155"/>
            <a:chOff x="0" y="0"/>
            <a:chExt cx="2578838" cy="361816"/>
          </a:xfrm>
        </p:grpSpPr>
        <p:sp>
          <p:nvSpPr>
            <p:cNvPr id="8" name="Freeform 8"/>
            <p:cNvSpPr/>
            <p:nvPr/>
          </p:nvSpPr>
          <p:spPr>
            <a:xfrm>
              <a:off x="0" y="0"/>
              <a:ext cx="2578838" cy="361816"/>
            </a:xfrm>
            <a:custGeom>
              <a:avLst/>
              <a:gdLst/>
              <a:ahLst/>
              <a:cxnLst/>
              <a:rect l="l" t="t" r="r" b="b"/>
              <a:pathLst>
                <a:path w="2578838" h="361816">
                  <a:moveTo>
                    <a:pt x="52155" y="0"/>
                  </a:moveTo>
                  <a:lnTo>
                    <a:pt x="2526683" y="0"/>
                  </a:lnTo>
                  <a:cubicBezTo>
                    <a:pt x="2555487" y="0"/>
                    <a:pt x="2578838" y="23351"/>
                    <a:pt x="2578838" y="52155"/>
                  </a:cubicBezTo>
                  <a:lnTo>
                    <a:pt x="2578838" y="309661"/>
                  </a:lnTo>
                  <a:cubicBezTo>
                    <a:pt x="2578838" y="338466"/>
                    <a:pt x="2555487" y="361816"/>
                    <a:pt x="2526683" y="361816"/>
                  </a:cubicBezTo>
                  <a:lnTo>
                    <a:pt x="52155" y="361816"/>
                  </a:lnTo>
                  <a:cubicBezTo>
                    <a:pt x="38323" y="361816"/>
                    <a:pt x="25057" y="356321"/>
                    <a:pt x="15276" y="346540"/>
                  </a:cubicBezTo>
                  <a:cubicBezTo>
                    <a:pt x="5495" y="336759"/>
                    <a:pt x="0" y="323494"/>
                    <a:pt x="0" y="309661"/>
                  </a:cubicBezTo>
                  <a:lnTo>
                    <a:pt x="0" y="52155"/>
                  </a:lnTo>
                  <a:cubicBezTo>
                    <a:pt x="0" y="23351"/>
                    <a:pt x="23351" y="0"/>
                    <a:pt x="52155" y="0"/>
                  </a:cubicBezTo>
                  <a:close/>
                </a:path>
              </a:pathLst>
            </a:custGeom>
            <a:solidFill>
              <a:srgbClr val="84E4A8"/>
            </a:solidFill>
          </p:spPr>
          <p:txBody>
            <a:bodyPr/>
            <a:lstStyle/>
            <a:p>
              <a:endParaRPr lang="en-US"/>
            </a:p>
          </p:txBody>
        </p:sp>
        <p:sp>
          <p:nvSpPr>
            <p:cNvPr id="9" name="TextBox 9"/>
            <p:cNvSpPr txBox="1"/>
            <p:nvPr/>
          </p:nvSpPr>
          <p:spPr>
            <a:xfrm>
              <a:off x="0" y="-38100"/>
              <a:ext cx="2578838" cy="399916"/>
            </a:xfrm>
            <a:prstGeom prst="rect">
              <a:avLst/>
            </a:prstGeom>
          </p:spPr>
          <p:txBody>
            <a:bodyPr lIns="39277" tIns="39277" rIns="39277" bIns="39277" rtlCol="0" anchor="ctr"/>
            <a:lstStyle/>
            <a:p>
              <a:pPr algn="ctr">
                <a:lnSpc>
                  <a:spcPts val="2879"/>
                </a:lnSpc>
              </a:pPr>
              <a:endParaRPr/>
            </a:p>
          </p:txBody>
        </p:sp>
      </p:grpSp>
      <p:sp>
        <p:nvSpPr>
          <p:cNvPr id="10" name="TextBox 10"/>
          <p:cNvSpPr txBox="1"/>
          <p:nvPr/>
        </p:nvSpPr>
        <p:spPr>
          <a:xfrm>
            <a:off x="5579688" y="5489253"/>
            <a:ext cx="7377446" cy="770535"/>
          </a:xfrm>
          <a:prstGeom prst="rect">
            <a:avLst/>
          </a:prstGeom>
        </p:spPr>
        <p:txBody>
          <a:bodyPr lIns="0" tIns="0" rIns="0" bIns="0" rtlCol="0" anchor="t">
            <a:spAutoFit/>
          </a:bodyPr>
          <a:lstStyle/>
          <a:p>
            <a:pPr algn="ctr">
              <a:lnSpc>
                <a:spcPts val="6354"/>
              </a:lnSpc>
            </a:pPr>
            <a:r>
              <a:rPr lang="en-US" sz="4538" b="1">
                <a:solidFill>
                  <a:srgbClr val="336EA8"/>
                </a:solidFill>
                <a:latin typeface="Canva Sans Bold"/>
                <a:ea typeface="Canva Sans Bold"/>
                <a:cs typeface="Canva Sans Bold"/>
                <a:sym typeface="Canva Sans Bold"/>
              </a:rPr>
              <a:t>Thanks for your time :)</a:t>
            </a:r>
          </a:p>
        </p:txBody>
      </p:sp>
      <p:pic>
        <p:nvPicPr>
          <p:cNvPr id="12" name="Picture 11">
            <a:extLst>
              <a:ext uri="{FF2B5EF4-FFF2-40B4-BE49-F238E27FC236}">
                <a16:creationId xmlns:a16="http://schemas.microsoft.com/office/drawing/2014/main" id="{CD9CB9D7-E37F-B36E-B0E1-D280236E3446}"/>
              </a:ext>
            </a:extLst>
          </p:cNvPr>
          <p:cNvPicPr>
            <a:picLocks noChangeAspect="1"/>
          </p:cNvPicPr>
          <p:nvPr/>
        </p:nvPicPr>
        <p:blipFill>
          <a:blip r:embed="rId6"/>
          <a:stretch>
            <a:fillRect/>
          </a:stretch>
        </p:blipFill>
        <p:spPr>
          <a:xfrm>
            <a:off x="4495800" y="3490230"/>
            <a:ext cx="9867900" cy="1943100"/>
          </a:xfrm>
          <a:prstGeom prst="rect">
            <a:avLst/>
          </a:prstGeom>
        </p:spPr>
      </p:pic>
      <p:pic>
        <p:nvPicPr>
          <p:cNvPr id="6" name="Picture 5">
            <a:extLst>
              <a:ext uri="{FF2B5EF4-FFF2-40B4-BE49-F238E27FC236}">
                <a16:creationId xmlns:a16="http://schemas.microsoft.com/office/drawing/2014/main" id="{04454ABF-3C69-1CC5-3C8D-F7D6BEB3CD1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0" y="8052352"/>
            <a:ext cx="2234648" cy="2234648"/>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802</TotalTime>
  <Words>602</Words>
  <Application>Microsoft Office PowerPoint</Application>
  <PresentationFormat>Custom</PresentationFormat>
  <Paragraphs>128</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Canva Sans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DEPI Final Project. PPT Template.pptx</dc:title>
  <cp:lastModifiedBy>Mohamed Emad</cp:lastModifiedBy>
  <cp:revision>20</cp:revision>
  <dcterms:created xsi:type="dcterms:W3CDTF">2006-08-16T00:00:00Z</dcterms:created>
  <dcterms:modified xsi:type="dcterms:W3CDTF">2026-03-19T09:11:09Z</dcterms:modified>
  <dc:identifier>DAGm54yL8PU</dc:identifier>
</cp:coreProperties>
</file>