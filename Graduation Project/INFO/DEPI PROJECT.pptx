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webextensions/webextension1.xml" ContentType="application/vnd.ms-office.webextension+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6" r:id="rId11"/>
    <p:sldId id="278" r:id="rId12"/>
    <p:sldId id="267" r:id="rId13"/>
    <p:sldId id="268" r:id="rId14"/>
    <p:sldId id="275" r:id="rId15"/>
    <p:sldId id="276" r:id="rId16"/>
    <p:sldId id="277" r:id="rId17"/>
  </p:sldIdLst>
  <p:sldSz cx="18288000" cy="10287000"/>
  <p:notesSz cx="6858000" cy="9144000"/>
  <p:embeddedFontLst>
    <p:embeddedFont>
      <p:font typeface="Canva Sans Bold" panose="020B0604020202020204" charset="0"/>
      <p:regular r:id="rId19"/>
    </p:embeddedFont>
    <p:embeddedFont>
      <p:font typeface="Decalotype" panose="020B0604020202020204" charset="0"/>
      <p:regular r:id="rId20"/>
    </p:embeddedFont>
    <p:embeddedFont>
      <p:font typeface="Decalotype Bold" panose="020B0604020202020204" charset="0"/>
      <p:regular r:id="rId21"/>
    </p:embeddedFont>
    <p:embeddedFont>
      <p:font typeface="Decalotype Medium" panose="020B0604020202020204" charset="0"/>
      <p:regular r:id="rId22"/>
    </p:embeddedFont>
    <p:embeddedFont>
      <p:font typeface="Gagalin" panose="020B0604020202020204" charset="0"/>
      <p:regular r:id="rId23"/>
    </p:embeddedFont>
    <p:embeddedFont>
      <p:font typeface="Oswald" panose="00000500000000000000" pitchFamily="2" charset="0"/>
      <p:regular r:id="rId24"/>
      <p:bold r:id="rId25"/>
    </p:embeddedFont>
    <p:embeddedFont>
      <p:font typeface="Oswald Bold" panose="00000800000000000000" charset="0"/>
      <p:regular r:id="rId26"/>
      <p:bold r:id="rId27"/>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41432" autoAdjust="0"/>
    <p:restoredTop sz="94622" autoAdjust="0"/>
  </p:normalViewPr>
  <p:slideViewPr>
    <p:cSldViewPr>
      <p:cViewPr varScale="1">
        <p:scale>
          <a:sx n="56" d="100"/>
          <a:sy n="56" d="100"/>
        </p:scale>
        <p:origin x="132" y="558"/>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26" Type="http://schemas.openxmlformats.org/officeDocument/2006/relationships/font" Target="fonts/font8.fntdata"/><Relationship Id="rId3" Type="http://schemas.openxmlformats.org/officeDocument/2006/relationships/slide" Target="slides/slide2.xml"/><Relationship Id="rId21" Type="http://schemas.openxmlformats.org/officeDocument/2006/relationships/font" Target="fonts/font3.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7.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2.fntdata"/><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6.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5.fntdata"/><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font" Target="fonts/font1.fntdata"/><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4.fntdata"/><Relationship Id="rId27" Type="http://schemas.openxmlformats.org/officeDocument/2006/relationships/font" Target="fonts/font9.fntdata"/><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86571A4-4622-4E51-8BC7-176ABF8228B2}" type="datetimeFigureOut">
              <a:rPr lang="en-US" smtClean="0"/>
              <a:t>6/19/2026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C2A005E-BDE4-4A3D-BCA7-A5CB0FF6FD64}" type="slidenum">
              <a:rPr lang="en-US" smtClean="0"/>
              <a:t>‹#›</a:t>
            </a:fld>
            <a:endParaRPr lang="en-US"/>
          </a:p>
        </p:txBody>
      </p:sp>
    </p:spTree>
    <p:extLst>
      <p:ext uri="{BB962C8B-B14F-4D97-AF65-F5344CB8AC3E}">
        <p14:creationId xmlns:p14="http://schemas.microsoft.com/office/powerpoint/2010/main" val="89175762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C2A005E-BDE4-4A3D-BCA7-A5CB0FF6FD64}" type="slidenum">
              <a:rPr lang="en-US" smtClean="0"/>
              <a:t>1</a:t>
            </a:fld>
            <a:endParaRPr lang="en-US"/>
          </a:p>
        </p:txBody>
      </p:sp>
    </p:spTree>
    <p:extLst>
      <p:ext uri="{BB962C8B-B14F-4D97-AF65-F5344CB8AC3E}">
        <p14:creationId xmlns:p14="http://schemas.microsoft.com/office/powerpoint/2010/main" val="27005360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C2A005E-BDE4-4A3D-BCA7-A5CB0FF6FD64}" type="slidenum">
              <a:rPr lang="en-US" smtClean="0"/>
              <a:t>3</a:t>
            </a:fld>
            <a:endParaRPr lang="en-US"/>
          </a:p>
        </p:txBody>
      </p:sp>
    </p:spTree>
    <p:extLst>
      <p:ext uri="{BB962C8B-B14F-4D97-AF65-F5344CB8AC3E}">
        <p14:creationId xmlns:p14="http://schemas.microsoft.com/office/powerpoint/2010/main" val="243497771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C2A005E-BDE4-4A3D-BCA7-A5CB0FF6FD64}" type="slidenum">
              <a:rPr lang="en-US" smtClean="0"/>
              <a:t>6</a:t>
            </a:fld>
            <a:endParaRPr lang="en-US"/>
          </a:p>
        </p:txBody>
      </p:sp>
    </p:spTree>
    <p:extLst>
      <p:ext uri="{BB962C8B-B14F-4D97-AF65-F5344CB8AC3E}">
        <p14:creationId xmlns:p14="http://schemas.microsoft.com/office/powerpoint/2010/main" val="139002296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C2A005E-BDE4-4A3D-BCA7-A5CB0FF6FD64}" type="slidenum">
              <a:rPr lang="en-US" smtClean="0"/>
              <a:t>10</a:t>
            </a:fld>
            <a:endParaRPr lang="en-US"/>
          </a:p>
        </p:txBody>
      </p:sp>
    </p:spTree>
    <p:extLst>
      <p:ext uri="{BB962C8B-B14F-4D97-AF65-F5344CB8AC3E}">
        <p14:creationId xmlns:p14="http://schemas.microsoft.com/office/powerpoint/2010/main" val="157609350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C2A005E-BDE4-4A3D-BCA7-A5CB0FF6FD64}" type="slidenum">
              <a:rPr lang="en-US" smtClean="0"/>
              <a:t>14</a:t>
            </a:fld>
            <a:endParaRPr lang="en-US"/>
          </a:p>
        </p:txBody>
      </p:sp>
    </p:spTree>
    <p:extLst>
      <p:ext uri="{BB962C8B-B14F-4D97-AF65-F5344CB8AC3E}">
        <p14:creationId xmlns:p14="http://schemas.microsoft.com/office/powerpoint/2010/main" val="318230080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C2A005E-BDE4-4A3D-BCA7-A5CB0FF6FD64}" type="slidenum">
              <a:rPr lang="en-US" smtClean="0"/>
              <a:t>16</a:t>
            </a:fld>
            <a:endParaRPr lang="en-US"/>
          </a:p>
        </p:txBody>
      </p:sp>
    </p:spTree>
    <p:extLst>
      <p:ext uri="{BB962C8B-B14F-4D97-AF65-F5344CB8AC3E}">
        <p14:creationId xmlns:p14="http://schemas.microsoft.com/office/powerpoint/2010/main" val="401144534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6/19/2026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6/19/2026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6/19/2026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6/19/2026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6/19/2026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6/19/2026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6/19/2026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6/19/2026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6/19/2026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6/19/2026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6/19/2026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6/19/2026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7.xml"/><Relationship Id="rId5" Type="http://schemas.openxmlformats.org/officeDocument/2006/relationships/image" Target="../media/image3.png"/><Relationship Id="rId4" Type="http://schemas.openxmlformats.org/officeDocument/2006/relationships/image" Target="../media/image2.svg"/></Relationships>
</file>

<file path=ppt/slides/_rels/slide2.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image" Target="../media/image1.jpe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image" Target="../media/image12.svg"/><Relationship Id="rId5" Type="http://schemas.openxmlformats.org/officeDocument/2006/relationships/image" Target="../media/image11.svg"/><Relationship Id="rId4" Type="http://schemas.openxmlformats.org/officeDocument/2006/relationships/image" Target="../media/image10.svg"/></Relationships>
</file>

<file path=ppt/slides/_rels/slide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jpeg"/><Relationship Id="rId1" Type="http://schemas.openxmlformats.org/officeDocument/2006/relationships/slideLayout" Target="../slideLayouts/slideLayout7.xml"/><Relationship Id="rId4" Type="http://schemas.openxmlformats.org/officeDocument/2006/relationships/image" Target="../media/image14.svg"/></Relationships>
</file>

<file path=ppt/slides/_rels/slide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jpe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8" Type="http://schemas.openxmlformats.org/officeDocument/2006/relationships/image" Target="../media/image18.svg"/><Relationship Id="rId3" Type="http://schemas.openxmlformats.org/officeDocument/2006/relationships/image" Target="../media/image1.jpeg"/><Relationship Id="rId7" Type="http://schemas.openxmlformats.org/officeDocument/2006/relationships/image" Target="../media/image17.svg"/><Relationship Id="rId2" Type="http://schemas.openxmlformats.org/officeDocument/2006/relationships/notesSlide" Target="../notesSlides/notesSlide3.xml"/><Relationship Id="rId1" Type="http://schemas.openxmlformats.org/officeDocument/2006/relationships/slideLayout" Target="../slideLayouts/slideLayout7.xml"/><Relationship Id="rId6" Type="http://schemas.openxmlformats.org/officeDocument/2006/relationships/image" Target="../media/image10.svg"/><Relationship Id="rId5" Type="http://schemas.openxmlformats.org/officeDocument/2006/relationships/image" Target="../media/image11.svg"/><Relationship Id="rId10" Type="http://schemas.openxmlformats.org/officeDocument/2006/relationships/image" Target="../media/image20.svg"/><Relationship Id="rId4" Type="http://schemas.openxmlformats.org/officeDocument/2006/relationships/image" Target="../media/image16.svg"/><Relationship Id="rId9" Type="http://schemas.openxmlformats.org/officeDocument/2006/relationships/image" Target="../media/image19.svg"/></Relationships>
</file>

<file path=ppt/slides/_rels/slide7.xml.rels><?xml version="1.0" encoding="UTF-8" standalone="yes"?>
<Relationships xmlns="http://schemas.openxmlformats.org/package/2006/relationships"><Relationship Id="rId8" Type="http://schemas.openxmlformats.org/officeDocument/2006/relationships/image" Target="../media/image26.svg"/><Relationship Id="rId13" Type="http://schemas.openxmlformats.org/officeDocument/2006/relationships/image" Target="../media/image30.svg"/><Relationship Id="rId3" Type="http://schemas.openxmlformats.org/officeDocument/2006/relationships/image" Target="../media/image21.svg"/><Relationship Id="rId7" Type="http://schemas.openxmlformats.org/officeDocument/2006/relationships/image" Target="../media/image25.svg"/><Relationship Id="rId12" Type="http://schemas.openxmlformats.org/officeDocument/2006/relationships/image" Target="../media/image29.svg"/><Relationship Id="rId2" Type="http://schemas.openxmlformats.org/officeDocument/2006/relationships/image" Target="../media/image1.jpeg"/><Relationship Id="rId16" Type="http://schemas.openxmlformats.org/officeDocument/2006/relationships/image" Target="../media/image33.svg"/><Relationship Id="rId1" Type="http://schemas.openxmlformats.org/officeDocument/2006/relationships/slideLayout" Target="../slideLayouts/slideLayout7.xml"/><Relationship Id="rId6" Type="http://schemas.openxmlformats.org/officeDocument/2006/relationships/image" Target="../media/image24.svg"/><Relationship Id="rId11" Type="http://schemas.openxmlformats.org/officeDocument/2006/relationships/image" Target="../media/image28.png"/><Relationship Id="rId5" Type="http://schemas.openxmlformats.org/officeDocument/2006/relationships/image" Target="../media/image23.svg"/><Relationship Id="rId15" Type="http://schemas.openxmlformats.org/officeDocument/2006/relationships/image" Target="../media/image32.svg"/><Relationship Id="rId10" Type="http://schemas.openxmlformats.org/officeDocument/2006/relationships/image" Target="../media/image27.png"/><Relationship Id="rId4" Type="http://schemas.openxmlformats.org/officeDocument/2006/relationships/image" Target="../media/image22.svg"/><Relationship Id="rId9" Type="http://schemas.openxmlformats.org/officeDocument/2006/relationships/image" Target="../media/image10.svg"/><Relationship Id="rId14" Type="http://schemas.openxmlformats.org/officeDocument/2006/relationships/image" Target="../media/image31.svg"/></Relationships>
</file>

<file path=ppt/slides/_rels/slide8.xml.rels><?xml version="1.0" encoding="UTF-8" standalone="yes"?>
<Relationships xmlns="http://schemas.openxmlformats.org/package/2006/relationships"><Relationship Id="rId8" Type="http://schemas.openxmlformats.org/officeDocument/2006/relationships/image" Target="../media/image37.png"/><Relationship Id="rId3" Type="http://schemas.openxmlformats.org/officeDocument/2006/relationships/image" Target="../media/image34.png"/><Relationship Id="rId7" Type="http://schemas.openxmlformats.org/officeDocument/2006/relationships/image" Target="../media/image27.png"/><Relationship Id="rId2" Type="http://schemas.openxmlformats.org/officeDocument/2006/relationships/image" Target="../media/image1.jpeg"/><Relationship Id="rId1" Type="http://schemas.openxmlformats.org/officeDocument/2006/relationships/slideLayout" Target="../slideLayouts/slideLayout7.xml"/><Relationship Id="rId6" Type="http://schemas.openxmlformats.org/officeDocument/2006/relationships/image" Target="../media/image36.png"/><Relationship Id="rId5" Type="http://schemas.openxmlformats.org/officeDocument/2006/relationships/image" Target="../media/image35.png"/><Relationship Id="rId10" Type="http://schemas.openxmlformats.org/officeDocument/2006/relationships/image" Target="../media/image10.svg"/><Relationship Id="rId4" Type="http://schemas.openxmlformats.org/officeDocument/2006/relationships/image" Target="../media/image11.svg"/><Relationship Id="rId9" Type="http://schemas.openxmlformats.org/officeDocument/2006/relationships/image" Target="../media/image38.png"/></Relationships>
</file>

<file path=ppt/slides/_rels/slide9.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11.svg"/><Relationship Id="rId1" Type="http://schemas.openxmlformats.org/officeDocument/2006/relationships/slideLayout" Target="../slideLayouts/slideLayout7.xml"/><Relationship Id="rId5" Type="http://schemas.openxmlformats.org/officeDocument/2006/relationships/image" Target="../media/image39.png"/><Relationship Id="rId4" Type="http://schemas.openxmlformats.org/officeDocument/2006/relationships/image" Target="../media/image10.svg"/></Relationships>
</file>

<file path=ppt/slides/_rels/slide10.xml.rels><?xml version="1.0" encoding="UTF-8" standalone="yes"?>
<Relationships xmlns="http://schemas.openxmlformats.org/package/2006/relationships"><Relationship Id="rId8" Type="http://schemas.openxmlformats.org/officeDocument/2006/relationships/image" Target="../media/image43.png"/><Relationship Id="rId3" Type="http://schemas.openxmlformats.org/officeDocument/2006/relationships/image" Target="../media/image1.jpeg"/><Relationship Id="rId7" Type="http://schemas.openxmlformats.org/officeDocument/2006/relationships/image" Target="../media/image42.png"/><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image" Target="../media/image41.png"/><Relationship Id="rId5" Type="http://schemas.openxmlformats.org/officeDocument/2006/relationships/image" Target="../media/image40.png"/><Relationship Id="rId4" Type="http://schemas.openxmlformats.org/officeDocument/2006/relationships/image" Target="../media/image11.svg"/></Relationships>
</file>

<file path=ppt/slides/_rels/slide11.xml.rels><?xml version="1.0" encoding="UTF-8" standalone="yes"?>
<Relationships xmlns="http://schemas.openxmlformats.org/package/2006/relationships"><Relationship Id="rId3" Type="http://schemas.openxmlformats.org/officeDocument/2006/relationships/image" Target="../media/image11.svg"/><Relationship Id="rId2" Type="http://schemas.openxmlformats.org/officeDocument/2006/relationships/image" Target="../media/image44.svg"/><Relationship Id="rId1" Type="http://schemas.openxmlformats.org/officeDocument/2006/relationships/slideLayout" Target="../slideLayouts/slideLayout7.xml"/><Relationship Id="rId6" Type="http://schemas.openxmlformats.org/officeDocument/2006/relationships/image" Target="../media/image46.png"/><Relationship Id="rId5" Type="http://schemas.openxmlformats.org/officeDocument/2006/relationships/image" Target="../media/image45.png"/><Relationship Id="rId4" Type="http://schemas.openxmlformats.org/officeDocument/2006/relationships/image" Target="../media/image10.svg"/></Relationships>
</file>

<file path=ppt/slides/_rels/slide12.xml.rels><?xml version="1.0" encoding="UTF-8" standalone="yes"?>
<Relationships xmlns="http://schemas.openxmlformats.org/package/2006/relationships"><Relationship Id="rId3" Type="http://schemas.openxmlformats.org/officeDocument/2006/relationships/image" Target="../media/image11.svg"/><Relationship Id="rId7" Type="http://schemas.openxmlformats.org/officeDocument/2006/relationships/image" Target="../media/image49.png"/><Relationship Id="rId2" Type="http://schemas.openxmlformats.org/officeDocument/2006/relationships/image" Target="../media/image44.svg"/><Relationship Id="rId1" Type="http://schemas.openxmlformats.org/officeDocument/2006/relationships/slideLayout" Target="../slideLayouts/slideLayout7.xml"/><Relationship Id="rId6" Type="http://schemas.openxmlformats.org/officeDocument/2006/relationships/image" Target="../media/image48.png"/><Relationship Id="rId5" Type="http://schemas.openxmlformats.org/officeDocument/2006/relationships/image" Target="../media/image47.png"/><Relationship Id="rId4" Type="http://schemas.openxmlformats.org/officeDocument/2006/relationships/image" Target="../media/image10.svg"/></Relationships>
</file>

<file path=ppt/slides/_rels/slide13.xml.rels><?xml version="1.0" encoding="UTF-8" standalone="yes"?>
<Relationships xmlns="http://schemas.openxmlformats.org/package/2006/relationships"><Relationship Id="rId3" Type="http://schemas.openxmlformats.org/officeDocument/2006/relationships/image" Target="../media/image50.svg"/><Relationship Id="rId2" Type="http://schemas.openxmlformats.org/officeDocument/2006/relationships/image" Target="../media/image1.jpeg"/><Relationship Id="rId1" Type="http://schemas.openxmlformats.org/officeDocument/2006/relationships/slideLayout" Target="../slideLayouts/slideLayout7.xml"/><Relationship Id="rId6" Type="http://schemas.openxmlformats.org/officeDocument/2006/relationships/image" Target="../media/image51.svg"/><Relationship Id="rId5" Type="http://schemas.openxmlformats.org/officeDocument/2006/relationships/image" Target="../media/image11.svg"/><Relationship Id="rId4" Type="http://schemas.openxmlformats.org/officeDocument/2006/relationships/image" Target="../media/image10.svg"/></Relationships>
</file>

<file path=ppt/slides/_rels/slide14.xml.rels><?xml version="1.0" encoding="UTF-8" standalone="yes"?>
<Relationships xmlns="http://schemas.openxmlformats.org/package/2006/relationships"><Relationship Id="rId3" Type="http://schemas.microsoft.com/office/2011/relationships/webextension" Target="../webextensions/webextension1.xml"/><Relationship Id="rId2" Type="http://schemas.openxmlformats.org/officeDocument/2006/relationships/notesSlide" Target="../notesSlides/notesSlide5.xml"/><Relationship Id="rId1" Type="http://schemas.openxmlformats.org/officeDocument/2006/relationships/slideLayout" Target="../slideLayouts/slideLayout7.xml"/><Relationship Id="rId4" Type="http://schemas.openxmlformats.org/officeDocument/2006/relationships/image" Target="../media/image52.png"/></Relationships>
</file>

<file path=ppt/slides/_rels/slide15.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53.sv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6.xml"/><Relationship Id="rId1" Type="http://schemas.openxmlformats.org/officeDocument/2006/relationships/slideLayout" Target="../slideLayouts/slideLayout7.xml"/><Relationship Id="rId5" Type="http://schemas.openxmlformats.org/officeDocument/2006/relationships/image" Target="../media/image3.png"/><Relationship Id="rId4" Type="http://schemas.openxmlformats.org/officeDocument/2006/relationships/image" Target="../media/image54.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t="-15111" b="-15111"/>
            </a:stretch>
          </a:blipFill>
        </p:spPr>
        <p:txBody>
          <a:bodyPr/>
          <a:lstStyle/>
          <a:p>
            <a:endParaRPr lang="en-US"/>
          </a:p>
        </p:txBody>
      </p:sp>
      <p:sp>
        <p:nvSpPr>
          <p:cNvPr id="3" name="Freeform 3"/>
          <p:cNvSpPr/>
          <p:nvPr/>
        </p:nvSpPr>
        <p:spPr>
          <a:xfrm>
            <a:off x="7255822" y="748263"/>
            <a:ext cx="11684422" cy="9538737"/>
          </a:xfrm>
          <a:custGeom>
            <a:avLst/>
            <a:gdLst/>
            <a:ahLst/>
            <a:cxnLst/>
            <a:rect l="l" t="t" r="r" b="b"/>
            <a:pathLst>
              <a:path w="11684422" h="9538737">
                <a:moveTo>
                  <a:pt x="0" y="0"/>
                </a:moveTo>
                <a:lnTo>
                  <a:pt x="11684422" y="0"/>
                </a:lnTo>
                <a:lnTo>
                  <a:pt x="11684422" y="9538737"/>
                </a:lnTo>
                <a:lnTo>
                  <a:pt x="0" y="9538737"/>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4" name="AutoShape 4"/>
          <p:cNvSpPr/>
          <p:nvPr/>
        </p:nvSpPr>
        <p:spPr>
          <a:xfrm flipH="1">
            <a:off x="949346" y="2823294"/>
            <a:ext cx="0" cy="5718705"/>
          </a:xfrm>
          <a:prstGeom prst="line">
            <a:avLst/>
          </a:prstGeom>
          <a:ln w="38100" cap="flat">
            <a:solidFill>
              <a:srgbClr val="000000"/>
            </a:solidFill>
            <a:prstDash val="solid"/>
            <a:headEnd type="none" w="sm" len="sm"/>
            <a:tailEnd type="none" w="sm" len="sm"/>
          </a:ln>
        </p:spPr>
        <p:txBody>
          <a:bodyPr/>
          <a:lstStyle/>
          <a:p>
            <a:endParaRPr lang="en-US"/>
          </a:p>
        </p:txBody>
      </p:sp>
      <p:sp>
        <p:nvSpPr>
          <p:cNvPr id="5" name="Freeform 5"/>
          <p:cNvSpPr/>
          <p:nvPr/>
        </p:nvSpPr>
        <p:spPr>
          <a:xfrm>
            <a:off x="722277" y="725994"/>
            <a:ext cx="1302348" cy="1197320"/>
          </a:xfrm>
          <a:custGeom>
            <a:avLst/>
            <a:gdLst/>
            <a:ahLst/>
            <a:cxnLst/>
            <a:rect l="l" t="t" r="r" b="b"/>
            <a:pathLst>
              <a:path w="1302348" h="1197320">
                <a:moveTo>
                  <a:pt x="0" y="0"/>
                </a:moveTo>
                <a:lnTo>
                  <a:pt x="1302347" y="0"/>
                </a:lnTo>
                <a:lnTo>
                  <a:pt x="1302347" y="1197320"/>
                </a:lnTo>
                <a:lnTo>
                  <a:pt x="0" y="1197320"/>
                </a:lnTo>
                <a:lnTo>
                  <a:pt x="0" y="0"/>
                </a:lnTo>
                <a:close/>
              </a:path>
            </a:pathLst>
          </a:custGeom>
          <a:blipFill>
            <a:blip r:embed="rId5"/>
            <a:stretch>
              <a:fillRect/>
            </a:stretch>
          </a:blipFill>
        </p:spPr>
        <p:txBody>
          <a:bodyPr/>
          <a:lstStyle/>
          <a:p>
            <a:endParaRPr lang="en-US"/>
          </a:p>
        </p:txBody>
      </p:sp>
      <p:sp>
        <p:nvSpPr>
          <p:cNvPr id="6" name="TextBox 6"/>
          <p:cNvSpPr txBox="1"/>
          <p:nvPr/>
        </p:nvSpPr>
        <p:spPr>
          <a:xfrm>
            <a:off x="1849525" y="678369"/>
            <a:ext cx="2053161" cy="1847585"/>
          </a:xfrm>
          <a:prstGeom prst="rect">
            <a:avLst/>
          </a:prstGeom>
        </p:spPr>
        <p:txBody>
          <a:bodyPr lIns="0" tIns="0" rIns="0" bIns="0" rtlCol="0" anchor="t">
            <a:spAutoFit/>
          </a:bodyPr>
          <a:lstStyle/>
          <a:p>
            <a:pPr algn="ctr">
              <a:lnSpc>
                <a:spcPts val="3689"/>
              </a:lnSpc>
            </a:pPr>
            <a:r>
              <a:rPr lang="en-US" sz="2635" b="1">
                <a:solidFill>
                  <a:srgbClr val="231F20"/>
                </a:solidFill>
                <a:latin typeface="Decalotype Medium"/>
                <a:ea typeface="Decalotype Medium"/>
                <a:cs typeface="Decalotype Medium"/>
                <a:sym typeface="Decalotype Medium"/>
              </a:rPr>
              <a:t>Digital Egypt Pioneers Initiative</a:t>
            </a:r>
          </a:p>
          <a:p>
            <a:pPr marL="0" lvl="0" indent="0" algn="l">
              <a:lnSpc>
                <a:spcPts val="3689"/>
              </a:lnSpc>
            </a:pPr>
            <a:endParaRPr lang="en-US" sz="2635" b="1">
              <a:solidFill>
                <a:srgbClr val="231F20"/>
              </a:solidFill>
              <a:latin typeface="Decalotype Medium"/>
              <a:ea typeface="Decalotype Medium"/>
              <a:cs typeface="Decalotype Medium"/>
              <a:sym typeface="Decalotype Medium"/>
            </a:endParaRPr>
          </a:p>
        </p:txBody>
      </p:sp>
      <p:sp>
        <p:nvSpPr>
          <p:cNvPr id="7" name="TextBox 7"/>
          <p:cNvSpPr txBox="1"/>
          <p:nvPr/>
        </p:nvSpPr>
        <p:spPr>
          <a:xfrm>
            <a:off x="2876105" y="5497579"/>
            <a:ext cx="7490814" cy="1593723"/>
          </a:xfrm>
          <a:prstGeom prst="rect">
            <a:avLst/>
          </a:prstGeom>
        </p:spPr>
        <p:txBody>
          <a:bodyPr lIns="0" tIns="0" rIns="0" bIns="0" rtlCol="0" anchor="t">
            <a:spAutoFit/>
          </a:bodyPr>
          <a:lstStyle/>
          <a:p>
            <a:pPr marL="0" lvl="0" indent="0" algn="l">
              <a:lnSpc>
                <a:spcPts val="12321"/>
              </a:lnSpc>
            </a:pPr>
            <a:r>
              <a:rPr lang="en-US" sz="11100" dirty="0">
                <a:solidFill>
                  <a:srgbClr val="000000"/>
                </a:solidFill>
                <a:latin typeface="Gagalin" panose="020B0604020202020204" charset="0"/>
                <a:ea typeface="Oswald"/>
                <a:cs typeface="Oswald"/>
                <a:sym typeface="Oswald"/>
              </a:rPr>
              <a:t>Analysis</a:t>
            </a:r>
          </a:p>
        </p:txBody>
      </p:sp>
      <p:sp>
        <p:nvSpPr>
          <p:cNvPr id="8" name="TextBox 8"/>
          <p:cNvSpPr txBox="1"/>
          <p:nvPr/>
        </p:nvSpPr>
        <p:spPr>
          <a:xfrm>
            <a:off x="1373451" y="3719888"/>
            <a:ext cx="9961475" cy="1590179"/>
          </a:xfrm>
          <a:prstGeom prst="rect">
            <a:avLst/>
          </a:prstGeom>
        </p:spPr>
        <p:txBody>
          <a:bodyPr wrap="square" lIns="0" tIns="0" rIns="0" bIns="0" rtlCol="0" anchor="t">
            <a:spAutoFit/>
          </a:bodyPr>
          <a:lstStyle/>
          <a:p>
            <a:pPr marL="0" lvl="0" indent="0" algn="l">
              <a:lnSpc>
                <a:spcPts val="12359"/>
              </a:lnSpc>
              <a:spcBef>
                <a:spcPct val="0"/>
              </a:spcBef>
            </a:pPr>
            <a:r>
              <a:rPr lang="en-US" sz="11134" dirty="0">
                <a:solidFill>
                  <a:srgbClr val="000000"/>
                </a:solidFill>
                <a:latin typeface="Gagalin" panose="020B0604020202020204" charset="0"/>
                <a:ea typeface="Oswald"/>
                <a:cs typeface="Oswald"/>
                <a:sym typeface="Oswald"/>
              </a:rPr>
              <a:t>Manufacturing </a:t>
            </a:r>
          </a:p>
        </p:txBody>
      </p:sp>
      <p:sp>
        <p:nvSpPr>
          <p:cNvPr id="9" name="TextBox 8">
            <a:extLst>
              <a:ext uri="{FF2B5EF4-FFF2-40B4-BE49-F238E27FC236}">
                <a16:creationId xmlns:a16="http://schemas.microsoft.com/office/drawing/2014/main" id="{2697DF2A-FAE5-FDAE-F82B-4E017626A232}"/>
              </a:ext>
            </a:extLst>
          </p:cNvPr>
          <p:cNvSpPr txBox="1"/>
          <p:nvPr/>
        </p:nvSpPr>
        <p:spPr>
          <a:xfrm>
            <a:off x="4302483" y="7278814"/>
            <a:ext cx="2325435" cy="646331"/>
          </a:xfrm>
          <a:prstGeom prst="rect">
            <a:avLst/>
          </a:prstGeom>
          <a:noFill/>
        </p:spPr>
        <p:txBody>
          <a:bodyPr wrap="square" rtlCol="0">
            <a:spAutoFit/>
          </a:bodyPr>
          <a:lstStyle/>
          <a:p>
            <a:pPr algn="ctr"/>
            <a:r>
              <a:rPr lang="en-US" sz="3600" b="1" dirty="0"/>
              <a:t>Team: 1</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t="-15111" b="-15111"/>
            </a:stretch>
          </a:blipFill>
        </p:spPr>
        <p:txBody>
          <a:bodyPr/>
          <a:lstStyle/>
          <a:p>
            <a:endParaRPr lang="en-US"/>
          </a:p>
        </p:txBody>
      </p:sp>
      <p:sp>
        <p:nvSpPr>
          <p:cNvPr id="3" name="AutoShape 3"/>
          <p:cNvSpPr/>
          <p:nvPr/>
        </p:nvSpPr>
        <p:spPr>
          <a:xfrm flipH="1">
            <a:off x="949346" y="2823294"/>
            <a:ext cx="0" cy="5718705"/>
          </a:xfrm>
          <a:prstGeom prst="line">
            <a:avLst/>
          </a:prstGeom>
          <a:ln w="38100" cap="flat">
            <a:solidFill>
              <a:srgbClr val="000000"/>
            </a:solidFill>
            <a:prstDash val="solid"/>
            <a:headEnd type="none" w="sm" len="sm"/>
            <a:tailEnd type="none" w="sm" len="sm"/>
          </a:ln>
        </p:spPr>
        <p:txBody>
          <a:bodyPr/>
          <a:lstStyle/>
          <a:p>
            <a:endParaRPr lang="en-US"/>
          </a:p>
        </p:txBody>
      </p:sp>
      <p:sp>
        <p:nvSpPr>
          <p:cNvPr id="4" name="Freeform 4"/>
          <p:cNvSpPr/>
          <p:nvPr/>
        </p:nvSpPr>
        <p:spPr>
          <a:xfrm>
            <a:off x="722277" y="725994"/>
            <a:ext cx="1302348" cy="1197320"/>
          </a:xfrm>
          <a:custGeom>
            <a:avLst/>
            <a:gdLst/>
            <a:ahLst/>
            <a:cxnLst/>
            <a:rect l="l" t="t" r="r" b="b"/>
            <a:pathLst>
              <a:path w="1302348" h="1197320">
                <a:moveTo>
                  <a:pt x="0" y="0"/>
                </a:moveTo>
                <a:lnTo>
                  <a:pt x="1302347" y="0"/>
                </a:lnTo>
                <a:lnTo>
                  <a:pt x="1302347" y="1197320"/>
                </a:lnTo>
                <a:lnTo>
                  <a:pt x="0" y="1197320"/>
                </a:lnTo>
                <a:lnTo>
                  <a:pt x="0" y="0"/>
                </a:lnTo>
                <a:close/>
              </a:path>
            </a:pathLst>
          </a:custGeom>
          <a:blipFill>
            <a:blip r:embed="rId3"/>
            <a:stretch>
              <a:fillRect/>
            </a:stretch>
          </a:blipFill>
        </p:spPr>
        <p:txBody>
          <a:bodyPr/>
          <a:lstStyle/>
          <a:p>
            <a:endParaRPr lang="en-US"/>
          </a:p>
        </p:txBody>
      </p:sp>
      <p:grpSp>
        <p:nvGrpSpPr>
          <p:cNvPr id="5" name="Group 5"/>
          <p:cNvGrpSpPr/>
          <p:nvPr/>
        </p:nvGrpSpPr>
        <p:grpSpPr>
          <a:xfrm>
            <a:off x="14157885" y="725994"/>
            <a:ext cx="3101415" cy="3101415"/>
            <a:chOff x="0" y="0"/>
            <a:chExt cx="812800" cy="812800"/>
          </a:xfrm>
        </p:grpSpPr>
        <p:sp>
          <p:nvSpPr>
            <p:cNvPr id="6" name="Freeform 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4"/>
              <a:stretch>
                <a:fillRect/>
              </a:stretch>
            </a:blipFill>
          </p:spPr>
          <p:txBody>
            <a:bodyPr/>
            <a:lstStyle/>
            <a:p>
              <a:endParaRPr lang="en-US"/>
            </a:p>
          </p:txBody>
        </p:sp>
      </p:grpSp>
      <p:grpSp>
        <p:nvGrpSpPr>
          <p:cNvPr id="7" name="Group 7"/>
          <p:cNvGrpSpPr/>
          <p:nvPr/>
        </p:nvGrpSpPr>
        <p:grpSpPr>
          <a:xfrm>
            <a:off x="8805323" y="75267"/>
            <a:ext cx="3101415" cy="3101415"/>
            <a:chOff x="0" y="0"/>
            <a:chExt cx="812800" cy="812800"/>
          </a:xfrm>
        </p:grpSpPr>
        <p:sp>
          <p:nvSpPr>
            <p:cNvPr id="8" name="Freeform 8"/>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5"/>
              <a:stretch>
                <a:fillRect/>
              </a:stretch>
            </a:blipFill>
          </p:spPr>
          <p:txBody>
            <a:bodyPr/>
            <a:lstStyle/>
            <a:p>
              <a:endParaRPr lang="en-US"/>
            </a:p>
          </p:txBody>
        </p:sp>
      </p:grpSp>
      <p:grpSp>
        <p:nvGrpSpPr>
          <p:cNvPr id="9" name="Group 9"/>
          <p:cNvGrpSpPr/>
          <p:nvPr/>
        </p:nvGrpSpPr>
        <p:grpSpPr>
          <a:xfrm>
            <a:off x="11209827" y="3592023"/>
            <a:ext cx="3101415" cy="3101415"/>
            <a:chOff x="0" y="0"/>
            <a:chExt cx="812800" cy="812800"/>
          </a:xfrm>
        </p:grpSpPr>
        <p:sp>
          <p:nvSpPr>
            <p:cNvPr id="10" name="Freeform 10"/>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6"/>
              <a:stretch>
                <a:fillRect/>
              </a:stretch>
            </a:blipFill>
          </p:spPr>
          <p:txBody>
            <a:bodyPr/>
            <a:lstStyle/>
            <a:p>
              <a:endParaRPr lang="en-US"/>
            </a:p>
          </p:txBody>
        </p:sp>
      </p:grpSp>
      <p:grpSp>
        <p:nvGrpSpPr>
          <p:cNvPr id="11" name="Group 11"/>
          <p:cNvGrpSpPr/>
          <p:nvPr/>
        </p:nvGrpSpPr>
        <p:grpSpPr>
          <a:xfrm>
            <a:off x="8468494" y="6156885"/>
            <a:ext cx="3101415" cy="3101415"/>
            <a:chOff x="0" y="0"/>
            <a:chExt cx="812800" cy="812800"/>
          </a:xfrm>
        </p:grpSpPr>
        <p:sp>
          <p:nvSpPr>
            <p:cNvPr id="12" name="Freeform 12"/>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7"/>
              <a:stretch>
                <a:fillRect t="-107" b="-107"/>
              </a:stretch>
            </a:blipFill>
          </p:spPr>
          <p:txBody>
            <a:bodyPr/>
            <a:lstStyle/>
            <a:p>
              <a:endParaRPr lang="en-US"/>
            </a:p>
          </p:txBody>
        </p:sp>
      </p:grpSp>
      <p:grpSp>
        <p:nvGrpSpPr>
          <p:cNvPr id="13" name="Group 13"/>
          <p:cNvGrpSpPr/>
          <p:nvPr/>
        </p:nvGrpSpPr>
        <p:grpSpPr>
          <a:xfrm>
            <a:off x="14966158" y="5282534"/>
            <a:ext cx="3101415" cy="3101415"/>
            <a:chOff x="0" y="0"/>
            <a:chExt cx="812800" cy="812800"/>
          </a:xfrm>
        </p:grpSpPr>
        <p:sp>
          <p:nvSpPr>
            <p:cNvPr id="14" name="Freeform 14"/>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8"/>
              <a:stretch>
                <a:fillRect/>
              </a:stretch>
            </a:blipFill>
          </p:spPr>
          <p:txBody>
            <a:bodyPr/>
            <a:lstStyle/>
            <a:p>
              <a:endParaRPr lang="en-US"/>
            </a:p>
          </p:txBody>
        </p:sp>
      </p:grpSp>
      <p:sp>
        <p:nvSpPr>
          <p:cNvPr id="15" name="TextBox 15"/>
          <p:cNvSpPr txBox="1"/>
          <p:nvPr/>
        </p:nvSpPr>
        <p:spPr>
          <a:xfrm>
            <a:off x="1849525" y="678369"/>
            <a:ext cx="2053161" cy="1847585"/>
          </a:xfrm>
          <a:prstGeom prst="rect">
            <a:avLst/>
          </a:prstGeom>
        </p:spPr>
        <p:txBody>
          <a:bodyPr lIns="0" tIns="0" rIns="0" bIns="0" rtlCol="0" anchor="t">
            <a:spAutoFit/>
          </a:bodyPr>
          <a:lstStyle/>
          <a:p>
            <a:pPr algn="ctr">
              <a:lnSpc>
                <a:spcPts val="3689"/>
              </a:lnSpc>
            </a:pPr>
            <a:r>
              <a:rPr lang="en-US" sz="2635" b="1">
                <a:solidFill>
                  <a:srgbClr val="231F20"/>
                </a:solidFill>
                <a:latin typeface="Decalotype Medium"/>
                <a:ea typeface="Decalotype Medium"/>
                <a:cs typeface="Decalotype Medium"/>
                <a:sym typeface="Decalotype Medium"/>
              </a:rPr>
              <a:t>Digital Egypt Pioneers Initiative</a:t>
            </a:r>
          </a:p>
          <a:p>
            <a:pPr marL="0" lvl="0" indent="0" algn="l">
              <a:lnSpc>
                <a:spcPts val="3689"/>
              </a:lnSpc>
            </a:pPr>
            <a:endParaRPr lang="en-US" sz="2635" b="1">
              <a:solidFill>
                <a:srgbClr val="231F20"/>
              </a:solidFill>
              <a:latin typeface="Decalotype Medium"/>
              <a:ea typeface="Decalotype Medium"/>
              <a:cs typeface="Decalotype Medium"/>
              <a:sym typeface="Decalotype Medium"/>
            </a:endParaRPr>
          </a:p>
        </p:txBody>
      </p:sp>
      <p:sp>
        <p:nvSpPr>
          <p:cNvPr id="16" name="TextBox 16"/>
          <p:cNvSpPr txBox="1"/>
          <p:nvPr/>
        </p:nvSpPr>
        <p:spPr>
          <a:xfrm>
            <a:off x="949346" y="4496533"/>
            <a:ext cx="8925107" cy="1312026"/>
          </a:xfrm>
          <a:prstGeom prst="rect">
            <a:avLst/>
          </a:prstGeom>
        </p:spPr>
        <p:txBody>
          <a:bodyPr lIns="0" tIns="0" rIns="0" bIns="0" rtlCol="0" anchor="t">
            <a:spAutoFit/>
          </a:bodyPr>
          <a:lstStyle/>
          <a:p>
            <a:pPr algn="ctr">
              <a:lnSpc>
                <a:spcPts val="11529"/>
              </a:lnSpc>
              <a:spcBef>
                <a:spcPct val="0"/>
              </a:spcBef>
            </a:pPr>
            <a:r>
              <a:rPr lang="en-US" sz="8235" b="1" dirty="0">
                <a:solidFill>
                  <a:srgbClr val="231F20"/>
                </a:solidFill>
                <a:latin typeface="Gagalin" panose="020B0604020202020204" charset="0"/>
                <a:ea typeface="Cooper BT Bold"/>
                <a:cs typeface="Cooper BT Bold"/>
                <a:sym typeface="Cooper BT Bold"/>
              </a:rPr>
              <a:t>Team Members</a:t>
            </a:r>
          </a:p>
        </p:txBody>
      </p:sp>
      <p:sp>
        <p:nvSpPr>
          <p:cNvPr id="17" name="TextBox 17"/>
          <p:cNvSpPr txBox="1"/>
          <p:nvPr/>
        </p:nvSpPr>
        <p:spPr>
          <a:xfrm>
            <a:off x="9304649" y="3343352"/>
            <a:ext cx="2102763" cy="447410"/>
          </a:xfrm>
          <a:prstGeom prst="rect">
            <a:avLst/>
          </a:prstGeom>
        </p:spPr>
        <p:txBody>
          <a:bodyPr lIns="0" tIns="0" rIns="0" bIns="0" rtlCol="0" anchor="t">
            <a:spAutoFit/>
          </a:bodyPr>
          <a:lstStyle/>
          <a:p>
            <a:pPr algn="ctr">
              <a:lnSpc>
                <a:spcPts val="3689"/>
              </a:lnSpc>
              <a:spcBef>
                <a:spcPct val="0"/>
              </a:spcBef>
            </a:pPr>
            <a:r>
              <a:rPr lang="en-US" sz="2635" b="1" dirty="0">
                <a:solidFill>
                  <a:srgbClr val="231F20"/>
                </a:solidFill>
                <a:latin typeface="Decalotype Bold"/>
                <a:ea typeface="Decalotype Bold"/>
                <a:cs typeface="Decalotype Bold"/>
                <a:sym typeface="Decalotype Bold"/>
              </a:rPr>
              <a:t>Mohamed Emad</a:t>
            </a:r>
          </a:p>
        </p:txBody>
      </p:sp>
      <p:sp>
        <p:nvSpPr>
          <p:cNvPr id="18" name="TextBox 18"/>
          <p:cNvSpPr txBox="1"/>
          <p:nvPr/>
        </p:nvSpPr>
        <p:spPr>
          <a:xfrm>
            <a:off x="15006757" y="3942542"/>
            <a:ext cx="1843445" cy="447410"/>
          </a:xfrm>
          <a:prstGeom prst="rect">
            <a:avLst/>
          </a:prstGeom>
        </p:spPr>
        <p:txBody>
          <a:bodyPr lIns="0" tIns="0" rIns="0" bIns="0" rtlCol="0" anchor="t">
            <a:spAutoFit/>
          </a:bodyPr>
          <a:lstStyle/>
          <a:p>
            <a:pPr algn="ctr">
              <a:lnSpc>
                <a:spcPts val="3689"/>
              </a:lnSpc>
              <a:spcBef>
                <a:spcPct val="0"/>
              </a:spcBef>
            </a:pPr>
            <a:r>
              <a:rPr lang="en-US" sz="2635" b="1" dirty="0">
                <a:solidFill>
                  <a:srgbClr val="231F20"/>
                </a:solidFill>
                <a:latin typeface="Decalotype Bold"/>
                <a:ea typeface="Decalotype Bold"/>
                <a:cs typeface="Decalotype Bold"/>
                <a:sym typeface="Decalotype Bold"/>
              </a:rPr>
              <a:t>Menna Younis</a:t>
            </a:r>
          </a:p>
        </p:txBody>
      </p:sp>
      <p:sp>
        <p:nvSpPr>
          <p:cNvPr id="19" name="TextBox 19"/>
          <p:cNvSpPr txBox="1"/>
          <p:nvPr/>
        </p:nvSpPr>
        <p:spPr>
          <a:xfrm>
            <a:off x="11569909" y="6741063"/>
            <a:ext cx="2381250" cy="447410"/>
          </a:xfrm>
          <a:prstGeom prst="rect">
            <a:avLst/>
          </a:prstGeom>
        </p:spPr>
        <p:txBody>
          <a:bodyPr lIns="0" tIns="0" rIns="0" bIns="0" rtlCol="0" anchor="t">
            <a:spAutoFit/>
          </a:bodyPr>
          <a:lstStyle/>
          <a:p>
            <a:pPr algn="ctr">
              <a:lnSpc>
                <a:spcPts val="3689"/>
              </a:lnSpc>
              <a:spcBef>
                <a:spcPct val="0"/>
              </a:spcBef>
            </a:pPr>
            <a:r>
              <a:rPr lang="en-US" sz="2635" b="1" dirty="0">
                <a:solidFill>
                  <a:srgbClr val="231F20"/>
                </a:solidFill>
                <a:latin typeface="Decalotype Bold"/>
                <a:ea typeface="Decalotype Bold"/>
                <a:cs typeface="Decalotype Bold"/>
                <a:sym typeface="Decalotype Bold"/>
              </a:rPr>
              <a:t>Mohamed Elsayed</a:t>
            </a:r>
          </a:p>
        </p:txBody>
      </p:sp>
      <p:sp>
        <p:nvSpPr>
          <p:cNvPr id="20" name="TextBox 20"/>
          <p:cNvSpPr txBox="1"/>
          <p:nvPr/>
        </p:nvSpPr>
        <p:spPr>
          <a:xfrm>
            <a:off x="15928480" y="8494374"/>
            <a:ext cx="1699855" cy="447410"/>
          </a:xfrm>
          <a:prstGeom prst="rect">
            <a:avLst/>
          </a:prstGeom>
        </p:spPr>
        <p:txBody>
          <a:bodyPr lIns="0" tIns="0" rIns="0" bIns="0" rtlCol="0" anchor="t">
            <a:spAutoFit/>
          </a:bodyPr>
          <a:lstStyle/>
          <a:p>
            <a:pPr algn="ctr">
              <a:lnSpc>
                <a:spcPts val="3689"/>
              </a:lnSpc>
              <a:spcBef>
                <a:spcPct val="0"/>
              </a:spcBef>
            </a:pPr>
            <a:r>
              <a:rPr lang="en-US" sz="2635" b="1" dirty="0">
                <a:solidFill>
                  <a:srgbClr val="231F20"/>
                </a:solidFill>
                <a:latin typeface="Decalotype Bold"/>
                <a:ea typeface="Decalotype Bold"/>
                <a:cs typeface="Decalotype Bold"/>
                <a:sym typeface="Decalotype Bold"/>
              </a:rPr>
              <a:t>Farah Magdy</a:t>
            </a:r>
          </a:p>
        </p:txBody>
      </p:sp>
      <p:sp>
        <p:nvSpPr>
          <p:cNvPr id="21" name="TextBox 21"/>
          <p:cNvSpPr txBox="1"/>
          <p:nvPr/>
        </p:nvSpPr>
        <p:spPr>
          <a:xfrm>
            <a:off x="8837805" y="9420225"/>
            <a:ext cx="2569607" cy="447410"/>
          </a:xfrm>
          <a:prstGeom prst="rect">
            <a:avLst/>
          </a:prstGeom>
        </p:spPr>
        <p:txBody>
          <a:bodyPr lIns="0" tIns="0" rIns="0" bIns="0" rtlCol="0" anchor="t">
            <a:spAutoFit/>
          </a:bodyPr>
          <a:lstStyle/>
          <a:p>
            <a:pPr algn="ctr">
              <a:lnSpc>
                <a:spcPts val="3689"/>
              </a:lnSpc>
              <a:spcBef>
                <a:spcPct val="0"/>
              </a:spcBef>
            </a:pPr>
            <a:r>
              <a:rPr lang="en-US" sz="2635" b="1" dirty="0">
                <a:solidFill>
                  <a:srgbClr val="231F20"/>
                </a:solidFill>
                <a:latin typeface="Decalotype Bold"/>
                <a:ea typeface="Decalotype Bold"/>
                <a:cs typeface="Decalotype Bold"/>
                <a:sym typeface="Decalotype Bold"/>
              </a:rPr>
              <a:t>Mohamed Abo Bakr</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500"/>
                                        <p:tgtEl>
                                          <p:spTgt spid="1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500"/>
                                        <p:tgtEl>
                                          <p:spTgt spid="3"/>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3"/>
                                        </p:tgtEl>
                                        <p:attrNameLst>
                                          <p:attrName>style.visibility</p:attrName>
                                        </p:attrNameLst>
                                      </p:cBhvr>
                                      <p:to>
                                        <p:strVal val="visible"/>
                                      </p:to>
                                    </p:set>
                                    <p:animEffect transition="in" filter="fade">
                                      <p:cBhvr>
                                        <p:cTn id="15" dur="500"/>
                                        <p:tgtEl>
                                          <p:spTgt spid="13"/>
                                        </p:tgtEl>
                                      </p:cBhvr>
                                    </p:animEffect>
                                  </p:childTnLst>
                                </p:cTn>
                              </p:par>
                              <p:par>
                                <p:cTn id="16" presetID="10" presetClass="entr" presetSubtype="0" fill="hold" nodeType="withEffect">
                                  <p:stCondLst>
                                    <p:cond delay="0"/>
                                  </p:stCondLst>
                                  <p:childTnLst>
                                    <p:set>
                                      <p:cBhvr>
                                        <p:cTn id="17" dur="1" fill="hold">
                                          <p:stCondLst>
                                            <p:cond delay="0"/>
                                          </p:stCondLst>
                                        </p:cTn>
                                        <p:tgtEl>
                                          <p:spTgt spid="20">
                                            <p:txEl>
                                              <p:pRg st="0" end="0"/>
                                            </p:txEl>
                                          </p:spTgt>
                                        </p:tgtEl>
                                        <p:attrNameLst>
                                          <p:attrName>style.visibility</p:attrName>
                                        </p:attrNameLst>
                                      </p:cBhvr>
                                      <p:to>
                                        <p:strVal val="visible"/>
                                      </p:to>
                                    </p:set>
                                    <p:animEffect transition="in" filter="fade">
                                      <p:cBhvr>
                                        <p:cTn id="18" dur="500"/>
                                        <p:tgtEl>
                                          <p:spTgt spid="20">
                                            <p:txEl>
                                              <p:pRg st="0" end="0"/>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5"/>
                                        </p:tgtEl>
                                        <p:attrNameLst>
                                          <p:attrName>style.visibility</p:attrName>
                                        </p:attrNameLst>
                                      </p:cBhvr>
                                      <p:to>
                                        <p:strVal val="visible"/>
                                      </p:to>
                                    </p:set>
                                    <p:animEffect transition="in" filter="fade">
                                      <p:cBhvr>
                                        <p:cTn id="23" dur="500"/>
                                        <p:tgtEl>
                                          <p:spTgt spid="5"/>
                                        </p:tgtEl>
                                      </p:cBhvr>
                                    </p:animEffect>
                                  </p:childTnLst>
                                </p:cTn>
                              </p:par>
                              <p:par>
                                <p:cTn id="24" presetID="10" presetClass="entr" presetSubtype="0" fill="hold" nodeType="withEffect">
                                  <p:stCondLst>
                                    <p:cond delay="0"/>
                                  </p:stCondLst>
                                  <p:childTnLst>
                                    <p:set>
                                      <p:cBhvr>
                                        <p:cTn id="25" dur="1" fill="hold">
                                          <p:stCondLst>
                                            <p:cond delay="0"/>
                                          </p:stCondLst>
                                        </p:cTn>
                                        <p:tgtEl>
                                          <p:spTgt spid="18">
                                            <p:txEl>
                                              <p:pRg st="0" end="0"/>
                                            </p:txEl>
                                          </p:spTgt>
                                        </p:tgtEl>
                                        <p:attrNameLst>
                                          <p:attrName>style.visibility</p:attrName>
                                        </p:attrNameLst>
                                      </p:cBhvr>
                                      <p:to>
                                        <p:strVal val="visible"/>
                                      </p:to>
                                    </p:set>
                                    <p:animEffect transition="in" filter="fade">
                                      <p:cBhvr>
                                        <p:cTn id="26" dur="500"/>
                                        <p:tgtEl>
                                          <p:spTgt spid="18">
                                            <p:txEl>
                                              <p:pRg st="0" end="0"/>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500"/>
                                        <p:tgtEl>
                                          <p:spTgt spid="1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1"/>
                                        </p:tgtEl>
                                        <p:attrNameLst>
                                          <p:attrName>style.visibility</p:attrName>
                                        </p:attrNameLst>
                                      </p:cBhvr>
                                      <p:to>
                                        <p:strVal val="visible"/>
                                      </p:to>
                                    </p:set>
                                    <p:animEffect transition="in" filter="fade">
                                      <p:cBhvr>
                                        <p:cTn id="34" dur="500"/>
                                        <p:tgtEl>
                                          <p:spTgt spid="21"/>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7"/>
                                        </p:tgtEl>
                                        <p:attrNameLst>
                                          <p:attrName>style.visibility</p:attrName>
                                        </p:attrNameLst>
                                      </p:cBhvr>
                                      <p:to>
                                        <p:strVal val="visible"/>
                                      </p:to>
                                    </p:set>
                                    <p:animEffect transition="in" filter="fade">
                                      <p:cBhvr>
                                        <p:cTn id="39" dur="500"/>
                                        <p:tgtEl>
                                          <p:spTgt spid="7"/>
                                        </p:tgtEl>
                                      </p:cBhvr>
                                    </p:animEffect>
                                  </p:childTnLst>
                                </p:cTn>
                              </p:par>
                              <p:par>
                                <p:cTn id="40" presetID="10" presetClass="entr" presetSubtype="0" fill="hold" nodeType="withEffect">
                                  <p:stCondLst>
                                    <p:cond delay="0"/>
                                  </p:stCondLst>
                                  <p:childTnLst>
                                    <p:set>
                                      <p:cBhvr>
                                        <p:cTn id="41" dur="1" fill="hold">
                                          <p:stCondLst>
                                            <p:cond delay="0"/>
                                          </p:stCondLst>
                                        </p:cTn>
                                        <p:tgtEl>
                                          <p:spTgt spid="17">
                                            <p:txEl>
                                              <p:pRg st="0" end="0"/>
                                            </p:txEl>
                                          </p:spTgt>
                                        </p:tgtEl>
                                        <p:attrNameLst>
                                          <p:attrName>style.visibility</p:attrName>
                                        </p:attrNameLst>
                                      </p:cBhvr>
                                      <p:to>
                                        <p:strVal val="visible"/>
                                      </p:to>
                                    </p:set>
                                    <p:animEffect transition="in" filter="fade">
                                      <p:cBhvr>
                                        <p:cTn id="42" dur="500"/>
                                        <p:tgtEl>
                                          <p:spTgt spid="17">
                                            <p:txEl>
                                              <p:pRg st="0" end="0"/>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9"/>
                                        </p:tgtEl>
                                        <p:attrNameLst>
                                          <p:attrName>style.visibility</p:attrName>
                                        </p:attrNameLst>
                                      </p:cBhvr>
                                      <p:to>
                                        <p:strVal val="visible"/>
                                      </p:to>
                                    </p:set>
                                    <p:animEffect transition="in" filter="fade">
                                      <p:cBhvr>
                                        <p:cTn id="47" dur="500"/>
                                        <p:tgtEl>
                                          <p:spTgt spid="9"/>
                                        </p:tgtEl>
                                      </p:cBhvr>
                                    </p:animEffect>
                                  </p:childTnLst>
                                </p:cTn>
                              </p:par>
                              <p:par>
                                <p:cTn id="48" presetID="10" presetClass="entr" presetSubtype="0" fill="hold" nodeType="withEffect">
                                  <p:stCondLst>
                                    <p:cond delay="0"/>
                                  </p:stCondLst>
                                  <p:childTnLst>
                                    <p:set>
                                      <p:cBhvr>
                                        <p:cTn id="49" dur="1" fill="hold">
                                          <p:stCondLst>
                                            <p:cond delay="0"/>
                                          </p:stCondLst>
                                        </p:cTn>
                                        <p:tgtEl>
                                          <p:spTgt spid="19">
                                            <p:txEl>
                                              <p:pRg st="0" end="0"/>
                                            </p:txEl>
                                          </p:spTgt>
                                        </p:tgtEl>
                                        <p:attrNameLst>
                                          <p:attrName>style.visibility</p:attrName>
                                        </p:attrNameLst>
                                      </p:cBhvr>
                                      <p:to>
                                        <p:strVal val="visible"/>
                                      </p:to>
                                    </p:set>
                                    <p:animEffect transition="in" filter="fade">
                                      <p:cBhvr>
                                        <p:cTn id="50" dur="500"/>
                                        <p:tgtEl>
                                          <p:spTgt spid="1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6" grpId="0"/>
      <p:bldP spid="21"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E7E7E7"/>
        </a:solidFill>
        <a:effectLst/>
      </p:bgPr>
    </p:bg>
    <p:spTree>
      <p:nvGrpSpPr>
        <p:cNvPr id="1" name=""/>
        <p:cNvGrpSpPr/>
        <p:nvPr/>
      </p:nvGrpSpPr>
      <p:grpSpPr>
        <a:xfrm>
          <a:off x="0" y="0"/>
          <a:ext cx="0" cy="0"/>
          <a:chOff x="0" y="0"/>
          <a:chExt cx="0" cy="0"/>
        </a:xfrm>
      </p:grpSpPr>
      <p:sp>
        <p:nvSpPr>
          <p:cNvPr id="4" name="Freeform 4"/>
          <p:cNvSpPr/>
          <p:nvPr/>
        </p:nvSpPr>
        <p:spPr>
          <a:xfrm>
            <a:off x="12649200" y="419100"/>
            <a:ext cx="1068236" cy="1068236"/>
          </a:xfrm>
          <a:custGeom>
            <a:avLst/>
            <a:gdLst/>
            <a:ahLst/>
            <a:cxnLst/>
            <a:rect l="l" t="t" r="r" b="b"/>
            <a:pathLst>
              <a:path w="1068236" h="1068236">
                <a:moveTo>
                  <a:pt x="0" y="0"/>
                </a:moveTo>
                <a:lnTo>
                  <a:pt x="1068236" y="0"/>
                </a:lnTo>
                <a:lnTo>
                  <a:pt x="1068236" y="1068236"/>
                </a:lnTo>
                <a:lnTo>
                  <a:pt x="0" y="1068236"/>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dirty="0"/>
          </a:p>
        </p:txBody>
      </p:sp>
      <p:sp>
        <p:nvSpPr>
          <p:cNvPr id="5" name="TextBox 5"/>
          <p:cNvSpPr txBox="1"/>
          <p:nvPr/>
        </p:nvSpPr>
        <p:spPr>
          <a:xfrm>
            <a:off x="2209800" y="690626"/>
            <a:ext cx="12142840" cy="1821011"/>
          </a:xfrm>
          <a:prstGeom prst="rect">
            <a:avLst/>
          </a:prstGeom>
        </p:spPr>
        <p:txBody>
          <a:bodyPr wrap="square" lIns="0" tIns="0" rIns="0" bIns="0" rtlCol="0" anchor="t">
            <a:spAutoFit/>
          </a:bodyPr>
          <a:lstStyle/>
          <a:p>
            <a:pPr algn="ctr" rtl="1">
              <a:lnSpc>
                <a:spcPts val="7139"/>
              </a:lnSpc>
            </a:pPr>
            <a:r>
              <a:rPr lang="ar-EG" sz="8800" b="1" dirty="0">
                <a:solidFill>
                  <a:srgbClr val="000000"/>
                </a:solidFill>
                <a:latin typeface="Gagalin" panose="020B0604020202020204" charset="0"/>
                <a:ea typeface="Oswald Bold"/>
                <a:cs typeface="Oswald Bold"/>
                <a:sym typeface="Oswald Bold"/>
                <a:rtl/>
              </a:rPr>
              <a:t> </a:t>
            </a:r>
            <a:r>
              <a:rPr lang="en-US" sz="8800" b="1" dirty="0">
                <a:solidFill>
                  <a:srgbClr val="000000"/>
                </a:solidFill>
                <a:latin typeface="Gagalin" panose="020B0604020202020204" charset="0"/>
                <a:ea typeface="Oswald Bold"/>
                <a:cs typeface="Oswald Bold"/>
                <a:sym typeface="Oswald Bold"/>
                <a:rtl/>
              </a:rPr>
              <a:t>Project Overview </a:t>
            </a:r>
            <a:endParaRPr lang="en-US" sz="8800" b="1" dirty="0">
              <a:solidFill>
                <a:srgbClr val="000000"/>
              </a:solidFill>
              <a:latin typeface="Gagalin" panose="020B0604020202020204" charset="0"/>
              <a:ea typeface="Oswald Bold"/>
              <a:cs typeface="Oswald Bold"/>
              <a:sym typeface="Oswald Bold"/>
            </a:endParaRPr>
          </a:p>
          <a:p>
            <a:pPr algn="ctr" rtl="1">
              <a:lnSpc>
                <a:spcPts val="7139"/>
              </a:lnSpc>
              <a:spcBef>
                <a:spcPct val="0"/>
              </a:spcBef>
            </a:pPr>
            <a:endParaRPr lang="en-US" sz="7200" b="1" dirty="0">
              <a:solidFill>
                <a:srgbClr val="000000"/>
              </a:solidFill>
              <a:latin typeface="Oswald Bold"/>
              <a:ea typeface="Oswald Bold"/>
              <a:cs typeface="Oswald Bold"/>
              <a:sym typeface="Oswald Bold"/>
            </a:endParaRPr>
          </a:p>
        </p:txBody>
      </p:sp>
      <p:sp>
        <p:nvSpPr>
          <p:cNvPr id="8" name="TextBox 7">
            <a:extLst>
              <a:ext uri="{FF2B5EF4-FFF2-40B4-BE49-F238E27FC236}">
                <a16:creationId xmlns:a16="http://schemas.microsoft.com/office/drawing/2014/main" id="{0F07D21A-8D4D-69BE-0A88-8E120B0BB8C8}"/>
              </a:ext>
            </a:extLst>
          </p:cNvPr>
          <p:cNvSpPr txBox="1"/>
          <p:nvPr/>
        </p:nvSpPr>
        <p:spPr>
          <a:xfrm>
            <a:off x="1737851" y="2191228"/>
            <a:ext cx="13868400" cy="4031873"/>
          </a:xfrm>
          <a:prstGeom prst="rect">
            <a:avLst/>
          </a:prstGeom>
          <a:noFill/>
        </p:spPr>
        <p:txBody>
          <a:bodyPr wrap="square" rtlCol="0">
            <a:spAutoFit/>
          </a:bodyPr>
          <a:lstStyle/>
          <a:p>
            <a:pPr algn="ctr"/>
            <a:r>
              <a:rPr lang="en-US" sz="3200" b="1" dirty="0">
                <a:latin typeface="Decalotype" panose="020B0604020202020204" charset="0"/>
                <a:cs typeface="Arial" panose="020B0604020202020204" pitchFamily="34" charset="0"/>
              </a:rPr>
              <a:t>The project addresses key challenges in manufacturing operations by identifying inefficiencies in machine performance. It helps reduce downtime by highlighting underperforming machines and production delays. The analysis optimizes material usage, minimizing waste and lowering costs. It provides visibility into processing time variations across machines. The dashboard supports better decision-making by uncovering bottlenecks in the production process. Overall, it improves productivity, reduces operational costs, and enhances overall manufacturing efficiency</a:t>
            </a:r>
            <a:r>
              <a:rPr lang="ar-EG" sz="3200" b="1" dirty="0">
                <a:latin typeface="Decalotype" panose="020B0604020202020204" charset="0"/>
                <a:cs typeface="Arial" panose="020B0604020202020204" pitchFamily="34" charset="0"/>
              </a:rPr>
              <a:t>.</a:t>
            </a:r>
            <a:endParaRPr lang="en-US" sz="3200" b="1" dirty="0">
              <a:latin typeface="Decalotype" panose="020B0604020202020204" charset="0"/>
              <a:cs typeface="Arial" panose="020B0604020202020204" pitchFamily="34" charset="0"/>
            </a:endParaRPr>
          </a:p>
        </p:txBody>
      </p:sp>
      <p:sp>
        <p:nvSpPr>
          <p:cNvPr id="9" name="Freeform 7">
            <a:extLst>
              <a:ext uri="{FF2B5EF4-FFF2-40B4-BE49-F238E27FC236}">
                <a16:creationId xmlns:a16="http://schemas.microsoft.com/office/drawing/2014/main" id="{A6792E3F-91BA-67F5-3111-B9376BC3D5C8}"/>
              </a:ext>
            </a:extLst>
          </p:cNvPr>
          <p:cNvSpPr/>
          <p:nvPr/>
        </p:nvSpPr>
        <p:spPr>
          <a:xfrm>
            <a:off x="14630400" y="-2183219"/>
            <a:ext cx="5214119" cy="5204638"/>
          </a:xfrm>
          <a:custGeom>
            <a:avLst/>
            <a:gdLst/>
            <a:ahLst/>
            <a:cxnLst/>
            <a:rect l="l" t="t" r="r" b="b"/>
            <a:pathLst>
              <a:path w="5214119" h="5204638">
                <a:moveTo>
                  <a:pt x="0" y="0"/>
                </a:moveTo>
                <a:lnTo>
                  <a:pt x="5214118" y="0"/>
                </a:lnTo>
                <a:lnTo>
                  <a:pt x="5214118" y="5204639"/>
                </a:lnTo>
                <a:lnTo>
                  <a:pt x="0" y="5204639"/>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0" name="Freeform 5">
            <a:extLst>
              <a:ext uri="{FF2B5EF4-FFF2-40B4-BE49-F238E27FC236}">
                <a16:creationId xmlns:a16="http://schemas.microsoft.com/office/drawing/2014/main" id="{F03AA9D4-08C6-4249-2B8B-F79AA695E65E}"/>
              </a:ext>
            </a:extLst>
          </p:cNvPr>
          <p:cNvSpPr/>
          <p:nvPr/>
        </p:nvSpPr>
        <p:spPr>
          <a:xfrm>
            <a:off x="9775037" y="6964076"/>
            <a:ext cx="8512963" cy="3329069"/>
          </a:xfrm>
          <a:custGeom>
            <a:avLst/>
            <a:gdLst/>
            <a:ahLst/>
            <a:cxnLst/>
            <a:rect l="l" t="t" r="r" b="b"/>
            <a:pathLst>
              <a:path w="5769763" h="2817267">
                <a:moveTo>
                  <a:pt x="0" y="0"/>
                </a:moveTo>
                <a:lnTo>
                  <a:pt x="5769763" y="0"/>
                </a:lnTo>
                <a:lnTo>
                  <a:pt x="5769763" y="2817268"/>
                </a:lnTo>
                <a:lnTo>
                  <a:pt x="0" y="2817268"/>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US"/>
          </a:p>
        </p:txBody>
      </p:sp>
      <p:sp>
        <p:nvSpPr>
          <p:cNvPr id="11" name="Freeform 6">
            <a:extLst>
              <a:ext uri="{FF2B5EF4-FFF2-40B4-BE49-F238E27FC236}">
                <a16:creationId xmlns:a16="http://schemas.microsoft.com/office/drawing/2014/main" id="{9A1E7252-E587-2AAF-DBEA-B8A32589C93C}"/>
              </a:ext>
            </a:extLst>
          </p:cNvPr>
          <p:cNvSpPr/>
          <p:nvPr/>
        </p:nvSpPr>
        <p:spPr>
          <a:xfrm>
            <a:off x="1737851" y="6238027"/>
            <a:ext cx="4114800" cy="3602145"/>
          </a:xfrm>
          <a:custGeom>
            <a:avLst/>
            <a:gdLst/>
            <a:ahLst/>
            <a:cxnLst/>
            <a:rect l="l" t="t" r="r" b="b"/>
            <a:pathLst>
              <a:path w="2866125" h="2708489">
                <a:moveTo>
                  <a:pt x="0" y="0"/>
                </a:moveTo>
                <a:lnTo>
                  <a:pt x="2866126" y="0"/>
                </a:lnTo>
                <a:lnTo>
                  <a:pt x="2866126" y="2708489"/>
                </a:lnTo>
                <a:lnTo>
                  <a:pt x="0" y="2708489"/>
                </a:lnTo>
                <a:lnTo>
                  <a:pt x="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p:bldP spid="8"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t="-15111" b="-15111"/>
            </a:stretch>
          </a:blipFill>
        </p:spPr>
        <p:txBody>
          <a:bodyPr/>
          <a:lstStyle/>
          <a:p>
            <a:endParaRPr lang="en-US"/>
          </a:p>
        </p:txBody>
      </p:sp>
      <p:grpSp>
        <p:nvGrpSpPr>
          <p:cNvPr id="3" name="Group 3"/>
          <p:cNvGrpSpPr/>
          <p:nvPr/>
        </p:nvGrpSpPr>
        <p:grpSpPr>
          <a:xfrm>
            <a:off x="10761348" y="0"/>
            <a:ext cx="7526652" cy="10287000"/>
            <a:chOff x="0" y="0"/>
            <a:chExt cx="1149315" cy="1570819"/>
          </a:xfrm>
        </p:grpSpPr>
        <p:sp>
          <p:nvSpPr>
            <p:cNvPr id="4" name="Freeform 4"/>
            <p:cNvSpPr/>
            <p:nvPr/>
          </p:nvSpPr>
          <p:spPr>
            <a:xfrm>
              <a:off x="0" y="0"/>
              <a:ext cx="1149315" cy="1570819"/>
            </a:xfrm>
            <a:custGeom>
              <a:avLst/>
              <a:gdLst/>
              <a:ahLst/>
              <a:cxnLst/>
              <a:rect l="l" t="t" r="r" b="b"/>
              <a:pathLst>
                <a:path w="1149315" h="1570819">
                  <a:moveTo>
                    <a:pt x="0" y="0"/>
                  </a:moveTo>
                  <a:lnTo>
                    <a:pt x="1149315" y="0"/>
                  </a:lnTo>
                  <a:lnTo>
                    <a:pt x="1149315" y="1570819"/>
                  </a:lnTo>
                  <a:lnTo>
                    <a:pt x="0" y="1570819"/>
                  </a:lnTo>
                  <a:close/>
                </a:path>
              </a:pathLst>
            </a:custGeom>
            <a:blipFill>
              <a:blip r:embed="rId3"/>
              <a:stretch>
                <a:fillRect t="-5276" b="-5276"/>
              </a:stretch>
            </a:blipFill>
            <a:ln cap="sq">
              <a:noFill/>
              <a:prstDash val="solid"/>
              <a:miter/>
            </a:ln>
          </p:spPr>
          <p:txBody>
            <a:bodyPr/>
            <a:lstStyle/>
            <a:p>
              <a:endParaRPr lang="en-US"/>
            </a:p>
          </p:txBody>
        </p:sp>
      </p:grpSp>
      <p:sp>
        <p:nvSpPr>
          <p:cNvPr id="5" name="Freeform 5"/>
          <p:cNvSpPr/>
          <p:nvPr/>
        </p:nvSpPr>
        <p:spPr>
          <a:xfrm>
            <a:off x="1028700" y="392316"/>
            <a:ext cx="2571750" cy="2057400"/>
          </a:xfrm>
          <a:custGeom>
            <a:avLst/>
            <a:gdLst/>
            <a:ahLst/>
            <a:cxnLst/>
            <a:rect l="l" t="t" r="r" b="b"/>
            <a:pathLst>
              <a:path w="2571750" h="2057400">
                <a:moveTo>
                  <a:pt x="0" y="0"/>
                </a:moveTo>
                <a:lnTo>
                  <a:pt x="2571750" y="0"/>
                </a:lnTo>
                <a:lnTo>
                  <a:pt x="2571750" y="2057400"/>
                </a:lnTo>
                <a:lnTo>
                  <a:pt x="0" y="2057400"/>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6" name="TextBox 6"/>
          <p:cNvSpPr txBox="1"/>
          <p:nvPr/>
        </p:nvSpPr>
        <p:spPr>
          <a:xfrm>
            <a:off x="381000" y="2568632"/>
            <a:ext cx="9182100" cy="2487861"/>
          </a:xfrm>
          <a:prstGeom prst="rect">
            <a:avLst/>
          </a:prstGeom>
        </p:spPr>
        <p:txBody>
          <a:bodyPr wrap="square" lIns="0" tIns="0" rIns="0" bIns="0" rtlCol="0" anchor="t">
            <a:spAutoFit/>
          </a:bodyPr>
          <a:lstStyle/>
          <a:p>
            <a:pPr algn="l">
              <a:lnSpc>
                <a:spcPts val="9684"/>
              </a:lnSpc>
            </a:pPr>
            <a:r>
              <a:rPr lang="en-US" sz="8724" b="1" dirty="0">
                <a:solidFill>
                  <a:srgbClr val="000000"/>
                </a:solidFill>
                <a:latin typeface="Gagalin" panose="020B0604020202020204" charset="0"/>
                <a:ea typeface="Oswald Bold"/>
                <a:cs typeface="Oswald Bold"/>
                <a:sym typeface="Oswald Bold"/>
              </a:rPr>
              <a:t>Data Acquisition</a:t>
            </a:r>
          </a:p>
          <a:p>
            <a:pPr marL="0" lvl="0" indent="0" algn="l">
              <a:lnSpc>
                <a:spcPts val="9684"/>
              </a:lnSpc>
            </a:pPr>
            <a:endParaRPr lang="en-US" sz="8724" b="1" dirty="0">
              <a:solidFill>
                <a:srgbClr val="000000"/>
              </a:solidFill>
              <a:latin typeface="Oswald Bold"/>
              <a:ea typeface="Oswald Bold"/>
              <a:cs typeface="Oswald Bold"/>
              <a:sym typeface="Oswald Bold"/>
            </a:endParaRPr>
          </a:p>
        </p:txBody>
      </p:sp>
      <p:sp>
        <p:nvSpPr>
          <p:cNvPr id="7" name="TextBox 7"/>
          <p:cNvSpPr txBox="1"/>
          <p:nvPr/>
        </p:nvSpPr>
        <p:spPr>
          <a:xfrm>
            <a:off x="242388" y="3946276"/>
            <a:ext cx="10320122" cy="5558199"/>
          </a:xfrm>
          <a:prstGeom prst="rect">
            <a:avLst/>
          </a:prstGeom>
        </p:spPr>
        <p:txBody>
          <a:bodyPr lIns="0" tIns="0" rIns="0" bIns="0" rtlCol="0" anchor="t">
            <a:spAutoFit/>
          </a:bodyPr>
          <a:lstStyle/>
          <a:p>
            <a:pPr algn="l">
              <a:lnSpc>
                <a:spcPts val="3392"/>
              </a:lnSpc>
            </a:pPr>
            <a:r>
              <a:rPr lang="en-US" sz="2423" b="1" dirty="0">
                <a:solidFill>
                  <a:srgbClr val="000000"/>
                </a:solidFill>
                <a:latin typeface="Decalotype Bold"/>
                <a:ea typeface="Decalotype Bold"/>
                <a:cs typeface="Decalotype Bold"/>
                <a:sym typeface="Decalotype Bold"/>
              </a:rPr>
              <a:t> 1.Administrative Data (Internal):</a:t>
            </a:r>
          </a:p>
          <a:p>
            <a:pPr algn="just">
              <a:lnSpc>
                <a:spcPts val="3392"/>
              </a:lnSpc>
            </a:pPr>
            <a:r>
              <a:rPr lang="en-US" sz="2423" dirty="0">
                <a:solidFill>
                  <a:srgbClr val="000000"/>
                </a:solidFill>
                <a:latin typeface="Decalotype"/>
                <a:ea typeface="Decalotype"/>
                <a:cs typeface="Decalotype"/>
                <a:sym typeface="Decalotype"/>
              </a:rPr>
              <a:t>• Consists of organizational data from the initiative, including production    </a:t>
            </a:r>
          </a:p>
          <a:p>
            <a:pPr algn="just">
              <a:lnSpc>
                <a:spcPts val="3392"/>
              </a:lnSpc>
            </a:pPr>
            <a:r>
              <a:rPr lang="en-US" sz="2423" dirty="0">
                <a:solidFill>
                  <a:srgbClr val="000000"/>
                </a:solidFill>
                <a:latin typeface="Decalotype"/>
                <a:ea typeface="Decalotype"/>
                <a:cs typeface="Decalotype"/>
                <a:sym typeface="Decalotype"/>
              </a:rPr>
              <a:t>targets, employee shifts, and resource schedules.</a:t>
            </a:r>
          </a:p>
          <a:p>
            <a:pPr algn="just">
              <a:lnSpc>
                <a:spcPts val="3392"/>
              </a:lnSpc>
            </a:pPr>
            <a:endParaRPr lang="en-US" sz="2423" dirty="0">
              <a:solidFill>
                <a:srgbClr val="000000"/>
              </a:solidFill>
              <a:latin typeface="Decalotype"/>
              <a:ea typeface="Decalotype"/>
              <a:cs typeface="Decalotype"/>
              <a:sym typeface="Decalotype"/>
            </a:endParaRPr>
          </a:p>
          <a:p>
            <a:pPr algn="just">
              <a:lnSpc>
                <a:spcPts val="3392"/>
              </a:lnSpc>
            </a:pPr>
            <a:r>
              <a:rPr lang="en-US" sz="2423" b="1" dirty="0">
                <a:solidFill>
                  <a:srgbClr val="000000"/>
                </a:solidFill>
                <a:latin typeface="Decalotype Bold"/>
                <a:ea typeface="Decalotype Bold"/>
                <a:cs typeface="Decalotype Bold"/>
                <a:sym typeface="Decalotype Bold"/>
              </a:rPr>
              <a:t> 2. Operational Data (External):</a:t>
            </a:r>
            <a:r>
              <a:rPr lang="en-US" sz="2423" dirty="0">
                <a:solidFill>
                  <a:srgbClr val="000000"/>
                </a:solidFill>
                <a:latin typeface="Decalotype"/>
                <a:ea typeface="Decalotype"/>
                <a:cs typeface="Decalotype"/>
                <a:sym typeface="Decalotype"/>
              </a:rPr>
              <a:t> </a:t>
            </a:r>
          </a:p>
          <a:p>
            <a:pPr algn="just">
              <a:lnSpc>
                <a:spcPts val="3392"/>
              </a:lnSpc>
            </a:pPr>
            <a:r>
              <a:rPr lang="en-US" sz="2423" dirty="0">
                <a:solidFill>
                  <a:srgbClr val="000000"/>
                </a:solidFill>
                <a:latin typeface="Decalotype"/>
                <a:ea typeface="Decalotype"/>
                <a:cs typeface="Decalotype"/>
                <a:sym typeface="Decalotype"/>
              </a:rPr>
              <a:t>•Sourced from Kaggle, consisting of real-time machine performance, sensor readings (temperature/pressure), and actual production output.</a:t>
            </a:r>
          </a:p>
          <a:p>
            <a:pPr algn="just">
              <a:lnSpc>
                <a:spcPts val="3392"/>
              </a:lnSpc>
            </a:pPr>
            <a:r>
              <a:rPr lang="en-US" sz="2423" dirty="0">
                <a:solidFill>
                  <a:srgbClr val="000000"/>
                </a:solidFill>
                <a:latin typeface="Decalotype"/>
                <a:ea typeface="Decalotype"/>
                <a:cs typeface="Decalotype"/>
                <a:sym typeface="Decalotype"/>
              </a:rPr>
              <a:t>• Data Link:  https://www.kaggle.com/datasets/ziya07/manufacturing-production-data</a:t>
            </a:r>
          </a:p>
          <a:p>
            <a:pPr algn="just">
              <a:lnSpc>
                <a:spcPts val="3392"/>
              </a:lnSpc>
            </a:pPr>
            <a:endParaRPr lang="en-US" sz="2423" dirty="0">
              <a:solidFill>
                <a:srgbClr val="000000"/>
              </a:solidFill>
              <a:latin typeface="Decalotype"/>
              <a:ea typeface="Decalotype"/>
              <a:cs typeface="Decalotype"/>
              <a:sym typeface="Decalotype"/>
            </a:endParaRPr>
          </a:p>
          <a:p>
            <a:pPr algn="just">
              <a:lnSpc>
                <a:spcPts val="3392"/>
              </a:lnSpc>
            </a:pPr>
            <a:r>
              <a:rPr lang="en-US" sz="2423" b="1" dirty="0">
                <a:solidFill>
                  <a:srgbClr val="000000"/>
                </a:solidFill>
                <a:latin typeface="Decalotype Bold"/>
                <a:ea typeface="Decalotype Bold"/>
                <a:cs typeface="Decalotype Bold"/>
                <a:sym typeface="Decalotype Bold"/>
              </a:rPr>
              <a:t>3. Method:</a:t>
            </a:r>
            <a:r>
              <a:rPr lang="en-US" sz="2423" dirty="0">
                <a:solidFill>
                  <a:srgbClr val="000000"/>
                </a:solidFill>
                <a:latin typeface="Decalotype"/>
                <a:ea typeface="Decalotype"/>
                <a:cs typeface="Decalotype"/>
                <a:sym typeface="Decalotype"/>
              </a:rPr>
              <a:t> </a:t>
            </a:r>
          </a:p>
          <a:p>
            <a:pPr algn="just">
              <a:lnSpc>
                <a:spcPts val="3392"/>
              </a:lnSpc>
            </a:pPr>
            <a:r>
              <a:rPr lang="en-US" sz="2423" dirty="0">
                <a:solidFill>
                  <a:srgbClr val="000000"/>
                </a:solidFill>
                <a:latin typeface="Decalotype"/>
                <a:ea typeface="Decalotype"/>
                <a:cs typeface="Decalotype"/>
                <a:sym typeface="Decalotype"/>
              </a:rPr>
              <a:t>• Data was extracted and imported into Power BI using Power Query to integrate internal administrative files with external operational datasets.</a:t>
            </a:r>
          </a:p>
          <a:p>
            <a:pPr algn="ctr">
              <a:lnSpc>
                <a:spcPts val="3392"/>
              </a:lnSpc>
              <a:spcBef>
                <a:spcPct val="0"/>
              </a:spcBef>
            </a:pPr>
            <a:endParaRPr lang="en-US" sz="2423" dirty="0">
              <a:solidFill>
                <a:srgbClr val="000000"/>
              </a:solidFill>
              <a:latin typeface="Decalotype"/>
              <a:ea typeface="Decalotype"/>
              <a:cs typeface="Decalotype"/>
              <a:sym typeface="Decalotype"/>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7">
                                            <p:txEl>
                                              <p:pRg st="0" end="0"/>
                                            </p:txEl>
                                          </p:spTgt>
                                        </p:tgtEl>
                                        <p:attrNameLst>
                                          <p:attrName>style.visibility</p:attrName>
                                        </p:attrNameLst>
                                      </p:cBhvr>
                                      <p:to>
                                        <p:strVal val="visible"/>
                                      </p:to>
                                    </p:set>
                                    <p:animEffect transition="in" filter="fade">
                                      <p:cBhvr>
                                        <p:cTn id="15" dur="500"/>
                                        <p:tgtEl>
                                          <p:spTgt spid="7">
                                            <p:txEl>
                                              <p:pRg st="0" end="0"/>
                                            </p:txEl>
                                          </p:spTgt>
                                        </p:tgtEl>
                                      </p:cBhvr>
                                    </p:animEffect>
                                  </p:childTnLst>
                                </p:cTn>
                              </p:par>
                              <p:par>
                                <p:cTn id="16" presetID="10" presetClass="entr" presetSubtype="0" fill="hold" nodeType="withEffect">
                                  <p:stCondLst>
                                    <p:cond delay="0"/>
                                  </p:stCondLst>
                                  <p:childTnLst>
                                    <p:set>
                                      <p:cBhvr>
                                        <p:cTn id="17" dur="1" fill="hold">
                                          <p:stCondLst>
                                            <p:cond delay="0"/>
                                          </p:stCondLst>
                                        </p:cTn>
                                        <p:tgtEl>
                                          <p:spTgt spid="7">
                                            <p:txEl>
                                              <p:pRg st="1" end="1"/>
                                            </p:txEl>
                                          </p:spTgt>
                                        </p:tgtEl>
                                        <p:attrNameLst>
                                          <p:attrName>style.visibility</p:attrName>
                                        </p:attrNameLst>
                                      </p:cBhvr>
                                      <p:to>
                                        <p:strVal val="visible"/>
                                      </p:to>
                                    </p:set>
                                    <p:animEffect transition="in" filter="fade">
                                      <p:cBhvr>
                                        <p:cTn id="18" dur="500"/>
                                        <p:tgtEl>
                                          <p:spTgt spid="7">
                                            <p:txEl>
                                              <p:pRg st="1" end="1"/>
                                            </p:txEl>
                                          </p:spTgt>
                                        </p:tgtEl>
                                      </p:cBhvr>
                                    </p:animEffect>
                                  </p:childTnLst>
                                </p:cTn>
                              </p:par>
                              <p:par>
                                <p:cTn id="19" presetID="10" presetClass="entr" presetSubtype="0" fill="hold" nodeType="withEffect">
                                  <p:stCondLst>
                                    <p:cond delay="0"/>
                                  </p:stCondLst>
                                  <p:childTnLst>
                                    <p:set>
                                      <p:cBhvr>
                                        <p:cTn id="20" dur="1" fill="hold">
                                          <p:stCondLst>
                                            <p:cond delay="0"/>
                                          </p:stCondLst>
                                        </p:cTn>
                                        <p:tgtEl>
                                          <p:spTgt spid="7">
                                            <p:txEl>
                                              <p:pRg st="2" end="2"/>
                                            </p:txEl>
                                          </p:spTgt>
                                        </p:tgtEl>
                                        <p:attrNameLst>
                                          <p:attrName>style.visibility</p:attrName>
                                        </p:attrNameLst>
                                      </p:cBhvr>
                                      <p:to>
                                        <p:strVal val="visible"/>
                                      </p:to>
                                    </p:set>
                                    <p:animEffect transition="in" filter="fade">
                                      <p:cBhvr>
                                        <p:cTn id="21" dur="500"/>
                                        <p:tgtEl>
                                          <p:spTgt spid="7">
                                            <p:txEl>
                                              <p:pRg st="2" end="2"/>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7">
                                            <p:txEl>
                                              <p:pRg st="4" end="4"/>
                                            </p:txEl>
                                          </p:spTgt>
                                        </p:tgtEl>
                                        <p:attrNameLst>
                                          <p:attrName>style.visibility</p:attrName>
                                        </p:attrNameLst>
                                      </p:cBhvr>
                                      <p:to>
                                        <p:strVal val="visible"/>
                                      </p:to>
                                    </p:set>
                                    <p:animEffect transition="in" filter="fade">
                                      <p:cBhvr>
                                        <p:cTn id="26" dur="500"/>
                                        <p:tgtEl>
                                          <p:spTgt spid="7">
                                            <p:txEl>
                                              <p:pRg st="4" end="4"/>
                                            </p:txEl>
                                          </p:spTgt>
                                        </p:tgtEl>
                                      </p:cBhvr>
                                    </p:animEffect>
                                  </p:childTnLst>
                                </p:cTn>
                              </p:par>
                              <p:par>
                                <p:cTn id="27" presetID="10" presetClass="entr" presetSubtype="0" fill="hold" nodeType="withEffect">
                                  <p:stCondLst>
                                    <p:cond delay="0"/>
                                  </p:stCondLst>
                                  <p:childTnLst>
                                    <p:set>
                                      <p:cBhvr>
                                        <p:cTn id="28" dur="1" fill="hold">
                                          <p:stCondLst>
                                            <p:cond delay="0"/>
                                          </p:stCondLst>
                                        </p:cTn>
                                        <p:tgtEl>
                                          <p:spTgt spid="7">
                                            <p:txEl>
                                              <p:pRg st="5" end="5"/>
                                            </p:txEl>
                                          </p:spTgt>
                                        </p:tgtEl>
                                        <p:attrNameLst>
                                          <p:attrName>style.visibility</p:attrName>
                                        </p:attrNameLst>
                                      </p:cBhvr>
                                      <p:to>
                                        <p:strVal val="visible"/>
                                      </p:to>
                                    </p:set>
                                    <p:animEffect transition="in" filter="fade">
                                      <p:cBhvr>
                                        <p:cTn id="29" dur="500"/>
                                        <p:tgtEl>
                                          <p:spTgt spid="7">
                                            <p:txEl>
                                              <p:pRg st="5" end="5"/>
                                            </p:txEl>
                                          </p:spTgt>
                                        </p:tgtEl>
                                      </p:cBhvr>
                                    </p:animEffect>
                                  </p:childTnLst>
                                </p:cTn>
                              </p:par>
                              <p:par>
                                <p:cTn id="30" presetID="10" presetClass="entr" presetSubtype="0" fill="hold" nodeType="withEffect">
                                  <p:stCondLst>
                                    <p:cond delay="0"/>
                                  </p:stCondLst>
                                  <p:childTnLst>
                                    <p:set>
                                      <p:cBhvr>
                                        <p:cTn id="31" dur="1" fill="hold">
                                          <p:stCondLst>
                                            <p:cond delay="0"/>
                                          </p:stCondLst>
                                        </p:cTn>
                                        <p:tgtEl>
                                          <p:spTgt spid="7">
                                            <p:txEl>
                                              <p:pRg st="6" end="6"/>
                                            </p:txEl>
                                          </p:spTgt>
                                        </p:tgtEl>
                                        <p:attrNameLst>
                                          <p:attrName>style.visibility</p:attrName>
                                        </p:attrNameLst>
                                      </p:cBhvr>
                                      <p:to>
                                        <p:strVal val="visible"/>
                                      </p:to>
                                    </p:set>
                                    <p:animEffect transition="in" filter="fade">
                                      <p:cBhvr>
                                        <p:cTn id="32" dur="500"/>
                                        <p:tgtEl>
                                          <p:spTgt spid="7">
                                            <p:txEl>
                                              <p:pRg st="6" end="6"/>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7">
                                            <p:txEl>
                                              <p:pRg st="8" end="8"/>
                                            </p:txEl>
                                          </p:spTgt>
                                        </p:tgtEl>
                                        <p:attrNameLst>
                                          <p:attrName>style.visibility</p:attrName>
                                        </p:attrNameLst>
                                      </p:cBhvr>
                                      <p:to>
                                        <p:strVal val="visible"/>
                                      </p:to>
                                    </p:set>
                                    <p:animEffect transition="in" filter="fade">
                                      <p:cBhvr>
                                        <p:cTn id="37" dur="500"/>
                                        <p:tgtEl>
                                          <p:spTgt spid="7">
                                            <p:txEl>
                                              <p:pRg st="8" end="8"/>
                                            </p:txEl>
                                          </p:spTgt>
                                        </p:tgtEl>
                                      </p:cBhvr>
                                    </p:animEffect>
                                  </p:childTnLst>
                                </p:cTn>
                              </p:par>
                              <p:par>
                                <p:cTn id="38" presetID="10" presetClass="entr" presetSubtype="0" fill="hold" nodeType="withEffect">
                                  <p:stCondLst>
                                    <p:cond delay="0"/>
                                  </p:stCondLst>
                                  <p:childTnLst>
                                    <p:set>
                                      <p:cBhvr>
                                        <p:cTn id="39" dur="1" fill="hold">
                                          <p:stCondLst>
                                            <p:cond delay="0"/>
                                          </p:stCondLst>
                                        </p:cTn>
                                        <p:tgtEl>
                                          <p:spTgt spid="7">
                                            <p:txEl>
                                              <p:pRg st="9" end="9"/>
                                            </p:txEl>
                                          </p:spTgt>
                                        </p:tgtEl>
                                        <p:attrNameLst>
                                          <p:attrName>style.visibility</p:attrName>
                                        </p:attrNameLst>
                                      </p:cBhvr>
                                      <p:to>
                                        <p:strVal val="visible"/>
                                      </p:to>
                                    </p:set>
                                    <p:animEffect transition="in" filter="fade">
                                      <p:cBhvr>
                                        <p:cTn id="40" dur="500"/>
                                        <p:tgtEl>
                                          <p:spTgt spid="7">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t="-15111" b="-15111"/>
            </a:stretch>
          </a:blipFill>
        </p:spPr>
        <p:txBody>
          <a:bodyPr/>
          <a:lstStyle/>
          <a:p>
            <a:endParaRPr lang="en-US"/>
          </a:p>
        </p:txBody>
      </p:sp>
      <p:sp>
        <p:nvSpPr>
          <p:cNvPr id="3" name="TextBox 3"/>
          <p:cNvSpPr txBox="1"/>
          <p:nvPr/>
        </p:nvSpPr>
        <p:spPr>
          <a:xfrm>
            <a:off x="381000" y="266700"/>
            <a:ext cx="7861306" cy="1949252"/>
          </a:xfrm>
          <a:prstGeom prst="rect">
            <a:avLst/>
          </a:prstGeom>
        </p:spPr>
        <p:txBody>
          <a:bodyPr wrap="square" lIns="0" tIns="0" rIns="0" bIns="0" rtlCol="0" anchor="t">
            <a:spAutoFit/>
          </a:bodyPr>
          <a:lstStyle/>
          <a:p>
            <a:pPr algn="l">
              <a:lnSpc>
                <a:spcPts val="7608"/>
              </a:lnSpc>
            </a:pPr>
            <a:r>
              <a:rPr lang="en-US" sz="6854" b="1" dirty="0">
                <a:solidFill>
                  <a:srgbClr val="000000"/>
                </a:solidFill>
                <a:latin typeface="Gagalin" panose="020B0604020202020204" charset="0"/>
                <a:ea typeface="Oswald Bold"/>
                <a:cs typeface="Oswald Bold"/>
                <a:sym typeface="Oswald Bold"/>
              </a:rPr>
              <a:t>Problem Definition</a:t>
            </a:r>
          </a:p>
          <a:p>
            <a:pPr marL="0" lvl="0" indent="0" algn="l">
              <a:lnSpc>
                <a:spcPts val="7608"/>
              </a:lnSpc>
            </a:pPr>
            <a:endParaRPr lang="en-US" sz="6854" b="1" dirty="0">
              <a:solidFill>
                <a:srgbClr val="000000"/>
              </a:solidFill>
              <a:latin typeface="Oswald Bold"/>
              <a:ea typeface="Oswald Bold"/>
              <a:cs typeface="Oswald Bold"/>
              <a:sym typeface="Oswald Bold"/>
            </a:endParaRPr>
          </a:p>
        </p:txBody>
      </p:sp>
      <p:sp>
        <p:nvSpPr>
          <p:cNvPr id="4" name="TextBox 4"/>
          <p:cNvSpPr txBox="1"/>
          <p:nvPr/>
        </p:nvSpPr>
        <p:spPr>
          <a:xfrm>
            <a:off x="659763" y="1596826"/>
            <a:ext cx="9617619" cy="8524000"/>
          </a:xfrm>
          <a:prstGeom prst="rect">
            <a:avLst/>
          </a:prstGeom>
        </p:spPr>
        <p:txBody>
          <a:bodyPr lIns="0" tIns="0" rIns="0" bIns="0" rtlCol="0" anchor="t">
            <a:spAutoFit/>
          </a:bodyPr>
          <a:lstStyle/>
          <a:p>
            <a:pPr algn="l">
              <a:lnSpc>
                <a:spcPts val="3554"/>
              </a:lnSpc>
            </a:pPr>
            <a:r>
              <a:rPr lang="en-US" sz="2538" b="1" dirty="0">
                <a:solidFill>
                  <a:srgbClr val="000000"/>
                </a:solidFill>
                <a:latin typeface="Decalotype Bold"/>
                <a:ea typeface="Decalotype Bold"/>
                <a:cs typeface="Decalotype Bold"/>
                <a:sym typeface="Decalotype Bold"/>
              </a:rPr>
              <a:t>1.   Project Objective</a:t>
            </a:r>
          </a:p>
          <a:p>
            <a:pPr algn="l">
              <a:lnSpc>
                <a:spcPts val="3274"/>
              </a:lnSpc>
            </a:pPr>
            <a:r>
              <a:rPr lang="en-US" sz="2338" dirty="0">
                <a:solidFill>
                  <a:srgbClr val="000000"/>
                </a:solidFill>
                <a:latin typeface="Decalotype"/>
                <a:ea typeface="Decalotype"/>
                <a:cs typeface="Decalotype"/>
                <a:sym typeface="Decalotype"/>
              </a:rPr>
              <a:t>• To analyze the alignment between administrative planning and shop-floor operations to identify production bottlenecks and optimize resource utilization.</a:t>
            </a:r>
          </a:p>
          <a:p>
            <a:pPr algn="l">
              <a:lnSpc>
                <a:spcPts val="3274"/>
              </a:lnSpc>
            </a:pPr>
            <a:endParaRPr lang="en-US" sz="2338" dirty="0">
              <a:solidFill>
                <a:srgbClr val="000000"/>
              </a:solidFill>
              <a:latin typeface="Decalotype"/>
              <a:ea typeface="Decalotype"/>
              <a:cs typeface="Decalotype"/>
              <a:sym typeface="Decalotype"/>
            </a:endParaRPr>
          </a:p>
          <a:p>
            <a:pPr algn="l">
              <a:lnSpc>
                <a:spcPts val="3414"/>
              </a:lnSpc>
            </a:pPr>
            <a:r>
              <a:rPr lang="en-US" sz="2438" b="1" dirty="0">
                <a:solidFill>
                  <a:srgbClr val="000000"/>
                </a:solidFill>
                <a:latin typeface="Decalotype Bold"/>
                <a:ea typeface="Decalotype Bold"/>
                <a:cs typeface="Decalotype Bold"/>
                <a:sym typeface="Decalotype Bold"/>
              </a:rPr>
              <a:t>2.   Business Questions</a:t>
            </a:r>
          </a:p>
          <a:p>
            <a:pPr algn="l">
              <a:lnSpc>
                <a:spcPts val="3274"/>
              </a:lnSpc>
            </a:pPr>
            <a:r>
              <a:rPr lang="en-US" sz="2338" dirty="0">
                <a:solidFill>
                  <a:srgbClr val="000000"/>
                </a:solidFill>
                <a:latin typeface="Decalotype"/>
                <a:ea typeface="Decalotype"/>
                <a:cs typeface="Decalotype"/>
                <a:sym typeface="Decalotype"/>
              </a:rPr>
              <a:t>•  How does the actual production output compare to the administrative targets?</a:t>
            </a:r>
          </a:p>
          <a:p>
            <a:pPr algn="l">
              <a:lnSpc>
                <a:spcPts val="3274"/>
              </a:lnSpc>
            </a:pPr>
            <a:r>
              <a:rPr lang="en-US" sz="2338" dirty="0">
                <a:solidFill>
                  <a:srgbClr val="000000"/>
                </a:solidFill>
                <a:latin typeface="Decalotype"/>
                <a:ea typeface="Decalotype"/>
                <a:cs typeface="Decalotype"/>
                <a:sym typeface="Decalotype"/>
              </a:rPr>
              <a:t>•  What are the main causes of machine downtime or operational delays? </a:t>
            </a:r>
          </a:p>
          <a:p>
            <a:pPr algn="l">
              <a:lnSpc>
                <a:spcPts val="3274"/>
              </a:lnSpc>
            </a:pPr>
            <a:r>
              <a:rPr lang="en-US" sz="2338" dirty="0">
                <a:solidFill>
                  <a:srgbClr val="000000"/>
                </a:solidFill>
                <a:latin typeface="Decalotype"/>
                <a:ea typeface="Decalotype"/>
                <a:cs typeface="Decalotype"/>
                <a:sym typeface="Decalotype"/>
              </a:rPr>
              <a:t>•  Which production lines show the highest efficiency and which need maintenance?</a:t>
            </a:r>
          </a:p>
          <a:p>
            <a:pPr algn="l">
              <a:lnSpc>
                <a:spcPts val="3274"/>
              </a:lnSpc>
            </a:pPr>
            <a:endParaRPr lang="en-US" sz="2338" dirty="0">
              <a:solidFill>
                <a:srgbClr val="000000"/>
              </a:solidFill>
              <a:latin typeface="Decalotype"/>
              <a:ea typeface="Decalotype"/>
              <a:cs typeface="Decalotype"/>
              <a:sym typeface="Decalotype"/>
            </a:endParaRPr>
          </a:p>
          <a:p>
            <a:pPr algn="l">
              <a:lnSpc>
                <a:spcPts val="3554"/>
              </a:lnSpc>
            </a:pPr>
            <a:r>
              <a:rPr lang="en-US" sz="2538" b="1" dirty="0">
                <a:solidFill>
                  <a:srgbClr val="000000"/>
                </a:solidFill>
                <a:latin typeface="Decalotype Bold"/>
                <a:ea typeface="Decalotype Bold"/>
                <a:cs typeface="Decalotype Bold"/>
                <a:sym typeface="Decalotype Bold"/>
              </a:rPr>
              <a:t>3.   Key Performance Indicators – KPIs</a:t>
            </a:r>
          </a:p>
          <a:p>
            <a:pPr algn="l">
              <a:lnSpc>
                <a:spcPts val="3274"/>
              </a:lnSpc>
            </a:pPr>
            <a:r>
              <a:rPr lang="en-US" sz="2338" dirty="0">
                <a:solidFill>
                  <a:srgbClr val="000000"/>
                </a:solidFill>
                <a:latin typeface="Decalotype"/>
                <a:ea typeface="Decalotype"/>
                <a:cs typeface="Decalotype"/>
                <a:sym typeface="Decalotype"/>
              </a:rPr>
              <a:t>•  OEE (Overall Equipment Effectiveness)</a:t>
            </a:r>
          </a:p>
          <a:p>
            <a:pPr algn="l">
              <a:lnSpc>
                <a:spcPts val="3274"/>
              </a:lnSpc>
            </a:pPr>
            <a:r>
              <a:rPr lang="en-US" sz="2338" dirty="0">
                <a:solidFill>
                  <a:srgbClr val="000000"/>
                </a:solidFill>
                <a:latin typeface="Decalotype"/>
                <a:ea typeface="Decalotype"/>
                <a:cs typeface="Decalotype"/>
                <a:sym typeface="Decalotype"/>
              </a:rPr>
              <a:t>• Production Yield </a:t>
            </a:r>
          </a:p>
          <a:p>
            <a:pPr algn="l">
              <a:lnSpc>
                <a:spcPts val="3274"/>
              </a:lnSpc>
            </a:pPr>
            <a:r>
              <a:rPr lang="en-US" sz="2338" dirty="0">
                <a:solidFill>
                  <a:srgbClr val="000000"/>
                </a:solidFill>
                <a:latin typeface="Decalotype"/>
                <a:ea typeface="Decalotype"/>
                <a:cs typeface="Decalotype"/>
                <a:sym typeface="Decalotype"/>
              </a:rPr>
              <a:t>• Downtime Rate</a:t>
            </a:r>
          </a:p>
          <a:p>
            <a:pPr algn="l">
              <a:lnSpc>
                <a:spcPts val="3274"/>
              </a:lnSpc>
            </a:pPr>
            <a:r>
              <a:rPr lang="en-US" sz="2338" dirty="0">
                <a:solidFill>
                  <a:srgbClr val="000000"/>
                </a:solidFill>
                <a:latin typeface="Decalotype"/>
                <a:ea typeface="Decalotype"/>
                <a:cs typeface="Decalotype"/>
                <a:sym typeface="Decalotype"/>
              </a:rPr>
              <a:t>• Cycle Time</a:t>
            </a:r>
          </a:p>
          <a:p>
            <a:pPr algn="l">
              <a:lnSpc>
                <a:spcPts val="3274"/>
              </a:lnSpc>
            </a:pPr>
            <a:endParaRPr lang="en-US" sz="2338" dirty="0">
              <a:solidFill>
                <a:srgbClr val="000000"/>
              </a:solidFill>
              <a:latin typeface="Decalotype"/>
              <a:ea typeface="Decalotype"/>
              <a:cs typeface="Decalotype"/>
              <a:sym typeface="Decalotype"/>
            </a:endParaRPr>
          </a:p>
          <a:p>
            <a:pPr algn="l">
              <a:lnSpc>
                <a:spcPts val="3554"/>
              </a:lnSpc>
            </a:pPr>
            <a:r>
              <a:rPr lang="en-US" sz="2538" b="1" dirty="0">
                <a:solidFill>
                  <a:srgbClr val="000000"/>
                </a:solidFill>
                <a:latin typeface="Decalotype Bold"/>
                <a:ea typeface="Decalotype Bold"/>
                <a:cs typeface="Decalotype Bold"/>
                <a:sym typeface="Decalotype Bold"/>
              </a:rPr>
              <a:t>4.   Target Audience </a:t>
            </a:r>
          </a:p>
          <a:p>
            <a:pPr algn="l">
              <a:lnSpc>
                <a:spcPts val="3274"/>
              </a:lnSpc>
            </a:pPr>
            <a:r>
              <a:rPr lang="en-US" sz="2338" dirty="0">
                <a:solidFill>
                  <a:srgbClr val="000000"/>
                </a:solidFill>
                <a:latin typeface="Decalotype"/>
                <a:ea typeface="Decalotype"/>
                <a:cs typeface="Decalotype"/>
                <a:sym typeface="Decalotype"/>
              </a:rPr>
              <a:t>• Operations Managers </a:t>
            </a:r>
          </a:p>
          <a:p>
            <a:pPr algn="l">
              <a:lnSpc>
                <a:spcPts val="3274"/>
              </a:lnSpc>
            </a:pPr>
            <a:r>
              <a:rPr lang="en-US" sz="2338" dirty="0">
                <a:solidFill>
                  <a:srgbClr val="000000"/>
                </a:solidFill>
                <a:latin typeface="Decalotype"/>
                <a:ea typeface="Decalotype"/>
                <a:cs typeface="Decalotype"/>
                <a:sym typeface="Decalotype"/>
              </a:rPr>
              <a:t>• Production Supervisors</a:t>
            </a:r>
          </a:p>
          <a:p>
            <a:pPr algn="l">
              <a:lnSpc>
                <a:spcPts val="3274"/>
              </a:lnSpc>
            </a:pPr>
            <a:r>
              <a:rPr lang="en-US" sz="2338" dirty="0">
                <a:solidFill>
                  <a:srgbClr val="000000"/>
                </a:solidFill>
                <a:latin typeface="Decalotype"/>
                <a:ea typeface="Decalotype"/>
                <a:cs typeface="Decalotype"/>
                <a:sym typeface="Decalotype"/>
              </a:rPr>
              <a:t>• Supply Chain &amp; Administrative Planners</a:t>
            </a:r>
          </a:p>
          <a:p>
            <a:pPr algn="just">
              <a:lnSpc>
                <a:spcPts val="3134"/>
              </a:lnSpc>
              <a:spcBef>
                <a:spcPct val="0"/>
              </a:spcBef>
            </a:pPr>
            <a:endParaRPr lang="en-US" sz="2338" dirty="0">
              <a:solidFill>
                <a:srgbClr val="000000"/>
              </a:solidFill>
              <a:latin typeface="Decalotype"/>
              <a:ea typeface="Decalotype"/>
              <a:cs typeface="Decalotype"/>
              <a:sym typeface="Decalotype"/>
            </a:endParaRPr>
          </a:p>
        </p:txBody>
      </p:sp>
      <p:sp>
        <p:nvSpPr>
          <p:cNvPr id="5" name="Freeform 5"/>
          <p:cNvSpPr/>
          <p:nvPr/>
        </p:nvSpPr>
        <p:spPr>
          <a:xfrm>
            <a:off x="10068832" y="2384264"/>
            <a:ext cx="8219168" cy="6784549"/>
          </a:xfrm>
          <a:custGeom>
            <a:avLst/>
            <a:gdLst/>
            <a:ahLst/>
            <a:cxnLst/>
            <a:rect l="l" t="t" r="r" b="b"/>
            <a:pathLst>
              <a:path w="8219168" h="6784549">
                <a:moveTo>
                  <a:pt x="0" y="0"/>
                </a:moveTo>
                <a:lnTo>
                  <a:pt x="8219168" y="0"/>
                </a:lnTo>
                <a:lnTo>
                  <a:pt x="8219168" y="6784549"/>
                </a:lnTo>
                <a:lnTo>
                  <a:pt x="0" y="6784549"/>
                </a:lnTo>
                <a:lnTo>
                  <a:pt x="0" y="0"/>
                </a:lnTo>
                <a:close/>
              </a:path>
            </a:pathLst>
          </a:custGeom>
          <a:blipFill>
            <a:blip r:embed="rId3"/>
            <a:stretch>
              <a:fillRect/>
            </a:stretch>
          </a:blipFill>
          <a:ln cap="sq">
            <a:noFill/>
            <a:prstDash val="solid"/>
            <a:miter/>
          </a:ln>
        </p:spPr>
        <p:txBody>
          <a:bodyPr/>
          <a:lstStyle/>
          <a:p>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fade">
                                      <p:cBhvr>
                                        <p:cTn id="12" dur="500"/>
                                        <p:tgtEl>
                                          <p:spTgt spid="4">
                                            <p:txEl>
                                              <p:pRg st="0" end="0"/>
                                            </p:txEl>
                                          </p:spTgt>
                                        </p:tgtEl>
                                      </p:cBhvr>
                                    </p:animEffect>
                                  </p:childTnLst>
                                </p:cTn>
                              </p:par>
                              <p:par>
                                <p:cTn id="13" presetID="10" presetClass="entr" presetSubtype="0" fill="hold" nodeType="withEffect">
                                  <p:stCondLst>
                                    <p:cond delay="0"/>
                                  </p:stCondLst>
                                  <p:childTnLst>
                                    <p:set>
                                      <p:cBhvr>
                                        <p:cTn id="14" dur="1" fill="hold">
                                          <p:stCondLst>
                                            <p:cond delay="0"/>
                                          </p:stCondLst>
                                        </p:cTn>
                                        <p:tgtEl>
                                          <p:spTgt spid="4">
                                            <p:txEl>
                                              <p:pRg st="1" end="1"/>
                                            </p:txEl>
                                          </p:spTgt>
                                        </p:tgtEl>
                                        <p:attrNameLst>
                                          <p:attrName>style.visibility</p:attrName>
                                        </p:attrNameLst>
                                      </p:cBhvr>
                                      <p:to>
                                        <p:strVal val="visible"/>
                                      </p:to>
                                    </p:set>
                                    <p:animEffect transition="in" filter="fade">
                                      <p:cBhvr>
                                        <p:cTn id="15" dur="500"/>
                                        <p:tgtEl>
                                          <p:spTgt spid="4">
                                            <p:txEl>
                                              <p:pRg st="1" end="1"/>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4">
                                            <p:txEl>
                                              <p:pRg st="3" end="3"/>
                                            </p:txEl>
                                          </p:spTgt>
                                        </p:tgtEl>
                                        <p:attrNameLst>
                                          <p:attrName>style.visibility</p:attrName>
                                        </p:attrNameLst>
                                      </p:cBhvr>
                                      <p:to>
                                        <p:strVal val="visible"/>
                                      </p:to>
                                    </p:set>
                                    <p:animEffect transition="in" filter="fade">
                                      <p:cBhvr>
                                        <p:cTn id="20" dur="500"/>
                                        <p:tgtEl>
                                          <p:spTgt spid="4">
                                            <p:txEl>
                                              <p:pRg st="3" end="3"/>
                                            </p:txEl>
                                          </p:spTgt>
                                        </p:tgtEl>
                                      </p:cBhvr>
                                    </p:animEffect>
                                  </p:childTnLst>
                                </p:cTn>
                              </p:par>
                              <p:par>
                                <p:cTn id="21" presetID="10" presetClass="entr" presetSubtype="0" fill="hold" nodeType="with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animEffect transition="in" filter="fade">
                                      <p:cBhvr>
                                        <p:cTn id="23" dur="500"/>
                                        <p:tgtEl>
                                          <p:spTgt spid="4">
                                            <p:txEl>
                                              <p:pRg st="4" end="4"/>
                                            </p:txEl>
                                          </p:spTgt>
                                        </p:tgtEl>
                                      </p:cBhvr>
                                    </p:animEffect>
                                  </p:childTnLst>
                                </p:cTn>
                              </p:par>
                              <p:par>
                                <p:cTn id="24" presetID="10" presetClass="entr" presetSubtype="0" fill="hold" nodeType="withEffect">
                                  <p:stCondLst>
                                    <p:cond delay="0"/>
                                  </p:stCondLst>
                                  <p:childTnLst>
                                    <p:set>
                                      <p:cBhvr>
                                        <p:cTn id="25" dur="1" fill="hold">
                                          <p:stCondLst>
                                            <p:cond delay="0"/>
                                          </p:stCondLst>
                                        </p:cTn>
                                        <p:tgtEl>
                                          <p:spTgt spid="4">
                                            <p:txEl>
                                              <p:pRg st="5" end="5"/>
                                            </p:txEl>
                                          </p:spTgt>
                                        </p:tgtEl>
                                        <p:attrNameLst>
                                          <p:attrName>style.visibility</p:attrName>
                                        </p:attrNameLst>
                                      </p:cBhvr>
                                      <p:to>
                                        <p:strVal val="visible"/>
                                      </p:to>
                                    </p:set>
                                    <p:animEffect transition="in" filter="fade">
                                      <p:cBhvr>
                                        <p:cTn id="26" dur="500"/>
                                        <p:tgtEl>
                                          <p:spTgt spid="4">
                                            <p:txEl>
                                              <p:pRg st="5" end="5"/>
                                            </p:txEl>
                                          </p:spTgt>
                                        </p:tgtEl>
                                      </p:cBhvr>
                                    </p:animEffect>
                                  </p:childTnLst>
                                </p:cTn>
                              </p:par>
                              <p:par>
                                <p:cTn id="27" presetID="10" presetClass="entr" presetSubtype="0" fill="hold" nodeType="withEffect">
                                  <p:stCondLst>
                                    <p:cond delay="0"/>
                                  </p:stCondLst>
                                  <p:childTnLst>
                                    <p:set>
                                      <p:cBhvr>
                                        <p:cTn id="28" dur="1" fill="hold">
                                          <p:stCondLst>
                                            <p:cond delay="0"/>
                                          </p:stCondLst>
                                        </p:cTn>
                                        <p:tgtEl>
                                          <p:spTgt spid="4">
                                            <p:txEl>
                                              <p:pRg st="6" end="6"/>
                                            </p:txEl>
                                          </p:spTgt>
                                        </p:tgtEl>
                                        <p:attrNameLst>
                                          <p:attrName>style.visibility</p:attrName>
                                        </p:attrNameLst>
                                      </p:cBhvr>
                                      <p:to>
                                        <p:strVal val="visible"/>
                                      </p:to>
                                    </p:set>
                                    <p:animEffect transition="in" filter="fade">
                                      <p:cBhvr>
                                        <p:cTn id="29" dur="500"/>
                                        <p:tgtEl>
                                          <p:spTgt spid="4">
                                            <p:txEl>
                                              <p:pRg st="6" end="6"/>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4">
                                            <p:txEl>
                                              <p:pRg st="8" end="8"/>
                                            </p:txEl>
                                          </p:spTgt>
                                        </p:tgtEl>
                                        <p:attrNameLst>
                                          <p:attrName>style.visibility</p:attrName>
                                        </p:attrNameLst>
                                      </p:cBhvr>
                                      <p:to>
                                        <p:strVal val="visible"/>
                                      </p:to>
                                    </p:set>
                                    <p:animEffect transition="in" filter="fade">
                                      <p:cBhvr>
                                        <p:cTn id="34" dur="500"/>
                                        <p:tgtEl>
                                          <p:spTgt spid="4">
                                            <p:txEl>
                                              <p:pRg st="8" end="8"/>
                                            </p:txEl>
                                          </p:spTgt>
                                        </p:tgtEl>
                                      </p:cBhvr>
                                    </p:animEffect>
                                  </p:childTnLst>
                                </p:cTn>
                              </p:par>
                              <p:par>
                                <p:cTn id="35" presetID="10" presetClass="entr" presetSubtype="0" fill="hold" nodeType="withEffect">
                                  <p:stCondLst>
                                    <p:cond delay="0"/>
                                  </p:stCondLst>
                                  <p:childTnLst>
                                    <p:set>
                                      <p:cBhvr>
                                        <p:cTn id="36" dur="1" fill="hold">
                                          <p:stCondLst>
                                            <p:cond delay="0"/>
                                          </p:stCondLst>
                                        </p:cTn>
                                        <p:tgtEl>
                                          <p:spTgt spid="4">
                                            <p:txEl>
                                              <p:pRg st="9" end="9"/>
                                            </p:txEl>
                                          </p:spTgt>
                                        </p:tgtEl>
                                        <p:attrNameLst>
                                          <p:attrName>style.visibility</p:attrName>
                                        </p:attrNameLst>
                                      </p:cBhvr>
                                      <p:to>
                                        <p:strVal val="visible"/>
                                      </p:to>
                                    </p:set>
                                    <p:animEffect transition="in" filter="fade">
                                      <p:cBhvr>
                                        <p:cTn id="37" dur="500"/>
                                        <p:tgtEl>
                                          <p:spTgt spid="4">
                                            <p:txEl>
                                              <p:pRg st="9" end="9"/>
                                            </p:txEl>
                                          </p:spTgt>
                                        </p:tgtEl>
                                      </p:cBhvr>
                                    </p:animEffect>
                                  </p:childTnLst>
                                </p:cTn>
                              </p:par>
                              <p:par>
                                <p:cTn id="38" presetID="10" presetClass="entr" presetSubtype="0" fill="hold" nodeType="withEffect">
                                  <p:stCondLst>
                                    <p:cond delay="0"/>
                                  </p:stCondLst>
                                  <p:childTnLst>
                                    <p:set>
                                      <p:cBhvr>
                                        <p:cTn id="39" dur="1" fill="hold">
                                          <p:stCondLst>
                                            <p:cond delay="0"/>
                                          </p:stCondLst>
                                        </p:cTn>
                                        <p:tgtEl>
                                          <p:spTgt spid="4">
                                            <p:txEl>
                                              <p:pRg st="10" end="10"/>
                                            </p:txEl>
                                          </p:spTgt>
                                        </p:tgtEl>
                                        <p:attrNameLst>
                                          <p:attrName>style.visibility</p:attrName>
                                        </p:attrNameLst>
                                      </p:cBhvr>
                                      <p:to>
                                        <p:strVal val="visible"/>
                                      </p:to>
                                    </p:set>
                                    <p:animEffect transition="in" filter="fade">
                                      <p:cBhvr>
                                        <p:cTn id="40" dur="500"/>
                                        <p:tgtEl>
                                          <p:spTgt spid="4">
                                            <p:txEl>
                                              <p:pRg st="10" end="10"/>
                                            </p:txEl>
                                          </p:spTgt>
                                        </p:tgtEl>
                                      </p:cBhvr>
                                    </p:animEffect>
                                  </p:childTnLst>
                                </p:cTn>
                              </p:par>
                              <p:par>
                                <p:cTn id="41" presetID="10" presetClass="entr" presetSubtype="0" fill="hold" nodeType="withEffect">
                                  <p:stCondLst>
                                    <p:cond delay="0"/>
                                  </p:stCondLst>
                                  <p:childTnLst>
                                    <p:set>
                                      <p:cBhvr>
                                        <p:cTn id="42" dur="1" fill="hold">
                                          <p:stCondLst>
                                            <p:cond delay="0"/>
                                          </p:stCondLst>
                                        </p:cTn>
                                        <p:tgtEl>
                                          <p:spTgt spid="4">
                                            <p:txEl>
                                              <p:pRg st="11" end="11"/>
                                            </p:txEl>
                                          </p:spTgt>
                                        </p:tgtEl>
                                        <p:attrNameLst>
                                          <p:attrName>style.visibility</p:attrName>
                                        </p:attrNameLst>
                                      </p:cBhvr>
                                      <p:to>
                                        <p:strVal val="visible"/>
                                      </p:to>
                                    </p:set>
                                    <p:animEffect transition="in" filter="fade">
                                      <p:cBhvr>
                                        <p:cTn id="43" dur="500"/>
                                        <p:tgtEl>
                                          <p:spTgt spid="4">
                                            <p:txEl>
                                              <p:pRg st="11" end="11"/>
                                            </p:txEl>
                                          </p:spTgt>
                                        </p:tgtEl>
                                      </p:cBhvr>
                                    </p:animEffect>
                                  </p:childTnLst>
                                </p:cTn>
                              </p:par>
                              <p:par>
                                <p:cTn id="44" presetID="10" presetClass="entr" presetSubtype="0" fill="hold" nodeType="withEffect">
                                  <p:stCondLst>
                                    <p:cond delay="0"/>
                                  </p:stCondLst>
                                  <p:childTnLst>
                                    <p:set>
                                      <p:cBhvr>
                                        <p:cTn id="45" dur="1" fill="hold">
                                          <p:stCondLst>
                                            <p:cond delay="0"/>
                                          </p:stCondLst>
                                        </p:cTn>
                                        <p:tgtEl>
                                          <p:spTgt spid="4">
                                            <p:txEl>
                                              <p:pRg st="12" end="12"/>
                                            </p:txEl>
                                          </p:spTgt>
                                        </p:tgtEl>
                                        <p:attrNameLst>
                                          <p:attrName>style.visibility</p:attrName>
                                        </p:attrNameLst>
                                      </p:cBhvr>
                                      <p:to>
                                        <p:strVal val="visible"/>
                                      </p:to>
                                    </p:set>
                                    <p:animEffect transition="in" filter="fade">
                                      <p:cBhvr>
                                        <p:cTn id="46" dur="500"/>
                                        <p:tgtEl>
                                          <p:spTgt spid="4">
                                            <p:txEl>
                                              <p:pRg st="12" end="12"/>
                                            </p:txEl>
                                          </p:spTgt>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4">
                                            <p:txEl>
                                              <p:pRg st="14" end="14"/>
                                            </p:txEl>
                                          </p:spTgt>
                                        </p:tgtEl>
                                        <p:attrNameLst>
                                          <p:attrName>style.visibility</p:attrName>
                                        </p:attrNameLst>
                                      </p:cBhvr>
                                      <p:to>
                                        <p:strVal val="visible"/>
                                      </p:to>
                                    </p:set>
                                    <p:animEffect transition="in" filter="fade">
                                      <p:cBhvr>
                                        <p:cTn id="51" dur="500"/>
                                        <p:tgtEl>
                                          <p:spTgt spid="4">
                                            <p:txEl>
                                              <p:pRg st="14" end="14"/>
                                            </p:txEl>
                                          </p:spTgt>
                                        </p:tgtEl>
                                      </p:cBhvr>
                                    </p:animEffect>
                                  </p:childTnLst>
                                </p:cTn>
                              </p:par>
                              <p:par>
                                <p:cTn id="52" presetID="10" presetClass="entr" presetSubtype="0" fill="hold" nodeType="withEffect">
                                  <p:stCondLst>
                                    <p:cond delay="0"/>
                                  </p:stCondLst>
                                  <p:childTnLst>
                                    <p:set>
                                      <p:cBhvr>
                                        <p:cTn id="53" dur="1" fill="hold">
                                          <p:stCondLst>
                                            <p:cond delay="0"/>
                                          </p:stCondLst>
                                        </p:cTn>
                                        <p:tgtEl>
                                          <p:spTgt spid="4">
                                            <p:txEl>
                                              <p:pRg st="15" end="15"/>
                                            </p:txEl>
                                          </p:spTgt>
                                        </p:tgtEl>
                                        <p:attrNameLst>
                                          <p:attrName>style.visibility</p:attrName>
                                        </p:attrNameLst>
                                      </p:cBhvr>
                                      <p:to>
                                        <p:strVal val="visible"/>
                                      </p:to>
                                    </p:set>
                                    <p:animEffect transition="in" filter="fade">
                                      <p:cBhvr>
                                        <p:cTn id="54" dur="500"/>
                                        <p:tgtEl>
                                          <p:spTgt spid="4">
                                            <p:txEl>
                                              <p:pRg st="15" end="15"/>
                                            </p:txEl>
                                          </p:spTgt>
                                        </p:tgtEl>
                                      </p:cBhvr>
                                    </p:animEffect>
                                  </p:childTnLst>
                                </p:cTn>
                              </p:par>
                              <p:par>
                                <p:cTn id="55" presetID="10" presetClass="entr" presetSubtype="0" fill="hold" nodeType="withEffect">
                                  <p:stCondLst>
                                    <p:cond delay="0"/>
                                  </p:stCondLst>
                                  <p:childTnLst>
                                    <p:set>
                                      <p:cBhvr>
                                        <p:cTn id="56" dur="1" fill="hold">
                                          <p:stCondLst>
                                            <p:cond delay="0"/>
                                          </p:stCondLst>
                                        </p:cTn>
                                        <p:tgtEl>
                                          <p:spTgt spid="4">
                                            <p:txEl>
                                              <p:pRg st="16" end="16"/>
                                            </p:txEl>
                                          </p:spTgt>
                                        </p:tgtEl>
                                        <p:attrNameLst>
                                          <p:attrName>style.visibility</p:attrName>
                                        </p:attrNameLst>
                                      </p:cBhvr>
                                      <p:to>
                                        <p:strVal val="visible"/>
                                      </p:to>
                                    </p:set>
                                    <p:animEffect transition="in" filter="fade">
                                      <p:cBhvr>
                                        <p:cTn id="57" dur="500"/>
                                        <p:tgtEl>
                                          <p:spTgt spid="4">
                                            <p:txEl>
                                              <p:pRg st="16" end="16"/>
                                            </p:txEl>
                                          </p:spTgt>
                                        </p:tgtEl>
                                      </p:cBhvr>
                                    </p:animEffect>
                                  </p:childTnLst>
                                </p:cTn>
                              </p:par>
                              <p:par>
                                <p:cTn id="58" presetID="10" presetClass="entr" presetSubtype="0" fill="hold" nodeType="withEffect">
                                  <p:stCondLst>
                                    <p:cond delay="0"/>
                                  </p:stCondLst>
                                  <p:childTnLst>
                                    <p:set>
                                      <p:cBhvr>
                                        <p:cTn id="59" dur="1" fill="hold">
                                          <p:stCondLst>
                                            <p:cond delay="0"/>
                                          </p:stCondLst>
                                        </p:cTn>
                                        <p:tgtEl>
                                          <p:spTgt spid="4">
                                            <p:txEl>
                                              <p:pRg st="17" end="17"/>
                                            </p:txEl>
                                          </p:spTgt>
                                        </p:tgtEl>
                                        <p:attrNameLst>
                                          <p:attrName>style.visibility</p:attrName>
                                        </p:attrNameLst>
                                      </p:cBhvr>
                                      <p:to>
                                        <p:strVal val="visible"/>
                                      </p:to>
                                    </p:set>
                                    <p:animEffect transition="in" filter="fade">
                                      <p:cBhvr>
                                        <p:cTn id="60" dur="500"/>
                                        <p:tgtEl>
                                          <p:spTgt spid="4">
                                            <p:txEl>
                                              <p:pRg st="17" end="1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3810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t="-15111" b="-15111"/>
            </a:stretch>
          </a:blipFill>
        </p:spPr>
        <p:txBody>
          <a:bodyPr/>
          <a:lstStyle/>
          <a:p>
            <a:endParaRPr lang="en-US" dirty="0"/>
          </a:p>
        </p:txBody>
      </p:sp>
      <p:sp>
        <p:nvSpPr>
          <p:cNvPr id="3" name="TextBox 3"/>
          <p:cNvSpPr txBox="1"/>
          <p:nvPr/>
        </p:nvSpPr>
        <p:spPr>
          <a:xfrm>
            <a:off x="4922854" y="239753"/>
            <a:ext cx="6602200" cy="1831544"/>
          </a:xfrm>
          <a:prstGeom prst="rect">
            <a:avLst/>
          </a:prstGeom>
        </p:spPr>
        <p:txBody>
          <a:bodyPr lIns="0" tIns="0" rIns="0" bIns="0" rtlCol="0" anchor="t">
            <a:spAutoFit/>
          </a:bodyPr>
          <a:lstStyle/>
          <a:p>
            <a:pPr algn="l">
              <a:lnSpc>
                <a:spcPts val="7182"/>
              </a:lnSpc>
            </a:pPr>
            <a:r>
              <a:rPr lang="en-US" sz="6470" b="1" dirty="0">
                <a:solidFill>
                  <a:srgbClr val="000000"/>
                </a:solidFill>
                <a:latin typeface="Gagalin" panose="020B0604020202020204" charset="0"/>
                <a:ea typeface="Oswald Bold"/>
                <a:cs typeface="Oswald Bold"/>
                <a:sym typeface="Oswald Bold"/>
              </a:rPr>
              <a:t>Business Question</a:t>
            </a:r>
          </a:p>
          <a:p>
            <a:pPr marL="0" lvl="0" indent="0" algn="l">
              <a:lnSpc>
                <a:spcPts val="7182"/>
              </a:lnSpc>
            </a:pPr>
            <a:endParaRPr lang="en-US" sz="6470" b="1" dirty="0">
              <a:solidFill>
                <a:srgbClr val="000000"/>
              </a:solidFill>
              <a:latin typeface="Oswald Bold"/>
              <a:ea typeface="Oswald Bold"/>
              <a:cs typeface="Oswald Bold"/>
              <a:sym typeface="Oswald Bold"/>
            </a:endParaRPr>
          </a:p>
        </p:txBody>
      </p:sp>
      <p:sp>
        <p:nvSpPr>
          <p:cNvPr id="5" name="Freeform 5"/>
          <p:cNvSpPr/>
          <p:nvPr/>
        </p:nvSpPr>
        <p:spPr>
          <a:xfrm>
            <a:off x="11658600" y="-15977"/>
            <a:ext cx="1034815" cy="1217429"/>
          </a:xfrm>
          <a:custGeom>
            <a:avLst/>
            <a:gdLst/>
            <a:ahLst/>
            <a:cxnLst/>
            <a:rect l="l" t="t" r="r" b="b"/>
            <a:pathLst>
              <a:path w="1034815" h="1217429">
                <a:moveTo>
                  <a:pt x="0" y="0"/>
                </a:moveTo>
                <a:lnTo>
                  <a:pt x="1034815" y="0"/>
                </a:lnTo>
                <a:lnTo>
                  <a:pt x="1034815" y="1217429"/>
                </a:lnTo>
                <a:lnTo>
                  <a:pt x="0" y="1217429"/>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dirty="0"/>
          </a:p>
        </p:txBody>
      </p:sp>
      <p:sp>
        <p:nvSpPr>
          <p:cNvPr id="6" name="Freeform 6"/>
          <p:cNvSpPr/>
          <p:nvPr/>
        </p:nvSpPr>
        <p:spPr>
          <a:xfrm>
            <a:off x="11960508" y="7534017"/>
            <a:ext cx="6461038" cy="3154804"/>
          </a:xfrm>
          <a:custGeom>
            <a:avLst/>
            <a:gdLst/>
            <a:ahLst/>
            <a:cxnLst/>
            <a:rect l="l" t="t" r="r" b="b"/>
            <a:pathLst>
              <a:path w="6461038" h="3154804">
                <a:moveTo>
                  <a:pt x="0" y="0"/>
                </a:moveTo>
                <a:lnTo>
                  <a:pt x="6461037" y="0"/>
                </a:lnTo>
                <a:lnTo>
                  <a:pt x="6461037" y="3154804"/>
                </a:lnTo>
                <a:lnTo>
                  <a:pt x="0" y="3154804"/>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US"/>
          </a:p>
        </p:txBody>
      </p:sp>
      <p:sp>
        <p:nvSpPr>
          <p:cNvPr id="7" name="Freeform 7"/>
          <p:cNvSpPr/>
          <p:nvPr/>
        </p:nvSpPr>
        <p:spPr>
          <a:xfrm>
            <a:off x="14652241" y="-2362566"/>
            <a:ext cx="5214119" cy="5204638"/>
          </a:xfrm>
          <a:custGeom>
            <a:avLst/>
            <a:gdLst/>
            <a:ahLst/>
            <a:cxnLst/>
            <a:rect l="l" t="t" r="r" b="b"/>
            <a:pathLst>
              <a:path w="5214119" h="5204638">
                <a:moveTo>
                  <a:pt x="0" y="0"/>
                </a:moveTo>
                <a:lnTo>
                  <a:pt x="5214118" y="0"/>
                </a:lnTo>
                <a:lnTo>
                  <a:pt x="5214118" y="5204639"/>
                </a:lnTo>
                <a:lnTo>
                  <a:pt x="0" y="5204639"/>
                </a:lnTo>
                <a:lnTo>
                  <a:pt x="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en-US"/>
          </a:p>
        </p:txBody>
      </p:sp>
      <p:sp>
        <p:nvSpPr>
          <p:cNvPr id="10" name="Rectangle: Rounded Corners 9">
            <a:extLst>
              <a:ext uri="{FF2B5EF4-FFF2-40B4-BE49-F238E27FC236}">
                <a16:creationId xmlns:a16="http://schemas.microsoft.com/office/drawing/2014/main" id="{3988F24D-458A-F249-DD4F-5803D4F5F739}"/>
              </a:ext>
            </a:extLst>
          </p:cNvPr>
          <p:cNvSpPr/>
          <p:nvPr/>
        </p:nvSpPr>
        <p:spPr>
          <a:xfrm>
            <a:off x="685800" y="6286500"/>
            <a:ext cx="7848600" cy="3200400"/>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grpSp>
        <p:nvGrpSpPr>
          <p:cNvPr id="22" name="Group 21">
            <a:extLst>
              <a:ext uri="{FF2B5EF4-FFF2-40B4-BE49-F238E27FC236}">
                <a16:creationId xmlns:a16="http://schemas.microsoft.com/office/drawing/2014/main" id="{485B7AB3-E204-A672-656B-2A6649173BA7}"/>
              </a:ext>
            </a:extLst>
          </p:cNvPr>
          <p:cNvGrpSpPr/>
          <p:nvPr/>
        </p:nvGrpSpPr>
        <p:grpSpPr>
          <a:xfrm>
            <a:off x="685800" y="1714500"/>
            <a:ext cx="7848600" cy="3429000"/>
            <a:chOff x="685800" y="1714500"/>
            <a:chExt cx="7848600" cy="3429000"/>
          </a:xfrm>
        </p:grpSpPr>
        <p:sp>
          <p:nvSpPr>
            <p:cNvPr id="8" name="Rectangle: Rounded Corners 7">
              <a:extLst>
                <a:ext uri="{FF2B5EF4-FFF2-40B4-BE49-F238E27FC236}">
                  <a16:creationId xmlns:a16="http://schemas.microsoft.com/office/drawing/2014/main" id="{D78287C9-1A72-369D-440F-1CCADB7456FF}"/>
                </a:ext>
              </a:extLst>
            </p:cNvPr>
            <p:cNvSpPr/>
            <p:nvPr/>
          </p:nvSpPr>
          <p:spPr>
            <a:xfrm>
              <a:off x="685800" y="1714500"/>
              <a:ext cx="7848600" cy="3429000"/>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dirty="0">
                <a:effectLst>
                  <a:outerShdw blurRad="60007" dist="200025" dir="15000000" sy="30000" kx="-1800000" algn="bl" rotWithShape="0">
                    <a:prstClr val="black">
                      <a:alpha val="32000"/>
                    </a:prstClr>
                  </a:outerShdw>
                </a:effectLst>
              </a:endParaRPr>
            </a:p>
          </p:txBody>
        </p:sp>
        <p:sp>
          <p:nvSpPr>
            <p:cNvPr id="14" name="TextBox 13">
              <a:extLst>
                <a:ext uri="{FF2B5EF4-FFF2-40B4-BE49-F238E27FC236}">
                  <a16:creationId xmlns:a16="http://schemas.microsoft.com/office/drawing/2014/main" id="{EEB545F1-B497-269D-E084-DFE1311BEAE7}"/>
                </a:ext>
              </a:extLst>
            </p:cNvPr>
            <p:cNvSpPr txBox="1"/>
            <p:nvPr/>
          </p:nvSpPr>
          <p:spPr>
            <a:xfrm>
              <a:off x="738973" y="1831849"/>
              <a:ext cx="7620000" cy="3170099"/>
            </a:xfrm>
            <a:prstGeom prst="rect">
              <a:avLst/>
            </a:prstGeom>
            <a:noFill/>
          </p:spPr>
          <p:txBody>
            <a:bodyPr wrap="square" rtlCol="0">
              <a:spAutoFit/>
            </a:bodyPr>
            <a:lstStyle/>
            <a:p>
              <a:pPr algn="ctr"/>
              <a:r>
                <a:rPr lang="en-US" sz="3200" b="1" dirty="0">
                  <a:solidFill>
                    <a:schemeClr val="bg1"/>
                  </a:solidFill>
                </a:rPr>
                <a:t>Labor Productivity</a:t>
              </a:r>
            </a:p>
            <a:p>
              <a:pPr marL="457200" indent="-457200">
                <a:buFont typeface="Arial" panose="020B0604020202020204" pitchFamily="34" charset="0"/>
                <a:buChar char="•"/>
              </a:pPr>
              <a:r>
                <a:rPr lang="en-US" sz="2800" dirty="0">
                  <a:solidFill>
                    <a:schemeClr val="bg1"/>
                  </a:solidFill>
                </a:rPr>
                <a:t>Who are the most and least productive operators?</a:t>
              </a:r>
            </a:p>
            <a:p>
              <a:pPr marL="457200" indent="-457200">
                <a:buFont typeface="Arial" panose="020B0604020202020204" pitchFamily="34" charset="0"/>
                <a:buChar char="•"/>
              </a:pPr>
              <a:r>
                <a:rPr lang="en-US" sz="2800" dirty="0">
                  <a:solidFill>
                    <a:schemeClr val="bg1"/>
                  </a:solidFill>
                </a:rPr>
                <a:t>Which flavors are driving the most production volume?</a:t>
              </a:r>
            </a:p>
            <a:p>
              <a:pPr marL="457200" indent="-457200">
                <a:buFont typeface="Arial" panose="020B0604020202020204" pitchFamily="34" charset="0"/>
                <a:buChar char="•"/>
              </a:pPr>
              <a:r>
                <a:rPr lang="en-US" sz="2800" dirty="0">
                  <a:solidFill>
                    <a:schemeClr val="bg1"/>
                  </a:solidFill>
                </a:rPr>
                <a:t>How much downtime is caused by human error versus technical issues?</a:t>
              </a:r>
              <a:endParaRPr lang="en-US" sz="2800" b="1" dirty="0">
                <a:solidFill>
                  <a:schemeClr val="bg1"/>
                </a:solidFill>
              </a:endParaRPr>
            </a:p>
          </p:txBody>
        </p:sp>
      </p:grpSp>
      <p:sp>
        <p:nvSpPr>
          <p:cNvPr id="18" name="Freeform 7">
            <a:extLst>
              <a:ext uri="{FF2B5EF4-FFF2-40B4-BE49-F238E27FC236}">
                <a16:creationId xmlns:a16="http://schemas.microsoft.com/office/drawing/2014/main" id="{0AD36CED-DDC1-3B8C-1CFB-8AEE836EB2AE}"/>
              </a:ext>
            </a:extLst>
          </p:cNvPr>
          <p:cNvSpPr/>
          <p:nvPr/>
        </p:nvSpPr>
        <p:spPr>
          <a:xfrm>
            <a:off x="2021151" y="1831848"/>
            <a:ext cx="798250" cy="579149"/>
          </a:xfrm>
          <a:custGeom>
            <a:avLst/>
            <a:gdLst/>
            <a:ahLst/>
            <a:cxnLst/>
            <a:rect l="l" t="t" r="r" b="b"/>
            <a:pathLst>
              <a:path w="4497049" h="4114800">
                <a:moveTo>
                  <a:pt x="0" y="0"/>
                </a:moveTo>
                <a:lnTo>
                  <a:pt x="4497050" y="0"/>
                </a:lnTo>
                <a:lnTo>
                  <a:pt x="4497050" y="4114800"/>
                </a:lnTo>
                <a:lnTo>
                  <a:pt x="0" y="4114800"/>
                </a:lnTo>
                <a:lnTo>
                  <a:pt x="0" y="0"/>
                </a:lnTo>
                <a:close/>
              </a:path>
            </a:pathLst>
          </a:custGeom>
          <a:blipFill>
            <a:blip>
              <a:extLst>
                <a:ext uri="{96DAC541-7B7A-43D3-8B79-37D633B846F1}">
                  <asvg:svgBlip xmlns:asvg="http://schemas.microsoft.com/office/drawing/2016/SVG/main" r:embed="rId7"/>
                </a:ext>
              </a:extLst>
            </a:blip>
            <a:stretch>
              <a:fillRect/>
            </a:stretch>
          </a:blipFill>
        </p:spPr>
        <p:txBody>
          <a:bodyPr/>
          <a:lstStyle/>
          <a:p>
            <a:endParaRPr lang="en-US"/>
          </a:p>
        </p:txBody>
      </p:sp>
      <p:grpSp>
        <p:nvGrpSpPr>
          <p:cNvPr id="25" name="Group 24">
            <a:extLst>
              <a:ext uri="{FF2B5EF4-FFF2-40B4-BE49-F238E27FC236}">
                <a16:creationId xmlns:a16="http://schemas.microsoft.com/office/drawing/2014/main" id="{16A7670D-A8D2-C463-1BCE-0F0F055C13B0}"/>
              </a:ext>
            </a:extLst>
          </p:cNvPr>
          <p:cNvGrpSpPr/>
          <p:nvPr/>
        </p:nvGrpSpPr>
        <p:grpSpPr>
          <a:xfrm>
            <a:off x="9714364" y="6286500"/>
            <a:ext cx="7908592" cy="3429000"/>
            <a:chOff x="9714364" y="6286500"/>
            <a:chExt cx="7908592" cy="3429000"/>
          </a:xfrm>
        </p:grpSpPr>
        <p:sp>
          <p:nvSpPr>
            <p:cNvPr id="9" name="Rectangle: Rounded Corners 8">
              <a:extLst>
                <a:ext uri="{FF2B5EF4-FFF2-40B4-BE49-F238E27FC236}">
                  <a16:creationId xmlns:a16="http://schemas.microsoft.com/office/drawing/2014/main" id="{49A159F4-9F78-117D-BFA5-9CA770AECC50}"/>
                </a:ext>
              </a:extLst>
            </p:cNvPr>
            <p:cNvSpPr/>
            <p:nvPr/>
          </p:nvSpPr>
          <p:spPr>
            <a:xfrm>
              <a:off x="9753600" y="6286500"/>
              <a:ext cx="7795427" cy="3429000"/>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ECC54BC4-59CE-4847-9BA3-D308056D0401}"/>
                </a:ext>
              </a:extLst>
            </p:cNvPr>
            <p:cNvSpPr txBox="1"/>
            <p:nvPr/>
          </p:nvSpPr>
          <p:spPr>
            <a:xfrm>
              <a:off x="9714364" y="6517094"/>
              <a:ext cx="7908592" cy="2739211"/>
            </a:xfrm>
            <a:prstGeom prst="rect">
              <a:avLst/>
            </a:prstGeom>
            <a:noFill/>
          </p:spPr>
          <p:txBody>
            <a:bodyPr wrap="square" rtlCol="0">
              <a:spAutoFit/>
            </a:bodyPr>
            <a:lstStyle/>
            <a:p>
              <a:pPr algn="ctr"/>
              <a:r>
                <a:rPr lang="en-US" sz="3200" b="1" dirty="0">
                  <a:solidFill>
                    <a:schemeClr val="bg1"/>
                  </a:solidFill>
                </a:rPr>
                <a:t>Scheduling &amp; Time Variance</a:t>
              </a:r>
            </a:p>
            <a:p>
              <a:pPr marL="457200" indent="-457200">
                <a:buFont typeface="Arial" panose="020B0604020202020204" pitchFamily="34" charset="0"/>
                <a:buChar char="•"/>
              </a:pPr>
              <a:r>
                <a:rPr lang="en-US" sz="2800" dirty="0">
                  <a:solidFill>
                    <a:schemeClr val="bg1"/>
                  </a:solidFill>
                </a:rPr>
                <a:t>What percentage of our total jobs are currently failing or delayed?</a:t>
              </a:r>
            </a:p>
            <a:p>
              <a:pPr marL="457200" indent="-457200">
                <a:buFont typeface="Arial" panose="020B0604020202020204" pitchFamily="34" charset="0"/>
                <a:buChar char="•"/>
              </a:pPr>
              <a:r>
                <a:rPr lang="en-US" sz="2800" dirty="0">
                  <a:solidFill>
                    <a:schemeClr val="bg1"/>
                  </a:solidFill>
                </a:rPr>
                <a:t>Which operators have the most "Delayed" jobs?</a:t>
              </a:r>
            </a:p>
            <a:p>
              <a:pPr marL="457200" indent="-457200">
                <a:buFont typeface="Arial" panose="020B0604020202020204" pitchFamily="34" charset="0"/>
                <a:buChar char="•"/>
              </a:pPr>
              <a:r>
                <a:rPr lang="en-US" sz="2800" dirty="0">
                  <a:solidFill>
                    <a:schemeClr val="bg1"/>
                  </a:solidFill>
                </a:rPr>
                <a:t>How does our actual production volume compare to what we scheduled?</a:t>
              </a:r>
              <a:endParaRPr lang="en-US" sz="2800" b="1" dirty="0">
                <a:solidFill>
                  <a:schemeClr val="bg1"/>
                </a:solidFill>
              </a:endParaRPr>
            </a:p>
          </p:txBody>
        </p:sp>
        <p:sp>
          <p:nvSpPr>
            <p:cNvPr id="19" name="Freeform 9">
              <a:extLst>
                <a:ext uri="{FF2B5EF4-FFF2-40B4-BE49-F238E27FC236}">
                  <a16:creationId xmlns:a16="http://schemas.microsoft.com/office/drawing/2014/main" id="{8FD2A181-6196-6208-6531-572F2A7F0E06}"/>
                </a:ext>
              </a:extLst>
            </p:cNvPr>
            <p:cNvSpPr/>
            <p:nvPr/>
          </p:nvSpPr>
          <p:spPr>
            <a:xfrm>
              <a:off x="10439400" y="6456538"/>
              <a:ext cx="762000" cy="658138"/>
            </a:xfrm>
            <a:custGeom>
              <a:avLst/>
              <a:gdLst/>
              <a:ahLst/>
              <a:cxnLst/>
              <a:rect l="l" t="t" r="r" b="b"/>
              <a:pathLst>
                <a:path w="4167845" h="4114800">
                  <a:moveTo>
                    <a:pt x="0" y="0"/>
                  </a:moveTo>
                  <a:lnTo>
                    <a:pt x="4167845" y="0"/>
                  </a:lnTo>
                  <a:lnTo>
                    <a:pt x="4167845" y="4114800"/>
                  </a:lnTo>
                  <a:lnTo>
                    <a:pt x="0" y="4114800"/>
                  </a:lnTo>
                  <a:lnTo>
                    <a:pt x="0" y="0"/>
                  </a:lnTo>
                  <a:close/>
                </a:path>
              </a:pathLst>
            </a:custGeom>
            <a:blipFill>
              <a:blip>
                <a:extLst>
                  <a:ext uri="{96DAC541-7B7A-43D3-8B79-37D633B846F1}">
                    <asvg:svgBlip xmlns:asvg="http://schemas.microsoft.com/office/drawing/2016/SVG/main" r:embed="rId8"/>
                  </a:ext>
                </a:extLst>
              </a:blip>
              <a:stretch>
                <a:fillRect/>
              </a:stretch>
            </a:blipFill>
          </p:spPr>
          <p:txBody>
            <a:bodyPr/>
            <a:lstStyle/>
            <a:p>
              <a:endParaRPr lang="en-US"/>
            </a:p>
          </p:txBody>
        </p:sp>
      </p:grpSp>
      <p:grpSp>
        <p:nvGrpSpPr>
          <p:cNvPr id="24" name="Group 23">
            <a:extLst>
              <a:ext uri="{FF2B5EF4-FFF2-40B4-BE49-F238E27FC236}">
                <a16:creationId xmlns:a16="http://schemas.microsoft.com/office/drawing/2014/main" id="{ACED3445-7D1A-5313-B740-CE0F0F65D004}"/>
              </a:ext>
            </a:extLst>
          </p:cNvPr>
          <p:cNvGrpSpPr/>
          <p:nvPr/>
        </p:nvGrpSpPr>
        <p:grpSpPr>
          <a:xfrm>
            <a:off x="731599" y="6373437"/>
            <a:ext cx="7795427" cy="2739211"/>
            <a:chOff x="731599" y="6373437"/>
            <a:chExt cx="7795427" cy="2739211"/>
          </a:xfrm>
        </p:grpSpPr>
        <p:sp>
          <p:nvSpPr>
            <p:cNvPr id="16" name="TextBox 15">
              <a:extLst>
                <a:ext uri="{FF2B5EF4-FFF2-40B4-BE49-F238E27FC236}">
                  <a16:creationId xmlns:a16="http://schemas.microsoft.com/office/drawing/2014/main" id="{0985A8BA-DAEA-88B4-C20C-95370E1DAA04}"/>
                </a:ext>
              </a:extLst>
            </p:cNvPr>
            <p:cNvSpPr txBox="1"/>
            <p:nvPr/>
          </p:nvSpPr>
          <p:spPr>
            <a:xfrm>
              <a:off x="731599" y="6373437"/>
              <a:ext cx="7795427" cy="2739211"/>
            </a:xfrm>
            <a:prstGeom prst="rect">
              <a:avLst/>
            </a:prstGeom>
            <a:noFill/>
          </p:spPr>
          <p:txBody>
            <a:bodyPr wrap="square" rtlCol="0">
              <a:spAutoFit/>
            </a:bodyPr>
            <a:lstStyle/>
            <a:p>
              <a:pPr algn="ctr"/>
              <a:r>
                <a:rPr lang="en-US" sz="3200" b="1" dirty="0">
                  <a:solidFill>
                    <a:schemeClr val="bg1"/>
                  </a:solidFill>
                </a:rPr>
                <a:t>Quality Control &amp; Optimization</a:t>
              </a:r>
            </a:p>
            <a:p>
              <a:pPr marL="457200" indent="-457200">
                <a:buFont typeface="Arial" panose="020B0604020202020204" pitchFamily="34" charset="0"/>
                <a:buChar char="•"/>
              </a:pPr>
              <a:r>
                <a:rPr lang="en-US" sz="2800" dirty="0">
                  <a:solidFill>
                    <a:schemeClr val="bg1"/>
                  </a:solidFill>
                </a:rPr>
                <a:t>Is our quality improving or declining over time?</a:t>
              </a:r>
            </a:p>
            <a:p>
              <a:pPr marL="457200" indent="-457200">
                <a:buFont typeface="Arial" panose="020B0604020202020204" pitchFamily="34" charset="0"/>
                <a:buChar char="•"/>
              </a:pPr>
              <a:r>
                <a:rPr lang="en-US" sz="2800" dirty="0">
                  <a:solidFill>
                    <a:schemeClr val="bg1"/>
                  </a:solidFill>
                </a:rPr>
                <a:t>Which operation type has the highest failure rate?</a:t>
              </a:r>
            </a:p>
            <a:p>
              <a:pPr marL="457200" indent="-457200">
                <a:buFont typeface="Arial" panose="020B0604020202020204" pitchFamily="34" charset="0"/>
                <a:buChar char="•"/>
              </a:pPr>
              <a:r>
                <a:rPr lang="en-US" sz="2800" dirty="0">
                  <a:solidFill>
                    <a:schemeClr val="bg1"/>
                  </a:solidFill>
                </a:rPr>
                <a:t>Does machine identity correlate with higher errors?</a:t>
              </a:r>
              <a:endParaRPr lang="en-US" sz="2800" b="1" dirty="0">
                <a:solidFill>
                  <a:schemeClr val="bg1"/>
                </a:solidFill>
              </a:endParaRPr>
            </a:p>
          </p:txBody>
        </p:sp>
        <p:sp>
          <p:nvSpPr>
            <p:cNvPr id="20" name="Freeform 12">
              <a:extLst>
                <a:ext uri="{FF2B5EF4-FFF2-40B4-BE49-F238E27FC236}">
                  <a16:creationId xmlns:a16="http://schemas.microsoft.com/office/drawing/2014/main" id="{56DC24BB-EBD1-FEBC-8EFB-CF684FE8B755}"/>
                </a:ext>
              </a:extLst>
            </p:cNvPr>
            <p:cNvSpPr/>
            <p:nvPr/>
          </p:nvSpPr>
          <p:spPr>
            <a:xfrm>
              <a:off x="1335351" y="6373437"/>
              <a:ext cx="685800" cy="582653"/>
            </a:xfrm>
            <a:custGeom>
              <a:avLst/>
              <a:gdLst/>
              <a:ahLst/>
              <a:cxnLst/>
              <a:rect l="l" t="t" r="r" b="b"/>
              <a:pathLst>
                <a:path w="4114800" h="4114800">
                  <a:moveTo>
                    <a:pt x="0" y="0"/>
                  </a:moveTo>
                  <a:lnTo>
                    <a:pt x="4114800" y="0"/>
                  </a:lnTo>
                  <a:lnTo>
                    <a:pt x="4114800" y="4114800"/>
                  </a:lnTo>
                  <a:lnTo>
                    <a:pt x="0" y="4114800"/>
                  </a:lnTo>
                  <a:lnTo>
                    <a:pt x="0" y="0"/>
                  </a:lnTo>
                  <a:close/>
                </a:path>
              </a:pathLst>
            </a:custGeom>
            <a:blipFill>
              <a:blip>
                <a:extLst>
                  <a:ext uri="{96DAC541-7B7A-43D3-8B79-37D633B846F1}">
                    <asvg:svgBlip xmlns:asvg="http://schemas.microsoft.com/office/drawing/2016/SVG/main" r:embed="rId9"/>
                  </a:ext>
                </a:extLst>
              </a:blip>
              <a:stretch>
                <a:fillRect/>
              </a:stretch>
            </a:blipFill>
          </p:spPr>
          <p:txBody>
            <a:bodyPr/>
            <a:lstStyle/>
            <a:p>
              <a:endParaRPr lang="en-US"/>
            </a:p>
          </p:txBody>
        </p:sp>
      </p:grpSp>
      <p:grpSp>
        <p:nvGrpSpPr>
          <p:cNvPr id="23" name="Group 22">
            <a:extLst>
              <a:ext uri="{FF2B5EF4-FFF2-40B4-BE49-F238E27FC236}">
                <a16:creationId xmlns:a16="http://schemas.microsoft.com/office/drawing/2014/main" id="{84DCD877-CA60-6F3D-C43D-6545CA69C125}"/>
              </a:ext>
            </a:extLst>
          </p:cNvPr>
          <p:cNvGrpSpPr/>
          <p:nvPr/>
        </p:nvGrpSpPr>
        <p:grpSpPr>
          <a:xfrm>
            <a:off x="9753602" y="1714499"/>
            <a:ext cx="8000998" cy="3452039"/>
            <a:chOff x="9753602" y="1714499"/>
            <a:chExt cx="8000998" cy="3452039"/>
          </a:xfrm>
        </p:grpSpPr>
        <p:sp>
          <p:nvSpPr>
            <p:cNvPr id="11" name="Rectangle: Rounded Corners 10">
              <a:extLst>
                <a:ext uri="{FF2B5EF4-FFF2-40B4-BE49-F238E27FC236}">
                  <a16:creationId xmlns:a16="http://schemas.microsoft.com/office/drawing/2014/main" id="{9995F009-11C0-E2DB-9EF8-F4AAF976D7A7}"/>
                </a:ext>
              </a:extLst>
            </p:cNvPr>
            <p:cNvSpPr/>
            <p:nvPr/>
          </p:nvSpPr>
          <p:spPr>
            <a:xfrm>
              <a:off x="9753602" y="1714499"/>
              <a:ext cx="8000998" cy="3452039"/>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555496BF-4802-64D1-C3E1-160CE80E692C}"/>
                </a:ext>
              </a:extLst>
            </p:cNvPr>
            <p:cNvSpPr txBox="1"/>
            <p:nvPr/>
          </p:nvSpPr>
          <p:spPr>
            <a:xfrm>
              <a:off x="10287000" y="2009370"/>
              <a:ext cx="7315200" cy="2739211"/>
            </a:xfrm>
            <a:prstGeom prst="rect">
              <a:avLst/>
            </a:prstGeom>
            <a:noFill/>
          </p:spPr>
          <p:txBody>
            <a:bodyPr wrap="square" rtlCol="0">
              <a:spAutoFit/>
            </a:bodyPr>
            <a:lstStyle/>
            <a:p>
              <a:pPr algn="ctr"/>
              <a:r>
                <a:rPr lang="en-US" sz="3200" b="1" dirty="0">
                  <a:solidFill>
                    <a:schemeClr val="bg1"/>
                  </a:solidFill>
                </a:rPr>
                <a:t>Machine Technical Performance</a:t>
              </a:r>
            </a:p>
            <a:p>
              <a:pPr marL="457200" indent="-457200">
                <a:buFont typeface="Arial" panose="020B0604020202020204" pitchFamily="34" charset="0"/>
                <a:buChar char="•"/>
              </a:pPr>
              <a:r>
                <a:rPr lang="en-US" sz="2800" dirty="0">
                  <a:solidFill>
                    <a:schemeClr val="bg1"/>
                  </a:solidFill>
                </a:rPr>
                <a:t>Which machine is the most reliable?</a:t>
              </a:r>
            </a:p>
            <a:p>
              <a:pPr marL="457200" indent="-457200">
                <a:buFont typeface="Arial" panose="020B0604020202020204" pitchFamily="34" charset="0"/>
                <a:buChar char="•"/>
              </a:pPr>
              <a:r>
                <a:rPr lang="en-US" sz="2800" dirty="0">
                  <a:solidFill>
                    <a:schemeClr val="bg1"/>
                  </a:solidFill>
                </a:rPr>
                <a:t>What is the primary cause of equipment downtime?</a:t>
              </a:r>
            </a:p>
            <a:p>
              <a:pPr marL="457200" indent="-457200">
                <a:buFont typeface="Arial" panose="020B0604020202020204" pitchFamily="34" charset="0"/>
                <a:buChar char="•"/>
              </a:pPr>
              <a:r>
                <a:rPr lang="en-US" sz="2800" dirty="0">
                  <a:solidFill>
                    <a:schemeClr val="bg1"/>
                  </a:solidFill>
                </a:rPr>
                <a:t>Are certain machines consuming more raw materials than others?</a:t>
              </a:r>
              <a:endParaRPr lang="en-US" sz="2800" b="1" dirty="0">
                <a:solidFill>
                  <a:schemeClr val="bg1"/>
                </a:solidFill>
              </a:endParaRPr>
            </a:p>
          </p:txBody>
        </p:sp>
        <p:sp>
          <p:nvSpPr>
            <p:cNvPr id="21" name="Freeform 8">
              <a:extLst>
                <a:ext uri="{FF2B5EF4-FFF2-40B4-BE49-F238E27FC236}">
                  <a16:creationId xmlns:a16="http://schemas.microsoft.com/office/drawing/2014/main" id="{306483EB-BCCF-0FF5-60B1-1EAF8D026AD8}"/>
                </a:ext>
              </a:extLst>
            </p:cNvPr>
            <p:cNvSpPr/>
            <p:nvPr/>
          </p:nvSpPr>
          <p:spPr>
            <a:xfrm>
              <a:off x="10311553" y="1988352"/>
              <a:ext cx="799872" cy="562829"/>
            </a:xfrm>
            <a:custGeom>
              <a:avLst/>
              <a:gdLst/>
              <a:ahLst/>
              <a:cxnLst/>
              <a:rect l="l" t="t" r="r" b="b"/>
              <a:pathLst>
                <a:path w="4137367" h="4114800">
                  <a:moveTo>
                    <a:pt x="0" y="0"/>
                  </a:moveTo>
                  <a:lnTo>
                    <a:pt x="4137368" y="0"/>
                  </a:lnTo>
                  <a:lnTo>
                    <a:pt x="4137368" y="4114800"/>
                  </a:lnTo>
                  <a:lnTo>
                    <a:pt x="0" y="4114800"/>
                  </a:lnTo>
                  <a:lnTo>
                    <a:pt x="0" y="0"/>
                  </a:lnTo>
                  <a:close/>
                </a:path>
              </a:pathLst>
            </a:custGeom>
            <a:blipFill>
              <a:blip>
                <a:extLst>
                  <a:ext uri="{96DAC541-7B7A-43D3-8B79-37D633B846F1}">
                    <asvg:svgBlip xmlns:asvg="http://schemas.microsoft.com/office/drawing/2016/SVG/main" r:embed="rId10"/>
                  </a:ext>
                </a:extLst>
              </a:blip>
              <a:stretch>
                <a:fillRect/>
              </a:stretch>
            </a:blipFill>
          </p:spPr>
          <p:txBody>
            <a:bodyPr/>
            <a:lstStyle/>
            <a:p>
              <a:endParaRPr lang="en-US"/>
            </a:p>
          </p:txBody>
        </p:sp>
      </p:gr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500"/>
                                        <p:tgtEl>
                                          <p:spTgt spid="2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8"/>
                                        </p:tgtEl>
                                        <p:attrNameLst>
                                          <p:attrName>style.visibility</p:attrName>
                                        </p:attrNameLst>
                                      </p:cBhvr>
                                      <p:to>
                                        <p:strVal val="visible"/>
                                      </p:to>
                                    </p:set>
                                    <p:animEffect transition="in" filter="fade">
                                      <p:cBhvr>
                                        <p:cTn id="10" dur="500"/>
                                        <p:tgtEl>
                                          <p:spTgt spid="18"/>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00"/>
                                        <p:tgtEl>
                                          <p:spTgt spid="23"/>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10"/>
                                        </p:tgtEl>
                                        <p:attrNameLst>
                                          <p:attrName>style.visibility</p:attrName>
                                        </p:attrNameLst>
                                      </p:cBhvr>
                                      <p:to>
                                        <p:strVal val="visible"/>
                                      </p:to>
                                    </p:set>
                                    <p:animEffect transition="in" filter="fade">
                                      <p:cBhvr>
                                        <p:cTn id="20" dur="500"/>
                                        <p:tgtEl>
                                          <p:spTgt spid="10"/>
                                        </p:tgtEl>
                                      </p:cBhvr>
                                    </p:animEffect>
                                  </p:childTnLst>
                                </p:cTn>
                              </p:par>
                              <p:par>
                                <p:cTn id="21" presetID="10" presetClass="entr" presetSubtype="0" fill="hold" nodeType="with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500"/>
                                        <p:tgtEl>
                                          <p:spTgt spid="24"/>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25"/>
                                        </p:tgtEl>
                                        <p:attrNameLst>
                                          <p:attrName>style.visibility</p:attrName>
                                        </p:attrNameLst>
                                      </p:cBhvr>
                                      <p:to>
                                        <p:strVal val="visible"/>
                                      </p:to>
                                    </p:set>
                                    <p:animEffect transition="in" filter="fade">
                                      <p:cBhvr>
                                        <p:cTn id="28"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8"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t="-15111" b="-15111"/>
            </a:stretch>
          </a:blipFill>
        </p:spPr>
        <p:txBody>
          <a:bodyPr/>
          <a:lstStyle/>
          <a:p>
            <a:endParaRPr lang="en-US" dirty="0"/>
          </a:p>
        </p:txBody>
      </p:sp>
      <p:grpSp>
        <p:nvGrpSpPr>
          <p:cNvPr id="3" name="Group 3"/>
          <p:cNvGrpSpPr/>
          <p:nvPr/>
        </p:nvGrpSpPr>
        <p:grpSpPr>
          <a:xfrm>
            <a:off x="93425" y="4780552"/>
            <a:ext cx="1601081" cy="1534379"/>
            <a:chOff x="0" y="0"/>
            <a:chExt cx="848134" cy="812800"/>
          </a:xfrm>
        </p:grpSpPr>
        <p:sp>
          <p:nvSpPr>
            <p:cNvPr id="4" name="Freeform 4"/>
            <p:cNvSpPr/>
            <p:nvPr/>
          </p:nvSpPr>
          <p:spPr>
            <a:xfrm>
              <a:off x="0" y="0"/>
              <a:ext cx="848134" cy="812800"/>
            </a:xfrm>
            <a:custGeom>
              <a:avLst/>
              <a:gdLst/>
              <a:ahLst/>
              <a:cxnLst/>
              <a:rect l="l" t="t" r="r" b="b"/>
              <a:pathLst>
                <a:path w="848134" h="812800">
                  <a:moveTo>
                    <a:pt x="424067" y="0"/>
                  </a:moveTo>
                  <a:cubicBezTo>
                    <a:pt x="189861" y="0"/>
                    <a:pt x="0" y="181951"/>
                    <a:pt x="0" y="406400"/>
                  </a:cubicBezTo>
                  <a:cubicBezTo>
                    <a:pt x="0" y="630849"/>
                    <a:pt x="189861" y="812800"/>
                    <a:pt x="424067" y="812800"/>
                  </a:cubicBezTo>
                  <a:cubicBezTo>
                    <a:pt x="658273" y="812800"/>
                    <a:pt x="848134" y="630849"/>
                    <a:pt x="848134" y="406400"/>
                  </a:cubicBezTo>
                  <a:cubicBezTo>
                    <a:pt x="848134" y="181951"/>
                    <a:pt x="658273" y="0"/>
                    <a:pt x="424067" y="0"/>
                  </a:cubicBezTo>
                  <a:close/>
                </a:path>
              </a:pathLst>
            </a:custGeom>
            <a:solidFill>
              <a:srgbClr val="00030A"/>
            </a:solidFill>
          </p:spPr>
          <p:txBody>
            <a:bodyPr/>
            <a:lstStyle/>
            <a:p>
              <a:endParaRPr lang="en-US"/>
            </a:p>
          </p:txBody>
        </p:sp>
        <p:sp>
          <p:nvSpPr>
            <p:cNvPr id="5" name="TextBox 5"/>
            <p:cNvSpPr txBox="1"/>
            <p:nvPr/>
          </p:nvSpPr>
          <p:spPr>
            <a:xfrm>
              <a:off x="79513" y="28575"/>
              <a:ext cx="689109" cy="708025"/>
            </a:xfrm>
            <a:prstGeom prst="rect">
              <a:avLst/>
            </a:prstGeom>
          </p:spPr>
          <p:txBody>
            <a:bodyPr lIns="50800" tIns="50800" rIns="50800" bIns="50800" rtlCol="0" anchor="ctr"/>
            <a:lstStyle/>
            <a:p>
              <a:pPr marL="0" lvl="0" indent="0" algn="ctr">
                <a:lnSpc>
                  <a:spcPts val="3269"/>
                </a:lnSpc>
              </a:pPr>
              <a:r>
                <a:rPr lang="en-US" sz="2335" dirty="0">
                  <a:solidFill>
                    <a:srgbClr val="EAEAEA"/>
                  </a:solidFill>
                  <a:latin typeface="Decalotype"/>
                  <a:ea typeface="Decalotype"/>
                  <a:cs typeface="Decalotype"/>
                  <a:sym typeface="Decalotype"/>
                </a:rPr>
                <a:t>01 Dataset</a:t>
              </a:r>
            </a:p>
          </p:txBody>
        </p:sp>
      </p:grpSp>
      <p:sp>
        <p:nvSpPr>
          <p:cNvPr id="6" name="AutoShape 6"/>
          <p:cNvSpPr/>
          <p:nvPr/>
        </p:nvSpPr>
        <p:spPr>
          <a:xfrm flipV="1">
            <a:off x="1694506" y="5536536"/>
            <a:ext cx="14972616" cy="11205"/>
          </a:xfrm>
          <a:prstGeom prst="line">
            <a:avLst/>
          </a:prstGeom>
          <a:ln w="38100" cap="rnd">
            <a:solidFill>
              <a:srgbClr val="00030A"/>
            </a:solidFill>
            <a:prstDash val="solid"/>
            <a:headEnd type="none" w="sm" len="sm"/>
            <a:tailEnd type="none" w="sm" len="sm"/>
          </a:ln>
        </p:spPr>
        <p:txBody>
          <a:bodyPr/>
          <a:lstStyle/>
          <a:p>
            <a:endParaRPr lang="en-US"/>
          </a:p>
        </p:txBody>
      </p:sp>
      <p:grpSp>
        <p:nvGrpSpPr>
          <p:cNvPr id="7" name="Group 7"/>
          <p:cNvGrpSpPr/>
          <p:nvPr/>
        </p:nvGrpSpPr>
        <p:grpSpPr>
          <a:xfrm>
            <a:off x="2907052" y="4769347"/>
            <a:ext cx="1538872" cy="1534379"/>
            <a:chOff x="0" y="0"/>
            <a:chExt cx="815180" cy="812800"/>
          </a:xfrm>
        </p:grpSpPr>
        <p:sp>
          <p:nvSpPr>
            <p:cNvPr id="8" name="Freeform 8"/>
            <p:cNvSpPr/>
            <p:nvPr/>
          </p:nvSpPr>
          <p:spPr>
            <a:xfrm>
              <a:off x="0" y="0"/>
              <a:ext cx="815180" cy="812800"/>
            </a:xfrm>
            <a:custGeom>
              <a:avLst/>
              <a:gdLst/>
              <a:ahLst/>
              <a:cxnLst/>
              <a:rect l="l" t="t" r="r" b="b"/>
              <a:pathLst>
                <a:path w="815180" h="812800">
                  <a:moveTo>
                    <a:pt x="407590" y="0"/>
                  </a:moveTo>
                  <a:cubicBezTo>
                    <a:pt x="182484" y="0"/>
                    <a:pt x="0" y="181951"/>
                    <a:pt x="0" y="406400"/>
                  </a:cubicBezTo>
                  <a:cubicBezTo>
                    <a:pt x="0" y="630849"/>
                    <a:pt x="182484" y="812800"/>
                    <a:pt x="407590" y="812800"/>
                  </a:cubicBezTo>
                  <a:cubicBezTo>
                    <a:pt x="632696" y="812800"/>
                    <a:pt x="815180" y="630849"/>
                    <a:pt x="815180" y="406400"/>
                  </a:cubicBezTo>
                  <a:cubicBezTo>
                    <a:pt x="815180" y="181951"/>
                    <a:pt x="632696" y="0"/>
                    <a:pt x="407590" y="0"/>
                  </a:cubicBezTo>
                  <a:close/>
                </a:path>
              </a:pathLst>
            </a:custGeom>
            <a:solidFill>
              <a:srgbClr val="00030A"/>
            </a:solidFill>
          </p:spPr>
          <p:txBody>
            <a:bodyPr/>
            <a:lstStyle/>
            <a:p>
              <a:endParaRPr lang="en-US"/>
            </a:p>
          </p:txBody>
        </p:sp>
        <p:sp>
          <p:nvSpPr>
            <p:cNvPr id="9" name="TextBox 9"/>
            <p:cNvSpPr txBox="1"/>
            <p:nvPr/>
          </p:nvSpPr>
          <p:spPr>
            <a:xfrm>
              <a:off x="76423" y="28575"/>
              <a:ext cx="662334" cy="708025"/>
            </a:xfrm>
            <a:prstGeom prst="rect">
              <a:avLst/>
            </a:prstGeom>
          </p:spPr>
          <p:txBody>
            <a:bodyPr lIns="50800" tIns="50800" rIns="50800" bIns="50800" rtlCol="0" anchor="ctr"/>
            <a:lstStyle/>
            <a:p>
              <a:pPr marL="0" lvl="0" indent="0" algn="ctr">
                <a:lnSpc>
                  <a:spcPts val="3269"/>
                </a:lnSpc>
              </a:pPr>
              <a:r>
                <a:rPr lang="en-US" sz="2335">
                  <a:solidFill>
                    <a:srgbClr val="EAEAEA"/>
                  </a:solidFill>
                  <a:latin typeface="Decalotype"/>
                  <a:ea typeface="Decalotype"/>
                  <a:cs typeface="Decalotype"/>
                  <a:sym typeface="Decalotype"/>
                </a:rPr>
                <a:t>02 Data Clean</a:t>
              </a:r>
            </a:p>
          </p:txBody>
        </p:sp>
      </p:grpSp>
      <p:grpSp>
        <p:nvGrpSpPr>
          <p:cNvPr id="10" name="Group 10"/>
          <p:cNvGrpSpPr/>
          <p:nvPr/>
        </p:nvGrpSpPr>
        <p:grpSpPr>
          <a:xfrm>
            <a:off x="8464371" y="4769347"/>
            <a:ext cx="1534379" cy="1534379"/>
            <a:chOff x="0" y="0"/>
            <a:chExt cx="812800" cy="812800"/>
          </a:xfrm>
        </p:grpSpPr>
        <p:sp>
          <p:nvSpPr>
            <p:cNvPr id="11" name="Freeform 11"/>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30A"/>
            </a:solidFill>
          </p:spPr>
          <p:txBody>
            <a:bodyPr/>
            <a:lstStyle/>
            <a:p>
              <a:endParaRPr lang="en-US"/>
            </a:p>
          </p:txBody>
        </p:sp>
        <p:sp>
          <p:nvSpPr>
            <p:cNvPr id="12" name="TextBox 12"/>
            <p:cNvSpPr txBox="1"/>
            <p:nvPr/>
          </p:nvSpPr>
          <p:spPr>
            <a:xfrm>
              <a:off x="76200" y="28575"/>
              <a:ext cx="660400" cy="708025"/>
            </a:xfrm>
            <a:prstGeom prst="rect">
              <a:avLst/>
            </a:prstGeom>
          </p:spPr>
          <p:txBody>
            <a:bodyPr lIns="50800" tIns="50800" rIns="50800" bIns="50800" rtlCol="0" anchor="ctr"/>
            <a:lstStyle/>
            <a:p>
              <a:pPr marL="0" lvl="0" indent="0" algn="ctr">
                <a:lnSpc>
                  <a:spcPts val="3269"/>
                </a:lnSpc>
              </a:pPr>
              <a:r>
                <a:rPr lang="en-US" sz="2335">
                  <a:solidFill>
                    <a:srgbClr val="EAEAEA"/>
                  </a:solidFill>
                  <a:latin typeface="Decalotype"/>
                  <a:ea typeface="Decalotype"/>
                  <a:cs typeface="Decalotype"/>
                  <a:sym typeface="Decalotype"/>
                </a:rPr>
                <a:t>04 Daxs</a:t>
              </a:r>
            </a:p>
          </p:txBody>
        </p:sp>
      </p:grpSp>
      <p:grpSp>
        <p:nvGrpSpPr>
          <p:cNvPr id="13" name="Group 13"/>
          <p:cNvGrpSpPr/>
          <p:nvPr/>
        </p:nvGrpSpPr>
        <p:grpSpPr>
          <a:xfrm>
            <a:off x="5655599" y="4769347"/>
            <a:ext cx="1599098" cy="1534379"/>
            <a:chOff x="0" y="0"/>
            <a:chExt cx="847083" cy="812800"/>
          </a:xfrm>
        </p:grpSpPr>
        <p:sp>
          <p:nvSpPr>
            <p:cNvPr id="14" name="Freeform 14"/>
            <p:cNvSpPr/>
            <p:nvPr/>
          </p:nvSpPr>
          <p:spPr>
            <a:xfrm>
              <a:off x="0" y="0"/>
              <a:ext cx="847083" cy="812800"/>
            </a:xfrm>
            <a:custGeom>
              <a:avLst/>
              <a:gdLst/>
              <a:ahLst/>
              <a:cxnLst/>
              <a:rect l="l" t="t" r="r" b="b"/>
              <a:pathLst>
                <a:path w="847083" h="812800">
                  <a:moveTo>
                    <a:pt x="423542" y="0"/>
                  </a:moveTo>
                  <a:cubicBezTo>
                    <a:pt x="189626" y="0"/>
                    <a:pt x="0" y="181951"/>
                    <a:pt x="0" y="406400"/>
                  </a:cubicBezTo>
                  <a:cubicBezTo>
                    <a:pt x="0" y="630849"/>
                    <a:pt x="189626" y="812800"/>
                    <a:pt x="423542" y="812800"/>
                  </a:cubicBezTo>
                  <a:cubicBezTo>
                    <a:pt x="657457" y="812800"/>
                    <a:pt x="847083" y="630849"/>
                    <a:pt x="847083" y="406400"/>
                  </a:cubicBezTo>
                  <a:cubicBezTo>
                    <a:pt x="847083" y="181951"/>
                    <a:pt x="657457" y="0"/>
                    <a:pt x="423542" y="0"/>
                  </a:cubicBezTo>
                  <a:close/>
                </a:path>
              </a:pathLst>
            </a:custGeom>
            <a:solidFill>
              <a:srgbClr val="00030A"/>
            </a:solidFill>
          </p:spPr>
          <p:txBody>
            <a:bodyPr/>
            <a:lstStyle/>
            <a:p>
              <a:endParaRPr lang="en-US"/>
            </a:p>
          </p:txBody>
        </p:sp>
        <p:sp>
          <p:nvSpPr>
            <p:cNvPr id="15" name="TextBox 15"/>
            <p:cNvSpPr txBox="1"/>
            <p:nvPr/>
          </p:nvSpPr>
          <p:spPr>
            <a:xfrm>
              <a:off x="79414" y="28575"/>
              <a:ext cx="688255" cy="708025"/>
            </a:xfrm>
            <a:prstGeom prst="rect">
              <a:avLst/>
            </a:prstGeom>
          </p:spPr>
          <p:txBody>
            <a:bodyPr lIns="50800" tIns="50800" rIns="50800" bIns="50800" rtlCol="0" anchor="ctr"/>
            <a:lstStyle/>
            <a:p>
              <a:pPr marL="0" lvl="0" indent="0" algn="ctr">
                <a:lnSpc>
                  <a:spcPts val="3269"/>
                </a:lnSpc>
              </a:pPr>
              <a:r>
                <a:rPr lang="en-US" sz="2335" dirty="0">
                  <a:solidFill>
                    <a:srgbClr val="EAEAEA"/>
                  </a:solidFill>
                  <a:latin typeface="Decalotype"/>
                  <a:ea typeface="Decalotype"/>
                  <a:cs typeface="Decalotype"/>
                  <a:sym typeface="Decalotype"/>
                </a:rPr>
                <a:t>03 Data Model</a:t>
              </a:r>
            </a:p>
          </p:txBody>
        </p:sp>
      </p:grpSp>
      <p:grpSp>
        <p:nvGrpSpPr>
          <p:cNvPr id="16" name="Group 16"/>
          <p:cNvGrpSpPr/>
          <p:nvPr/>
        </p:nvGrpSpPr>
        <p:grpSpPr>
          <a:xfrm>
            <a:off x="11208425" y="4769347"/>
            <a:ext cx="1594644" cy="1534379"/>
            <a:chOff x="0" y="0"/>
            <a:chExt cx="844724" cy="812800"/>
          </a:xfrm>
        </p:grpSpPr>
        <p:sp>
          <p:nvSpPr>
            <p:cNvPr id="17" name="Freeform 17"/>
            <p:cNvSpPr/>
            <p:nvPr/>
          </p:nvSpPr>
          <p:spPr>
            <a:xfrm>
              <a:off x="0" y="0"/>
              <a:ext cx="844724" cy="812800"/>
            </a:xfrm>
            <a:custGeom>
              <a:avLst/>
              <a:gdLst/>
              <a:ahLst/>
              <a:cxnLst/>
              <a:rect l="l" t="t" r="r" b="b"/>
              <a:pathLst>
                <a:path w="844724" h="812800">
                  <a:moveTo>
                    <a:pt x="422362" y="0"/>
                  </a:moveTo>
                  <a:cubicBezTo>
                    <a:pt x="189098" y="0"/>
                    <a:pt x="0" y="181951"/>
                    <a:pt x="0" y="406400"/>
                  </a:cubicBezTo>
                  <a:cubicBezTo>
                    <a:pt x="0" y="630849"/>
                    <a:pt x="189098" y="812800"/>
                    <a:pt x="422362" y="812800"/>
                  </a:cubicBezTo>
                  <a:cubicBezTo>
                    <a:pt x="655626" y="812800"/>
                    <a:pt x="844724" y="630849"/>
                    <a:pt x="844724" y="406400"/>
                  </a:cubicBezTo>
                  <a:cubicBezTo>
                    <a:pt x="844724" y="181951"/>
                    <a:pt x="655626" y="0"/>
                    <a:pt x="422362" y="0"/>
                  </a:cubicBezTo>
                  <a:close/>
                </a:path>
              </a:pathLst>
            </a:custGeom>
            <a:solidFill>
              <a:srgbClr val="00030A"/>
            </a:solidFill>
          </p:spPr>
          <p:txBody>
            <a:bodyPr/>
            <a:lstStyle/>
            <a:p>
              <a:endParaRPr lang="en-US"/>
            </a:p>
          </p:txBody>
        </p:sp>
        <p:sp>
          <p:nvSpPr>
            <p:cNvPr id="18" name="TextBox 18"/>
            <p:cNvSpPr txBox="1"/>
            <p:nvPr/>
          </p:nvSpPr>
          <p:spPr>
            <a:xfrm>
              <a:off x="79193" y="28575"/>
              <a:ext cx="686338" cy="708025"/>
            </a:xfrm>
            <a:prstGeom prst="rect">
              <a:avLst/>
            </a:prstGeom>
          </p:spPr>
          <p:txBody>
            <a:bodyPr lIns="50800" tIns="50800" rIns="50800" bIns="50800" rtlCol="0" anchor="ctr"/>
            <a:lstStyle/>
            <a:p>
              <a:pPr marL="0" lvl="0" indent="0" algn="ctr">
                <a:lnSpc>
                  <a:spcPts val="3269"/>
                </a:lnSpc>
              </a:pPr>
              <a:r>
                <a:rPr lang="en-US" sz="2335" dirty="0">
                  <a:solidFill>
                    <a:srgbClr val="EAEAEA"/>
                  </a:solidFill>
                  <a:latin typeface="Decalotype"/>
                  <a:ea typeface="Decalotype"/>
                  <a:cs typeface="Decalotype"/>
                  <a:sym typeface="Decalotype"/>
                </a:rPr>
                <a:t>05 Sample Visual</a:t>
              </a:r>
            </a:p>
          </p:txBody>
        </p:sp>
      </p:grpSp>
      <p:grpSp>
        <p:nvGrpSpPr>
          <p:cNvPr id="19" name="Group 19"/>
          <p:cNvGrpSpPr/>
          <p:nvPr/>
        </p:nvGrpSpPr>
        <p:grpSpPr>
          <a:xfrm>
            <a:off x="14012743" y="4749830"/>
            <a:ext cx="1534379" cy="1534379"/>
            <a:chOff x="0" y="0"/>
            <a:chExt cx="812800" cy="812800"/>
          </a:xfrm>
        </p:grpSpPr>
        <p:sp>
          <p:nvSpPr>
            <p:cNvPr id="20" name="Freeform 20"/>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30A"/>
            </a:solidFill>
          </p:spPr>
          <p:txBody>
            <a:bodyPr/>
            <a:lstStyle/>
            <a:p>
              <a:endParaRPr lang="en-US"/>
            </a:p>
          </p:txBody>
        </p:sp>
        <p:sp>
          <p:nvSpPr>
            <p:cNvPr id="21" name="TextBox 21"/>
            <p:cNvSpPr txBox="1"/>
            <p:nvPr/>
          </p:nvSpPr>
          <p:spPr>
            <a:xfrm>
              <a:off x="76200" y="28575"/>
              <a:ext cx="660400" cy="708025"/>
            </a:xfrm>
            <a:prstGeom prst="rect">
              <a:avLst/>
            </a:prstGeom>
          </p:spPr>
          <p:txBody>
            <a:bodyPr lIns="50800" tIns="50800" rIns="50800" bIns="50800" rtlCol="0" anchor="ctr"/>
            <a:lstStyle/>
            <a:p>
              <a:pPr marL="0" lvl="0" indent="0" algn="ctr">
                <a:lnSpc>
                  <a:spcPts val="3269"/>
                </a:lnSpc>
              </a:pPr>
              <a:r>
                <a:rPr lang="en-US" sz="2335" dirty="0">
                  <a:solidFill>
                    <a:srgbClr val="EAEAEA"/>
                  </a:solidFill>
                  <a:latin typeface="Decalotype"/>
                  <a:ea typeface="Decalotype"/>
                  <a:cs typeface="Decalotype"/>
                  <a:sym typeface="Decalotype"/>
                </a:rPr>
                <a:t>06 Reports</a:t>
              </a:r>
            </a:p>
          </p:txBody>
        </p:sp>
      </p:grpSp>
      <p:sp>
        <p:nvSpPr>
          <p:cNvPr id="22" name="Freeform 22"/>
          <p:cNvSpPr/>
          <p:nvPr/>
        </p:nvSpPr>
        <p:spPr>
          <a:xfrm>
            <a:off x="8136333" y="9585221"/>
            <a:ext cx="917711" cy="701779"/>
          </a:xfrm>
          <a:custGeom>
            <a:avLst/>
            <a:gdLst/>
            <a:ahLst/>
            <a:cxnLst/>
            <a:rect l="l" t="t" r="r" b="b"/>
            <a:pathLst>
              <a:path w="917711" h="701779">
                <a:moveTo>
                  <a:pt x="0" y="0"/>
                </a:moveTo>
                <a:lnTo>
                  <a:pt x="917711" y="0"/>
                </a:lnTo>
                <a:lnTo>
                  <a:pt x="917711" y="701779"/>
                </a:lnTo>
                <a:lnTo>
                  <a:pt x="0" y="701779"/>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a:p>
        </p:txBody>
      </p:sp>
      <p:sp>
        <p:nvSpPr>
          <p:cNvPr id="23" name="Freeform 23"/>
          <p:cNvSpPr/>
          <p:nvPr/>
        </p:nvSpPr>
        <p:spPr>
          <a:xfrm>
            <a:off x="9254069" y="9567706"/>
            <a:ext cx="744681" cy="719294"/>
          </a:xfrm>
          <a:custGeom>
            <a:avLst/>
            <a:gdLst/>
            <a:ahLst/>
            <a:cxnLst/>
            <a:rect l="l" t="t" r="r" b="b"/>
            <a:pathLst>
              <a:path w="744681" h="719294">
                <a:moveTo>
                  <a:pt x="0" y="0"/>
                </a:moveTo>
                <a:lnTo>
                  <a:pt x="744681" y="0"/>
                </a:lnTo>
                <a:lnTo>
                  <a:pt x="744681" y="719294"/>
                </a:lnTo>
                <a:lnTo>
                  <a:pt x="0" y="719294"/>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24" name="Freeform 24"/>
          <p:cNvSpPr/>
          <p:nvPr/>
        </p:nvSpPr>
        <p:spPr>
          <a:xfrm>
            <a:off x="10198775" y="9567706"/>
            <a:ext cx="785696" cy="688555"/>
          </a:xfrm>
          <a:custGeom>
            <a:avLst/>
            <a:gdLst/>
            <a:ahLst/>
            <a:cxnLst/>
            <a:rect l="l" t="t" r="r" b="b"/>
            <a:pathLst>
              <a:path w="785696" h="688555">
                <a:moveTo>
                  <a:pt x="0" y="0"/>
                </a:moveTo>
                <a:lnTo>
                  <a:pt x="785696" y="0"/>
                </a:lnTo>
                <a:lnTo>
                  <a:pt x="785696" y="688555"/>
                </a:lnTo>
                <a:lnTo>
                  <a:pt x="0" y="688555"/>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US"/>
          </a:p>
        </p:txBody>
      </p:sp>
      <p:sp>
        <p:nvSpPr>
          <p:cNvPr id="25" name="Freeform 25"/>
          <p:cNvSpPr/>
          <p:nvPr/>
        </p:nvSpPr>
        <p:spPr>
          <a:xfrm>
            <a:off x="7241864" y="9663811"/>
            <a:ext cx="831908" cy="623189"/>
          </a:xfrm>
          <a:custGeom>
            <a:avLst/>
            <a:gdLst/>
            <a:ahLst/>
            <a:cxnLst/>
            <a:rect l="l" t="t" r="r" b="b"/>
            <a:pathLst>
              <a:path w="831908" h="623189">
                <a:moveTo>
                  <a:pt x="0" y="0"/>
                </a:moveTo>
                <a:lnTo>
                  <a:pt x="831909" y="0"/>
                </a:lnTo>
                <a:lnTo>
                  <a:pt x="831909" y="623189"/>
                </a:lnTo>
                <a:lnTo>
                  <a:pt x="0" y="623189"/>
                </a:lnTo>
                <a:lnTo>
                  <a:pt x="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en-US"/>
          </a:p>
        </p:txBody>
      </p:sp>
      <p:sp>
        <p:nvSpPr>
          <p:cNvPr id="26" name="Freeform 26"/>
          <p:cNvSpPr/>
          <p:nvPr/>
        </p:nvSpPr>
        <p:spPr>
          <a:xfrm>
            <a:off x="6452856" y="9663811"/>
            <a:ext cx="592596" cy="623189"/>
          </a:xfrm>
          <a:custGeom>
            <a:avLst/>
            <a:gdLst/>
            <a:ahLst/>
            <a:cxnLst/>
            <a:rect l="l" t="t" r="r" b="b"/>
            <a:pathLst>
              <a:path w="592596" h="623189">
                <a:moveTo>
                  <a:pt x="0" y="0"/>
                </a:moveTo>
                <a:lnTo>
                  <a:pt x="592596" y="0"/>
                </a:lnTo>
                <a:lnTo>
                  <a:pt x="592596" y="623189"/>
                </a:lnTo>
                <a:lnTo>
                  <a:pt x="0" y="623189"/>
                </a:lnTo>
                <a:lnTo>
                  <a:pt x="0" y="0"/>
                </a:lnTo>
                <a:close/>
              </a:path>
            </a:pathLst>
          </a:custGeom>
          <a:blipFill>
            <a:blip>
              <a:extLst>
                <a:ext uri="{96DAC541-7B7A-43D3-8B79-37D633B846F1}">
                  <asvg:svgBlip xmlns:asvg="http://schemas.microsoft.com/office/drawing/2016/SVG/main" r:embed="rId7"/>
                </a:ext>
              </a:extLst>
            </a:blip>
            <a:stretch>
              <a:fillRect/>
            </a:stretch>
          </a:blipFill>
        </p:spPr>
        <p:txBody>
          <a:bodyPr/>
          <a:lstStyle/>
          <a:p>
            <a:endParaRPr lang="en-US"/>
          </a:p>
        </p:txBody>
      </p:sp>
      <p:sp>
        <p:nvSpPr>
          <p:cNvPr id="27" name="Freeform 27"/>
          <p:cNvSpPr/>
          <p:nvPr/>
        </p:nvSpPr>
        <p:spPr>
          <a:xfrm>
            <a:off x="5663220" y="9663811"/>
            <a:ext cx="589611" cy="675596"/>
          </a:xfrm>
          <a:custGeom>
            <a:avLst/>
            <a:gdLst/>
            <a:ahLst/>
            <a:cxnLst/>
            <a:rect l="l" t="t" r="r" b="b"/>
            <a:pathLst>
              <a:path w="589611" h="675596">
                <a:moveTo>
                  <a:pt x="0" y="0"/>
                </a:moveTo>
                <a:lnTo>
                  <a:pt x="589611" y="0"/>
                </a:lnTo>
                <a:lnTo>
                  <a:pt x="589611" y="675595"/>
                </a:lnTo>
                <a:lnTo>
                  <a:pt x="0" y="675595"/>
                </a:lnTo>
                <a:lnTo>
                  <a:pt x="0" y="0"/>
                </a:lnTo>
                <a:close/>
              </a:path>
            </a:pathLst>
          </a:custGeom>
          <a:blipFill>
            <a:blip>
              <a:extLst>
                <a:ext uri="{96DAC541-7B7A-43D3-8B79-37D633B846F1}">
                  <asvg:svgBlip xmlns:asvg="http://schemas.microsoft.com/office/drawing/2016/SVG/main" r:embed="rId8"/>
                </a:ext>
              </a:extLst>
            </a:blip>
            <a:stretch>
              <a:fillRect/>
            </a:stretch>
          </a:blipFill>
        </p:spPr>
        <p:txBody>
          <a:bodyPr/>
          <a:lstStyle/>
          <a:p>
            <a:endParaRPr lang="en-US"/>
          </a:p>
        </p:txBody>
      </p:sp>
      <p:sp>
        <p:nvSpPr>
          <p:cNvPr id="28" name="Freeform 28"/>
          <p:cNvSpPr/>
          <p:nvPr/>
        </p:nvSpPr>
        <p:spPr>
          <a:xfrm>
            <a:off x="15788825" y="-1909200"/>
            <a:ext cx="4513046" cy="4504840"/>
          </a:xfrm>
          <a:custGeom>
            <a:avLst/>
            <a:gdLst/>
            <a:ahLst/>
            <a:cxnLst/>
            <a:rect l="l" t="t" r="r" b="b"/>
            <a:pathLst>
              <a:path w="4513046" h="4504840">
                <a:moveTo>
                  <a:pt x="0" y="0"/>
                </a:moveTo>
                <a:lnTo>
                  <a:pt x="4513046" y="0"/>
                </a:lnTo>
                <a:lnTo>
                  <a:pt x="4513046" y="4504840"/>
                </a:lnTo>
                <a:lnTo>
                  <a:pt x="0" y="4504840"/>
                </a:lnTo>
                <a:lnTo>
                  <a:pt x="0" y="0"/>
                </a:lnTo>
                <a:close/>
              </a:path>
            </a:pathLst>
          </a:custGeom>
          <a:blipFill>
            <a:blip>
              <a:extLst>
                <a:ext uri="{96DAC541-7B7A-43D3-8B79-37D633B846F1}">
                  <asvg:svgBlip xmlns:asvg="http://schemas.microsoft.com/office/drawing/2016/SVG/main" r:embed="rId9"/>
                </a:ext>
              </a:extLst>
            </a:blip>
            <a:stretch>
              <a:fillRect/>
            </a:stretch>
          </a:blipFill>
        </p:spPr>
        <p:txBody>
          <a:bodyPr/>
          <a:lstStyle/>
          <a:p>
            <a:endParaRPr lang="en-US"/>
          </a:p>
        </p:txBody>
      </p:sp>
      <p:sp>
        <p:nvSpPr>
          <p:cNvPr id="29" name="Freeform 29"/>
          <p:cNvSpPr/>
          <p:nvPr/>
        </p:nvSpPr>
        <p:spPr>
          <a:xfrm>
            <a:off x="-1344004" y="8609054"/>
            <a:ext cx="3038510" cy="3032986"/>
          </a:xfrm>
          <a:custGeom>
            <a:avLst/>
            <a:gdLst/>
            <a:ahLst/>
            <a:cxnLst/>
            <a:rect l="l" t="t" r="r" b="b"/>
            <a:pathLst>
              <a:path w="3038510" h="3032986">
                <a:moveTo>
                  <a:pt x="0" y="0"/>
                </a:moveTo>
                <a:lnTo>
                  <a:pt x="3038510" y="0"/>
                </a:lnTo>
                <a:lnTo>
                  <a:pt x="3038510" y="3032985"/>
                </a:lnTo>
                <a:lnTo>
                  <a:pt x="0" y="3032985"/>
                </a:lnTo>
                <a:lnTo>
                  <a:pt x="0" y="0"/>
                </a:lnTo>
                <a:close/>
              </a:path>
            </a:pathLst>
          </a:custGeom>
          <a:blipFill>
            <a:blip>
              <a:extLst>
                <a:ext uri="{96DAC541-7B7A-43D3-8B79-37D633B846F1}">
                  <asvg:svgBlip xmlns:asvg="http://schemas.microsoft.com/office/drawing/2016/SVG/main" r:embed="rId9"/>
                </a:ext>
              </a:extLst>
            </a:blip>
            <a:stretch>
              <a:fillRect/>
            </a:stretch>
          </a:blipFill>
        </p:spPr>
        <p:txBody>
          <a:bodyPr/>
          <a:lstStyle/>
          <a:p>
            <a:endParaRPr lang="en-US"/>
          </a:p>
        </p:txBody>
      </p:sp>
      <p:grpSp>
        <p:nvGrpSpPr>
          <p:cNvPr id="30" name="Group 30"/>
          <p:cNvGrpSpPr/>
          <p:nvPr/>
        </p:nvGrpSpPr>
        <p:grpSpPr>
          <a:xfrm>
            <a:off x="16667121" y="4769347"/>
            <a:ext cx="1624054" cy="1534379"/>
            <a:chOff x="0" y="0"/>
            <a:chExt cx="860303" cy="812800"/>
          </a:xfrm>
        </p:grpSpPr>
        <p:sp>
          <p:nvSpPr>
            <p:cNvPr id="31" name="Freeform 31"/>
            <p:cNvSpPr/>
            <p:nvPr/>
          </p:nvSpPr>
          <p:spPr>
            <a:xfrm>
              <a:off x="0" y="0"/>
              <a:ext cx="860303" cy="812800"/>
            </a:xfrm>
            <a:custGeom>
              <a:avLst/>
              <a:gdLst/>
              <a:ahLst/>
              <a:cxnLst/>
              <a:rect l="l" t="t" r="r" b="b"/>
              <a:pathLst>
                <a:path w="860303" h="812800">
                  <a:moveTo>
                    <a:pt x="430152" y="0"/>
                  </a:moveTo>
                  <a:cubicBezTo>
                    <a:pt x="192585" y="0"/>
                    <a:pt x="0" y="181951"/>
                    <a:pt x="0" y="406400"/>
                  </a:cubicBezTo>
                  <a:cubicBezTo>
                    <a:pt x="0" y="630849"/>
                    <a:pt x="192585" y="812800"/>
                    <a:pt x="430152" y="812800"/>
                  </a:cubicBezTo>
                  <a:cubicBezTo>
                    <a:pt x="667718" y="812800"/>
                    <a:pt x="860303" y="630849"/>
                    <a:pt x="860303" y="406400"/>
                  </a:cubicBezTo>
                  <a:cubicBezTo>
                    <a:pt x="860303" y="181951"/>
                    <a:pt x="667718" y="0"/>
                    <a:pt x="430152" y="0"/>
                  </a:cubicBezTo>
                  <a:close/>
                </a:path>
              </a:pathLst>
            </a:custGeom>
            <a:solidFill>
              <a:srgbClr val="00030A"/>
            </a:solidFill>
          </p:spPr>
          <p:txBody>
            <a:bodyPr/>
            <a:lstStyle/>
            <a:p>
              <a:endParaRPr lang="en-US"/>
            </a:p>
          </p:txBody>
        </p:sp>
        <p:sp>
          <p:nvSpPr>
            <p:cNvPr id="32" name="TextBox 32"/>
            <p:cNvSpPr txBox="1"/>
            <p:nvPr/>
          </p:nvSpPr>
          <p:spPr>
            <a:xfrm>
              <a:off x="80653" y="28575"/>
              <a:ext cx="698997" cy="708025"/>
            </a:xfrm>
            <a:prstGeom prst="rect">
              <a:avLst/>
            </a:prstGeom>
          </p:spPr>
          <p:txBody>
            <a:bodyPr lIns="50800" tIns="50800" rIns="50800" bIns="50800" rtlCol="0" anchor="ctr"/>
            <a:lstStyle/>
            <a:p>
              <a:pPr marL="0" lvl="0" indent="0" algn="ctr">
                <a:lnSpc>
                  <a:spcPts val="3269"/>
                </a:lnSpc>
              </a:pPr>
              <a:r>
                <a:rPr lang="en-US" sz="2335" dirty="0">
                  <a:solidFill>
                    <a:srgbClr val="EAEAEA"/>
                  </a:solidFill>
                  <a:latin typeface="Decalotype"/>
                  <a:ea typeface="Decalotype"/>
                  <a:cs typeface="Decalotype"/>
                  <a:sym typeface="Decalotype"/>
                </a:rPr>
                <a:t>07 Dashboard</a:t>
              </a:r>
            </a:p>
          </p:txBody>
        </p:sp>
      </p:grpSp>
      <p:sp>
        <p:nvSpPr>
          <p:cNvPr id="33" name="Freeform 33"/>
          <p:cNvSpPr/>
          <p:nvPr/>
        </p:nvSpPr>
        <p:spPr>
          <a:xfrm>
            <a:off x="3828049" y="6314931"/>
            <a:ext cx="1897827" cy="1582978"/>
          </a:xfrm>
          <a:custGeom>
            <a:avLst/>
            <a:gdLst/>
            <a:ahLst/>
            <a:cxnLst/>
            <a:rect l="l" t="t" r="r" b="b"/>
            <a:pathLst>
              <a:path w="1060157" h="1003173">
                <a:moveTo>
                  <a:pt x="0" y="0"/>
                </a:moveTo>
                <a:lnTo>
                  <a:pt x="1060157" y="0"/>
                </a:lnTo>
                <a:lnTo>
                  <a:pt x="1060157" y="1003173"/>
                </a:lnTo>
                <a:lnTo>
                  <a:pt x="0" y="1003173"/>
                </a:lnTo>
                <a:lnTo>
                  <a:pt x="0" y="0"/>
                </a:lnTo>
                <a:close/>
              </a:path>
            </a:pathLst>
          </a:custGeom>
          <a:blipFill>
            <a:blip r:embed="rId10"/>
            <a:stretch>
              <a:fillRect/>
            </a:stretch>
          </a:blipFill>
          <a:ln cap="sq">
            <a:noFill/>
            <a:prstDash val="solid"/>
            <a:miter/>
          </a:ln>
        </p:spPr>
        <p:txBody>
          <a:bodyPr/>
          <a:lstStyle/>
          <a:p>
            <a:endParaRPr lang="en-US"/>
          </a:p>
        </p:txBody>
      </p:sp>
      <p:sp>
        <p:nvSpPr>
          <p:cNvPr id="34" name="Freeform 34"/>
          <p:cNvSpPr/>
          <p:nvPr/>
        </p:nvSpPr>
        <p:spPr>
          <a:xfrm>
            <a:off x="6711679" y="3324399"/>
            <a:ext cx="1620177" cy="1282485"/>
          </a:xfrm>
          <a:custGeom>
            <a:avLst/>
            <a:gdLst/>
            <a:ahLst/>
            <a:cxnLst/>
            <a:rect l="l" t="t" r="r" b="b"/>
            <a:pathLst>
              <a:path w="1324618" h="1208714">
                <a:moveTo>
                  <a:pt x="0" y="0"/>
                </a:moveTo>
                <a:lnTo>
                  <a:pt x="1324619" y="0"/>
                </a:lnTo>
                <a:lnTo>
                  <a:pt x="1324619" y="1208714"/>
                </a:lnTo>
                <a:lnTo>
                  <a:pt x="0" y="1208714"/>
                </a:lnTo>
                <a:lnTo>
                  <a:pt x="0" y="0"/>
                </a:lnTo>
                <a:close/>
              </a:path>
            </a:pathLst>
          </a:custGeom>
          <a:blipFill>
            <a:blip r:embed="rId11"/>
            <a:stretch>
              <a:fillRect/>
            </a:stretch>
          </a:blipFill>
          <a:ln cap="sq">
            <a:noFill/>
            <a:prstDash val="solid"/>
            <a:miter/>
          </a:ln>
        </p:spPr>
        <p:txBody>
          <a:bodyPr/>
          <a:lstStyle/>
          <a:p>
            <a:endParaRPr lang="en-US"/>
          </a:p>
        </p:txBody>
      </p:sp>
      <p:sp>
        <p:nvSpPr>
          <p:cNvPr id="35" name="Freeform 35"/>
          <p:cNvSpPr/>
          <p:nvPr/>
        </p:nvSpPr>
        <p:spPr>
          <a:xfrm>
            <a:off x="9688992" y="6249109"/>
            <a:ext cx="1653761" cy="1648800"/>
          </a:xfrm>
          <a:custGeom>
            <a:avLst/>
            <a:gdLst/>
            <a:ahLst/>
            <a:cxnLst/>
            <a:rect l="l" t="t" r="r" b="b"/>
            <a:pathLst>
              <a:path w="1199892" h="1068995">
                <a:moveTo>
                  <a:pt x="0" y="0"/>
                </a:moveTo>
                <a:lnTo>
                  <a:pt x="1199892" y="0"/>
                </a:lnTo>
                <a:lnTo>
                  <a:pt x="1199892" y="1068995"/>
                </a:lnTo>
                <a:lnTo>
                  <a:pt x="0" y="1068995"/>
                </a:lnTo>
                <a:lnTo>
                  <a:pt x="0" y="0"/>
                </a:lnTo>
                <a:close/>
              </a:path>
            </a:pathLst>
          </a:custGeom>
          <a:blipFill>
            <a:blip>
              <a:extLst>
                <a:ext uri="{96DAC541-7B7A-43D3-8B79-37D633B846F1}">
                  <asvg:svgBlip xmlns:asvg="http://schemas.microsoft.com/office/drawing/2016/SVG/main" r:embed="rId12"/>
                </a:ext>
              </a:extLst>
            </a:blip>
            <a:stretch>
              <a:fillRect r="-1347" b="-1347"/>
            </a:stretch>
          </a:blipFill>
        </p:spPr>
        <p:txBody>
          <a:bodyPr/>
          <a:lstStyle/>
          <a:p>
            <a:endParaRPr lang="en-US"/>
          </a:p>
        </p:txBody>
      </p:sp>
      <p:sp>
        <p:nvSpPr>
          <p:cNvPr id="36" name="Freeform 36"/>
          <p:cNvSpPr/>
          <p:nvPr/>
        </p:nvSpPr>
        <p:spPr>
          <a:xfrm>
            <a:off x="12496267" y="3188887"/>
            <a:ext cx="1660324" cy="1591665"/>
          </a:xfrm>
          <a:custGeom>
            <a:avLst/>
            <a:gdLst/>
            <a:ahLst/>
            <a:cxnLst/>
            <a:rect l="l" t="t" r="r" b="b"/>
            <a:pathLst>
              <a:path w="1342400" h="1276500">
                <a:moveTo>
                  <a:pt x="0" y="0"/>
                </a:moveTo>
                <a:lnTo>
                  <a:pt x="1342399" y="0"/>
                </a:lnTo>
                <a:lnTo>
                  <a:pt x="1342399" y="1276500"/>
                </a:lnTo>
                <a:lnTo>
                  <a:pt x="0" y="1276500"/>
                </a:lnTo>
                <a:lnTo>
                  <a:pt x="0" y="0"/>
                </a:lnTo>
                <a:close/>
              </a:path>
            </a:pathLst>
          </a:custGeom>
          <a:blipFill>
            <a:blip>
              <a:extLst>
                <a:ext uri="{96DAC541-7B7A-43D3-8B79-37D633B846F1}">
                  <asvg:svgBlip xmlns:asvg="http://schemas.microsoft.com/office/drawing/2016/SVG/main" r:embed="rId13"/>
                </a:ext>
              </a:extLst>
            </a:blip>
            <a:stretch>
              <a:fillRect/>
            </a:stretch>
          </a:blipFill>
        </p:spPr>
        <p:txBody>
          <a:bodyPr/>
          <a:lstStyle/>
          <a:p>
            <a:endParaRPr lang="en-US"/>
          </a:p>
        </p:txBody>
      </p:sp>
      <p:sp>
        <p:nvSpPr>
          <p:cNvPr id="37" name="Freeform 37"/>
          <p:cNvSpPr/>
          <p:nvPr/>
        </p:nvSpPr>
        <p:spPr>
          <a:xfrm>
            <a:off x="15547122" y="6249109"/>
            <a:ext cx="1318267" cy="1068995"/>
          </a:xfrm>
          <a:custGeom>
            <a:avLst/>
            <a:gdLst/>
            <a:ahLst/>
            <a:cxnLst/>
            <a:rect l="l" t="t" r="r" b="b"/>
            <a:pathLst>
              <a:path w="1318267" h="1068995">
                <a:moveTo>
                  <a:pt x="0" y="0"/>
                </a:moveTo>
                <a:lnTo>
                  <a:pt x="1318267" y="0"/>
                </a:lnTo>
                <a:lnTo>
                  <a:pt x="1318267" y="1068995"/>
                </a:lnTo>
                <a:lnTo>
                  <a:pt x="0" y="1068995"/>
                </a:lnTo>
                <a:lnTo>
                  <a:pt x="0" y="0"/>
                </a:lnTo>
                <a:close/>
              </a:path>
            </a:pathLst>
          </a:custGeom>
          <a:blipFill>
            <a:blip>
              <a:extLst>
                <a:ext uri="{96DAC541-7B7A-43D3-8B79-37D633B846F1}">
                  <asvg:svgBlip xmlns:asvg="http://schemas.microsoft.com/office/drawing/2016/SVG/main" r:embed="rId14"/>
                </a:ext>
              </a:extLst>
            </a:blip>
            <a:stretch>
              <a:fillRect/>
            </a:stretch>
          </a:blipFill>
        </p:spPr>
        <p:txBody>
          <a:bodyPr/>
          <a:lstStyle/>
          <a:p>
            <a:endParaRPr lang="en-US"/>
          </a:p>
        </p:txBody>
      </p:sp>
      <p:sp>
        <p:nvSpPr>
          <p:cNvPr id="38" name="Freeform 38"/>
          <p:cNvSpPr/>
          <p:nvPr/>
        </p:nvSpPr>
        <p:spPr>
          <a:xfrm>
            <a:off x="1231337" y="3560633"/>
            <a:ext cx="1186649" cy="1219920"/>
          </a:xfrm>
          <a:custGeom>
            <a:avLst/>
            <a:gdLst/>
            <a:ahLst/>
            <a:cxnLst/>
            <a:rect l="l" t="t" r="r" b="b"/>
            <a:pathLst>
              <a:path w="1186649" h="1219920">
                <a:moveTo>
                  <a:pt x="0" y="0"/>
                </a:moveTo>
                <a:lnTo>
                  <a:pt x="1186649" y="0"/>
                </a:lnTo>
                <a:lnTo>
                  <a:pt x="1186649" y="1219919"/>
                </a:lnTo>
                <a:lnTo>
                  <a:pt x="0" y="1219919"/>
                </a:lnTo>
                <a:lnTo>
                  <a:pt x="0" y="0"/>
                </a:lnTo>
                <a:close/>
              </a:path>
            </a:pathLst>
          </a:custGeom>
          <a:blipFill>
            <a:blip>
              <a:extLst>
                <a:ext uri="{96DAC541-7B7A-43D3-8B79-37D633B846F1}">
                  <asvg:svgBlip xmlns:asvg="http://schemas.microsoft.com/office/drawing/2016/SVG/main" r:embed="rId15"/>
                </a:ext>
              </a:extLst>
            </a:blip>
            <a:stretch>
              <a:fillRect/>
            </a:stretch>
          </a:blipFill>
        </p:spPr>
        <p:txBody>
          <a:bodyPr/>
          <a:lstStyle/>
          <a:p>
            <a:endParaRPr lang="en-US"/>
          </a:p>
        </p:txBody>
      </p:sp>
      <p:sp>
        <p:nvSpPr>
          <p:cNvPr id="39" name="Freeform 39"/>
          <p:cNvSpPr/>
          <p:nvPr/>
        </p:nvSpPr>
        <p:spPr>
          <a:xfrm>
            <a:off x="10355944" y="844036"/>
            <a:ext cx="1211945" cy="1211945"/>
          </a:xfrm>
          <a:custGeom>
            <a:avLst/>
            <a:gdLst/>
            <a:ahLst/>
            <a:cxnLst/>
            <a:rect l="l" t="t" r="r" b="b"/>
            <a:pathLst>
              <a:path w="1211945" h="1211945">
                <a:moveTo>
                  <a:pt x="0" y="0"/>
                </a:moveTo>
                <a:lnTo>
                  <a:pt x="1211944" y="0"/>
                </a:lnTo>
                <a:lnTo>
                  <a:pt x="1211944" y="1211944"/>
                </a:lnTo>
                <a:lnTo>
                  <a:pt x="0" y="1211944"/>
                </a:lnTo>
                <a:lnTo>
                  <a:pt x="0" y="0"/>
                </a:lnTo>
                <a:close/>
              </a:path>
            </a:pathLst>
          </a:custGeom>
          <a:blipFill>
            <a:blip>
              <a:extLst>
                <a:ext uri="{96DAC541-7B7A-43D3-8B79-37D633B846F1}">
                  <asvg:svgBlip xmlns:asvg="http://schemas.microsoft.com/office/drawing/2016/SVG/main" r:embed="rId16"/>
                </a:ext>
              </a:extLst>
            </a:blip>
            <a:stretch>
              <a:fillRect/>
            </a:stretch>
          </a:blipFill>
        </p:spPr>
        <p:txBody>
          <a:bodyPr/>
          <a:lstStyle/>
          <a:p>
            <a:endParaRPr lang="en-US"/>
          </a:p>
        </p:txBody>
      </p:sp>
      <p:sp>
        <p:nvSpPr>
          <p:cNvPr id="40" name="TextBox 40"/>
          <p:cNvSpPr txBox="1"/>
          <p:nvPr/>
        </p:nvSpPr>
        <p:spPr>
          <a:xfrm>
            <a:off x="418331" y="6448781"/>
            <a:ext cx="2552350" cy="1795363"/>
          </a:xfrm>
          <a:prstGeom prst="rect">
            <a:avLst/>
          </a:prstGeom>
        </p:spPr>
        <p:txBody>
          <a:bodyPr lIns="0" tIns="0" rIns="0" bIns="0" rtlCol="0" anchor="t">
            <a:spAutoFit/>
          </a:bodyPr>
          <a:lstStyle/>
          <a:p>
            <a:pPr marL="0" lvl="0" indent="0" algn="ctr">
              <a:lnSpc>
                <a:spcPts val="2029"/>
              </a:lnSpc>
            </a:pPr>
            <a:r>
              <a:rPr lang="en-US" dirty="0">
                <a:solidFill>
                  <a:srgbClr val="231F20"/>
                </a:solidFill>
                <a:latin typeface="Decalotype"/>
                <a:ea typeface="Decalotype"/>
                <a:cs typeface="Decalotype"/>
                <a:sym typeface="Decalotype"/>
              </a:rPr>
              <a:t>A Data Set is a structured collection of related information, typically organized in rows and columns, used for statistical analysis or training machine learning models.</a:t>
            </a:r>
          </a:p>
        </p:txBody>
      </p:sp>
      <p:sp>
        <p:nvSpPr>
          <p:cNvPr id="41" name="TextBox 41"/>
          <p:cNvSpPr txBox="1"/>
          <p:nvPr/>
        </p:nvSpPr>
        <p:spPr>
          <a:xfrm>
            <a:off x="6384386" y="6359714"/>
            <a:ext cx="2546864" cy="2051844"/>
          </a:xfrm>
          <a:prstGeom prst="rect">
            <a:avLst/>
          </a:prstGeom>
        </p:spPr>
        <p:txBody>
          <a:bodyPr lIns="0" tIns="0" rIns="0" bIns="0" rtlCol="0" anchor="t">
            <a:spAutoFit/>
          </a:bodyPr>
          <a:lstStyle/>
          <a:p>
            <a:pPr marL="0" lvl="0" indent="0" algn="ctr">
              <a:lnSpc>
                <a:spcPts val="2024"/>
              </a:lnSpc>
            </a:pPr>
            <a:r>
              <a:rPr lang="en-US" dirty="0">
                <a:solidFill>
                  <a:srgbClr val="231F20"/>
                </a:solidFill>
                <a:latin typeface="Decalotype"/>
                <a:ea typeface="Decalotype"/>
                <a:cs typeface="Decalotype"/>
                <a:sym typeface="Decalotype"/>
              </a:rPr>
              <a:t>Data Modeling is the process of creating a visual representation or "blueprint" that defines how data is structured, stored, and the relationships between different data elements in a system</a:t>
            </a:r>
          </a:p>
        </p:txBody>
      </p:sp>
      <p:sp>
        <p:nvSpPr>
          <p:cNvPr id="42" name="TextBox 42"/>
          <p:cNvSpPr txBox="1"/>
          <p:nvPr/>
        </p:nvSpPr>
        <p:spPr>
          <a:xfrm>
            <a:off x="3357108" y="3083358"/>
            <a:ext cx="2756350" cy="1660391"/>
          </a:xfrm>
          <a:prstGeom prst="rect">
            <a:avLst/>
          </a:prstGeom>
        </p:spPr>
        <p:txBody>
          <a:bodyPr lIns="0" tIns="0" rIns="0" bIns="0" rtlCol="0" anchor="t">
            <a:spAutoFit/>
          </a:bodyPr>
          <a:lstStyle/>
          <a:p>
            <a:pPr marL="0" lvl="0" indent="0" algn="ctr">
              <a:lnSpc>
                <a:spcPts val="2191"/>
              </a:lnSpc>
            </a:pPr>
            <a:r>
              <a:rPr lang="en-US" dirty="0">
                <a:solidFill>
                  <a:srgbClr val="231F20"/>
                </a:solidFill>
                <a:latin typeface="Decalotype"/>
                <a:ea typeface="Decalotype"/>
                <a:cs typeface="Decalotype"/>
                <a:sym typeface="Decalotype"/>
              </a:rPr>
              <a:t>Data Cleaning is the </a:t>
            </a:r>
            <a:r>
              <a:rPr lang="en-US" sz="2000" dirty="0">
                <a:solidFill>
                  <a:srgbClr val="231F20"/>
                </a:solidFill>
                <a:latin typeface="Decalotype"/>
                <a:ea typeface="Decalotype"/>
                <a:cs typeface="Decalotype"/>
                <a:sym typeface="Decalotype"/>
              </a:rPr>
              <a:t>process</a:t>
            </a:r>
            <a:r>
              <a:rPr lang="en-US" dirty="0">
                <a:solidFill>
                  <a:srgbClr val="231F20"/>
                </a:solidFill>
                <a:latin typeface="Decalotype"/>
                <a:ea typeface="Decalotype"/>
                <a:cs typeface="Decalotype"/>
                <a:sym typeface="Decalotype"/>
              </a:rPr>
              <a:t> of fixing or removing incorrect, corrupted, duplicate, or incomplete data within a dataset to ensure accuracy and improve the quality of analysis</a:t>
            </a:r>
          </a:p>
        </p:txBody>
      </p:sp>
      <p:sp>
        <p:nvSpPr>
          <p:cNvPr id="43" name="TextBox 43"/>
          <p:cNvSpPr txBox="1"/>
          <p:nvPr/>
        </p:nvSpPr>
        <p:spPr>
          <a:xfrm>
            <a:off x="9140826" y="2999404"/>
            <a:ext cx="2557517" cy="2051844"/>
          </a:xfrm>
          <a:prstGeom prst="rect">
            <a:avLst/>
          </a:prstGeom>
        </p:spPr>
        <p:txBody>
          <a:bodyPr lIns="0" tIns="0" rIns="0" bIns="0" rtlCol="0" anchor="t">
            <a:spAutoFit/>
          </a:bodyPr>
          <a:lstStyle/>
          <a:p>
            <a:pPr marL="0" lvl="0" indent="0" algn="ctr">
              <a:lnSpc>
                <a:spcPts val="2033"/>
              </a:lnSpc>
            </a:pPr>
            <a:r>
              <a:rPr lang="en-US" dirty="0">
                <a:solidFill>
                  <a:srgbClr val="231F20"/>
                </a:solidFill>
                <a:latin typeface="Decalotype"/>
                <a:ea typeface="Decalotype"/>
                <a:cs typeface="Decalotype"/>
                <a:sym typeface="Decalotype"/>
              </a:rPr>
              <a:t>DAX (Data Analysis Expressions) is a formula language used in Power BI and Excel to create custom calculations and perform advanced data analysis through functions and operators</a:t>
            </a:r>
            <a:r>
              <a:rPr lang="en-US" sz="1452" dirty="0">
                <a:solidFill>
                  <a:srgbClr val="231F20"/>
                </a:solidFill>
                <a:latin typeface="Decalotype"/>
                <a:ea typeface="Decalotype"/>
                <a:cs typeface="Decalotype"/>
                <a:sym typeface="Decalotype"/>
              </a:rPr>
              <a:t>.</a:t>
            </a:r>
          </a:p>
        </p:txBody>
      </p:sp>
      <p:sp>
        <p:nvSpPr>
          <p:cNvPr id="44" name="TextBox 44"/>
          <p:cNvSpPr txBox="1"/>
          <p:nvPr/>
        </p:nvSpPr>
        <p:spPr>
          <a:xfrm>
            <a:off x="4888206" y="723900"/>
            <a:ext cx="7805135" cy="1236830"/>
          </a:xfrm>
          <a:prstGeom prst="rect">
            <a:avLst/>
          </a:prstGeom>
        </p:spPr>
        <p:txBody>
          <a:bodyPr lIns="0" tIns="0" rIns="0" bIns="0" rtlCol="0" anchor="t">
            <a:spAutoFit/>
          </a:bodyPr>
          <a:lstStyle/>
          <a:p>
            <a:pPr marL="0" lvl="0" indent="0" algn="ctr">
              <a:lnSpc>
                <a:spcPts val="9598"/>
              </a:lnSpc>
            </a:pPr>
            <a:r>
              <a:rPr lang="en-US" sz="8800" b="1" dirty="0">
                <a:solidFill>
                  <a:srgbClr val="000000"/>
                </a:solidFill>
                <a:latin typeface="Gagalin" panose="020B0604020202020204" charset="0"/>
                <a:ea typeface="Oswald Bold"/>
                <a:cs typeface="Oswald Bold"/>
                <a:sym typeface="Oswald Bold"/>
              </a:rPr>
              <a:t>Steps</a:t>
            </a:r>
            <a:endParaRPr lang="en-US" sz="8647" b="1" dirty="0">
              <a:solidFill>
                <a:srgbClr val="000000"/>
              </a:solidFill>
              <a:latin typeface="Gagalin" panose="020B0604020202020204" charset="0"/>
              <a:ea typeface="Oswald Bold"/>
              <a:cs typeface="Oswald Bold"/>
              <a:sym typeface="Oswald Bold"/>
            </a:endParaRPr>
          </a:p>
        </p:txBody>
      </p:sp>
      <p:sp>
        <p:nvSpPr>
          <p:cNvPr id="45" name="TextBox 45"/>
          <p:cNvSpPr txBox="1"/>
          <p:nvPr/>
        </p:nvSpPr>
        <p:spPr>
          <a:xfrm>
            <a:off x="12005747" y="6377590"/>
            <a:ext cx="2882865" cy="1739835"/>
          </a:xfrm>
          <a:prstGeom prst="rect">
            <a:avLst/>
          </a:prstGeom>
        </p:spPr>
        <p:txBody>
          <a:bodyPr lIns="0" tIns="0" rIns="0" bIns="0" rtlCol="0" anchor="t">
            <a:spAutoFit/>
          </a:bodyPr>
          <a:lstStyle/>
          <a:p>
            <a:pPr marL="0" lvl="0" indent="0" algn="ctr">
              <a:lnSpc>
                <a:spcPts val="2292"/>
              </a:lnSpc>
            </a:pPr>
            <a:r>
              <a:rPr lang="en-US" dirty="0">
                <a:solidFill>
                  <a:srgbClr val="231F20"/>
                </a:solidFill>
                <a:latin typeface="Decalotype"/>
                <a:ea typeface="Decalotype"/>
                <a:cs typeface="Decalotype"/>
                <a:sym typeface="Decalotype"/>
              </a:rPr>
              <a:t>Sample Visuals are representative charts or graphs (like Bar, Line, or Pie charts) used to display data patterns, making it easier to identify trends and outliers at a glance</a:t>
            </a:r>
            <a:r>
              <a:rPr lang="en-US" sz="1637" dirty="0">
                <a:solidFill>
                  <a:srgbClr val="231F20"/>
                </a:solidFill>
                <a:latin typeface="Decalotype"/>
                <a:ea typeface="Decalotype"/>
                <a:cs typeface="Decalotype"/>
                <a:sym typeface="Decalotype"/>
              </a:rPr>
              <a:t>.</a:t>
            </a:r>
          </a:p>
        </p:txBody>
      </p:sp>
      <p:sp>
        <p:nvSpPr>
          <p:cNvPr id="46" name="TextBox 46"/>
          <p:cNvSpPr txBox="1"/>
          <p:nvPr/>
        </p:nvSpPr>
        <p:spPr>
          <a:xfrm>
            <a:off x="14907603" y="2916491"/>
            <a:ext cx="2585485" cy="1885131"/>
          </a:xfrm>
          <a:prstGeom prst="rect">
            <a:avLst/>
          </a:prstGeom>
        </p:spPr>
        <p:txBody>
          <a:bodyPr lIns="0" tIns="0" rIns="0" bIns="0" rtlCol="0" anchor="t">
            <a:spAutoFit/>
          </a:bodyPr>
          <a:lstStyle/>
          <a:p>
            <a:pPr marL="0" lvl="0" indent="0" algn="ctr">
              <a:lnSpc>
                <a:spcPts val="2055"/>
              </a:lnSpc>
            </a:pPr>
            <a:r>
              <a:rPr lang="en-US" dirty="0">
                <a:solidFill>
                  <a:srgbClr val="231F20"/>
                </a:solidFill>
                <a:latin typeface="Decalotype"/>
                <a:ea typeface="Decalotype"/>
                <a:cs typeface="Decalotype"/>
                <a:sym typeface="Decalotype"/>
              </a:rPr>
              <a:t>Dashboard is a visual interface that consolidates and displays key metrics and data visualizations on a single screen to monitor performance and make quick, data-driven decisions.</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4"/>
                                        </p:tgtEl>
                                        <p:attrNameLst>
                                          <p:attrName>style.visibility</p:attrName>
                                        </p:attrNameLst>
                                      </p:cBhvr>
                                      <p:to>
                                        <p:strVal val="visible"/>
                                      </p:to>
                                    </p:set>
                                    <p:animEffect transition="in" filter="fade">
                                      <p:cBhvr>
                                        <p:cTn id="7" dur="500"/>
                                        <p:tgtEl>
                                          <p:spTgt spid="4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9"/>
                                        </p:tgtEl>
                                        <p:attrNameLst>
                                          <p:attrName>style.visibility</p:attrName>
                                        </p:attrNameLst>
                                      </p:cBhvr>
                                      <p:to>
                                        <p:strVal val="visible"/>
                                      </p:to>
                                    </p:set>
                                    <p:animEffect transition="in" filter="fade">
                                      <p:cBhvr>
                                        <p:cTn id="10" dur="500"/>
                                        <p:tgtEl>
                                          <p:spTgt spid="39"/>
                                        </p:tgtEl>
                                      </p:cBhvr>
                                    </p:animEffect>
                                  </p:childTnLst>
                                </p:cTn>
                              </p:par>
                            </p:childTnLst>
                          </p:cTn>
                        </p:par>
                      </p:childTnLst>
                    </p:cTn>
                  </p:par>
                  <p:par>
                    <p:cTn id="11" fill="hold">
                      <p:stCondLst>
                        <p:cond delay="indefinite"/>
                      </p:stCondLst>
                      <p:childTnLst>
                        <p:par>
                          <p:cTn id="12" fill="hold">
                            <p:stCondLst>
                              <p:cond delay="0"/>
                            </p:stCondLst>
                            <p:childTnLst>
                              <p:par>
                                <p:cTn id="13" presetID="22" presetClass="entr" presetSubtype="8" fill="hold" grpId="0" nodeType="clickEffect">
                                  <p:stCondLst>
                                    <p:cond delay="0"/>
                                  </p:stCondLst>
                                  <p:childTnLst>
                                    <p:set>
                                      <p:cBhvr>
                                        <p:cTn id="14" dur="1" fill="hold">
                                          <p:stCondLst>
                                            <p:cond delay="0"/>
                                          </p:stCondLst>
                                        </p:cTn>
                                        <p:tgtEl>
                                          <p:spTgt spid="38"/>
                                        </p:tgtEl>
                                        <p:attrNameLst>
                                          <p:attrName>style.visibility</p:attrName>
                                        </p:attrNameLst>
                                      </p:cBhvr>
                                      <p:to>
                                        <p:strVal val="visible"/>
                                      </p:to>
                                    </p:set>
                                    <p:animEffect transition="in" filter="wipe(left)">
                                      <p:cBhvr>
                                        <p:cTn id="15" dur="500"/>
                                        <p:tgtEl>
                                          <p:spTgt spid="38"/>
                                        </p:tgtEl>
                                      </p:cBhvr>
                                    </p:animEffect>
                                  </p:childTnLst>
                                </p:cTn>
                              </p:par>
                              <p:par>
                                <p:cTn id="16" presetID="22" presetClass="entr" presetSubtype="8" fill="hold" nodeType="with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wipe(left)">
                                      <p:cBhvr>
                                        <p:cTn id="18" dur="500"/>
                                        <p:tgtEl>
                                          <p:spTgt spid="3"/>
                                        </p:tgtEl>
                                      </p:cBhvr>
                                    </p:animEffect>
                                  </p:childTnLst>
                                </p:cTn>
                              </p:par>
                              <p:par>
                                <p:cTn id="19" presetID="22" presetClass="entr" presetSubtype="8" fill="hold" grpId="0" nodeType="withEffect">
                                  <p:stCondLst>
                                    <p:cond delay="0"/>
                                  </p:stCondLst>
                                  <p:childTnLst>
                                    <p:set>
                                      <p:cBhvr>
                                        <p:cTn id="20" dur="1" fill="hold">
                                          <p:stCondLst>
                                            <p:cond delay="0"/>
                                          </p:stCondLst>
                                        </p:cTn>
                                        <p:tgtEl>
                                          <p:spTgt spid="40"/>
                                        </p:tgtEl>
                                        <p:attrNameLst>
                                          <p:attrName>style.visibility</p:attrName>
                                        </p:attrNameLst>
                                      </p:cBhvr>
                                      <p:to>
                                        <p:strVal val="visible"/>
                                      </p:to>
                                    </p:set>
                                    <p:animEffect transition="in" filter="wipe(left)">
                                      <p:cBhvr>
                                        <p:cTn id="21" dur="500"/>
                                        <p:tgtEl>
                                          <p:spTgt spid="40"/>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nodeType="clickEffect">
                                  <p:stCondLst>
                                    <p:cond delay="0"/>
                                  </p:stCondLst>
                                  <p:childTnLst>
                                    <p:set>
                                      <p:cBhvr>
                                        <p:cTn id="25" dur="1" fill="hold">
                                          <p:stCondLst>
                                            <p:cond delay="0"/>
                                          </p:stCondLst>
                                        </p:cTn>
                                        <p:tgtEl>
                                          <p:spTgt spid="7"/>
                                        </p:tgtEl>
                                        <p:attrNameLst>
                                          <p:attrName>style.visibility</p:attrName>
                                        </p:attrNameLst>
                                      </p:cBhvr>
                                      <p:to>
                                        <p:strVal val="visible"/>
                                      </p:to>
                                    </p:set>
                                    <p:animEffect transition="in" filter="wipe(left)">
                                      <p:cBhvr>
                                        <p:cTn id="26" dur="500"/>
                                        <p:tgtEl>
                                          <p:spTgt spid="7"/>
                                        </p:tgtEl>
                                      </p:cBhvr>
                                    </p:animEffect>
                                  </p:childTnLst>
                                </p:cTn>
                              </p:par>
                              <p:par>
                                <p:cTn id="27" presetID="22" presetClass="entr" presetSubtype="8" fill="hold" grpId="0" nodeType="withEffect">
                                  <p:stCondLst>
                                    <p:cond delay="0"/>
                                  </p:stCondLst>
                                  <p:childTnLst>
                                    <p:set>
                                      <p:cBhvr>
                                        <p:cTn id="28" dur="1" fill="hold">
                                          <p:stCondLst>
                                            <p:cond delay="0"/>
                                          </p:stCondLst>
                                        </p:cTn>
                                        <p:tgtEl>
                                          <p:spTgt spid="42"/>
                                        </p:tgtEl>
                                        <p:attrNameLst>
                                          <p:attrName>style.visibility</p:attrName>
                                        </p:attrNameLst>
                                      </p:cBhvr>
                                      <p:to>
                                        <p:strVal val="visible"/>
                                      </p:to>
                                    </p:set>
                                    <p:animEffect transition="in" filter="wipe(left)">
                                      <p:cBhvr>
                                        <p:cTn id="29" dur="500"/>
                                        <p:tgtEl>
                                          <p:spTgt spid="42"/>
                                        </p:tgtEl>
                                      </p:cBhvr>
                                    </p:animEffect>
                                  </p:childTnLst>
                                </p:cTn>
                              </p:par>
                              <p:par>
                                <p:cTn id="30" presetID="22" presetClass="entr" presetSubtype="8" fill="hold" grpId="0" nodeType="withEffect">
                                  <p:stCondLst>
                                    <p:cond delay="0"/>
                                  </p:stCondLst>
                                  <p:childTnLst>
                                    <p:set>
                                      <p:cBhvr>
                                        <p:cTn id="31" dur="1" fill="hold">
                                          <p:stCondLst>
                                            <p:cond delay="0"/>
                                          </p:stCondLst>
                                        </p:cTn>
                                        <p:tgtEl>
                                          <p:spTgt spid="33"/>
                                        </p:tgtEl>
                                        <p:attrNameLst>
                                          <p:attrName>style.visibility</p:attrName>
                                        </p:attrNameLst>
                                      </p:cBhvr>
                                      <p:to>
                                        <p:strVal val="visible"/>
                                      </p:to>
                                    </p:set>
                                    <p:animEffect transition="in" filter="wipe(left)">
                                      <p:cBhvr>
                                        <p:cTn id="32" dur="500"/>
                                        <p:tgtEl>
                                          <p:spTgt spid="33"/>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nodeType="click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wipe(left)">
                                      <p:cBhvr>
                                        <p:cTn id="37" dur="500"/>
                                        <p:tgtEl>
                                          <p:spTgt spid="13"/>
                                        </p:tgtEl>
                                      </p:cBhvr>
                                    </p:animEffect>
                                  </p:childTnLst>
                                </p:cTn>
                              </p:par>
                              <p:par>
                                <p:cTn id="38" presetID="22" presetClass="entr" presetSubtype="8" fill="hold" grpId="0" nodeType="withEffect">
                                  <p:stCondLst>
                                    <p:cond delay="0"/>
                                  </p:stCondLst>
                                  <p:childTnLst>
                                    <p:set>
                                      <p:cBhvr>
                                        <p:cTn id="39" dur="1" fill="hold">
                                          <p:stCondLst>
                                            <p:cond delay="0"/>
                                          </p:stCondLst>
                                        </p:cTn>
                                        <p:tgtEl>
                                          <p:spTgt spid="34"/>
                                        </p:tgtEl>
                                        <p:attrNameLst>
                                          <p:attrName>style.visibility</p:attrName>
                                        </p:attrNameLst>
                                      </p:cBhvr>
                                      <p:to>
                                        <p:strVal val="visible"/>
                                      </p:to>
                                    </p:set>
                                    <p:animEffect transition="in" filter="wipe(left)">
                                      <p:cBhvr>
                                        <p:cTn id="40" dur="500"/>
                                        <p:tgtEl>
                                          <p:spTgt spid="34"/>
                                        </p:tgtEl>
                                      </p:cBhvr>
                                    </p:animEffect>
                                  </p:childTnLst>
                                </p:cTn>
                              </p:par>
                              <p:par>
                                <p:cTn id="41" presetID="22" presetClass="entr" presetSubtype="8" fill="hold" grpId="0" nodeType="withEffect">
                                  <p:stCondLst>
                                    <p:cond delay="0"/>
                                  </p:stCondLst>
                                  <p:childTnLst>
                                    <p:set>
                                      <p:cBhvr>
                                        <p:cTn id="42" dur="1" fill="hold">
                                          <p:stCondLst>
                                            <p:cond delay="0"/>
                                          </p:stCondLst>
                                        </p:cTn>
                                        <p:tgtEl>
                                          <p:spTgt spid="41"/>
                                        </p:tgtEl>
                                        <p:attrNameLst>
                                          <p:attrName>style.visibility</p:attrName>
                                        </p:attrNameLst>
                                      </p:cBhvr>
                                      <p:to>
                                        <p:strVal val="visible"/>
                                      </p:to>
                                    </p:set>
                                    <p:animEffect transition="in" filter="wipe(left)">
                                      <p:cBhvr>
                                        <p:cTn id="43" dur="500"/>
                                        <p:tgtEl>
                                          <p:spTgt spid="41"/>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8" fill="hold" nodeType="clickEffect">
                                  <p:stCondLst>
                                    <p:cond delay="0"/>
                                  </p:stCondLst>
                                  <p:childTnLst>
                                    <p:set>
                                      <p:cBhvr>
                                        <p:cTn id="47" dur="1" fill="hold">
                                          <p:stCondLst>
                                            <p:cond delay="0"/>
                                          </p:stCondLst>
                                        </p:cTn>
                                        <p:tgtEl>
                                          <p:spTgt spid="10"/>
                                        </p:tgtEl>
                                        <p:attrNameLst>
                                          <p:attrName>style.visibility</p:attrName>
                                        </p:attrNameLst>
                                      </p:cBhvr>
                                      <p:to>
                                        <p:strVal val="visible"/>
                                      </p:to>
                                    </p:set>
                                    <p:animEffect transition="in" filter="wipe(left)">
                                      <p:cBhvr>
                                        <p:cTn id="48" dur="500"/>
                                        <p:tgtEl>
                                          <p:spTgt spid="10"/>
                                        </p:tgtEl>
                                      </p:cBhvr>
                                    </p:animEffect>
                                  </p:childTnLst>
                                </p:cTn>
                              </p:par>
                              <p:par>
                                <p:cTn id="49" presetID="22" presetClass="entr" presetSubtype="8" fill="hold" grpId="0" nodeType="withEffect">
                                  <p:stCondLst>
                                    <p:cond delay="0"/>
                                  </p:stCondLst>
                                  <p:childTnLst>
                                    <p:set>
                                      <p:cBhvr>
                                        <p:cTn id="50" dur="1" fill="hold">
                                          <p:stCondLst>
                                            <p:cond delay="0"/>
                                          </p:stCondLst>
                                        </p:cTn>
                                        <p:tgtEl>
                                          <p:spTgt spid="43"/>
                                        </p:tgtEl>
                                        <p:attrNameLst>
                                          <p:attrName>style.visibility</p:attrName>
                                        </p:attrNameLst>
                                      </p:cBhvr>
                                      <p:to>
                                        <p:strVal val="visible"/>
                                      </p:to>
                                    </p:set>
                                    <p:animEffect transition="in" filter="wipe(left)">
                                      <p:cBhvr>
                                        <p:cTn id="51" dur="500"/>
                                        <p:tgtEl>
                                          <p:spTgt spid="43"/>
                                        </p:tgtEl>
                                      </p:cBhvr>
                                    </p:animEffect>
                                  </p:childTnLst>
                                </p:cTn>
                              </p:par>
                              <p:par>
                                <p:cTn id="52" presetID="22" presetClass="entr" presetSubtype="8" fill="hold" grpId="0" nodeType="withEffect">
                                  <p:stCondLst>
                                    <p:cond delay="0"/>
                                  </p:stCondLst>
                                  <p:childTnLst>
                                    <p:set>
                                      <p:cBhvr>
                                        <p:cTn id="53" dur="1" fill="hold">
                                          <p:stCondLst>
                                            <p:cond delay="0"/>
                                          </p:stCondLst>
                                        </p:cTn>
                                        <p:tgtEl>
                                          <p:spTgt spid="35"/>
                                        </p:tgtEl>
                                        <p:attrNameLst>
                                          <p:attrName>style.visibility</p:attrName>
                                        </p:attrNameLst>
                                      </p:cBhvr>
                                      <p:to>
                                        <p:strVal val="visible"/>
                                      </p:to>
                                    </p:set>
                                    <p:animEffect transition="in" filter="wipe(left)">
                                      <p:cBhvr>
                                        <p:cTn id="54" dur="500"/>
                                        <p:tgtEl>
                                          <p:spTgt spid="35"/>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ntr" presetSubtype="8" fill="hold" nodeType="clickEffect">
                                  <p:stCondLst>
                                    <p:cond delay="0"/>
                                  </p:stCondLst>
                                  <p:childTnLst>
                                    <p:set>
                                      <p:cBhvr>
                                        <p:cTn id="58" dur="1" fill="hold">
                                          <p:stCondLst>
                                            <p:cond delay="0"/>
                                          </p:stCondLst>
                                        </p:cTn>
                                        <p:tgtEl>
                                          <p:spTgt spid="16"/>
                                        </p:tgtEl>
                                        <p:attrNameLst>
                                          <p:attrName>style.visibility</p:attrName>
                                        </p:attrNameLst>
                                      </p:cBhvr>
                                      <p:to>
                                        <p:strVal val="visible"/>
                                      </p:to>
                                    </p:set>
                                    <p:animEffect transition="in" filter="wipe(left)">
                                      <p:cBhvr>
                                        <p:cTn id="59" dur="500"/>
                                        <p:tgtEl>
                                          <p:spTgt spid="16"/>
                                        </p:tgtEl>
                                      </p:cBhvr>
                                    </p:animEffect>
                                  </p:childTnLst>
                                </p:cTn>
                              </p:par>
                              <p:par>
                                <p:cTn id="60" presetID="22" presetClass="entr" presetSubtype="8" fill="hold" grpId="0" nodeType="withEffect">
                                  <p:stCondLst>
                                    <p:cond delay="0"/>
                                  </p:stCondLst>
                                  <p:childTnLst>
                                    <p:set>
                                      <p:cBhvr>
                                        <p:cTn id="61" dur="1" fill="hold">
                                          <p:stCondLst>
                                            <p:cond delay="0"/>
                                          </p:stCondLst>
                                        </p:cTn>
                                        <p:tgtEl>
                                          <p:spTgt spid="36"/>
                                        </p:tgtEl>
                                        <p:attrNameLst>
                                          <p:attrName>style.visibility</p:attrName>
                                        </p:attrNameLst>
                                      </p:cBhvr>
                                      <p:to>
                                        <p:strVal val="visible"/>
                                      </p:to>
                                    </p:set>
                                    <p:animEffect transition="in" filter="wipe(left)">
                                      <p:cBhvr>
                                        <p:cTn id="62" dur="500"/>
                                        <p:tgtEl>
                                          <p:spTgt spid="36"/>
                                        </p:tgtEl>
                                      </p:cBhvr>
                                    </p:animEffect>
                                  </p:childTnLst>
                                </p:cTn>
                              </p:par>
                              <p:par>
                                <p:cTn id="63" presetID="22" presetClass="entr" presetSubtype="8" fill="hold" grpId="0" nodeType="withEffect">
                                  <p:stCondLst>
                                    <p:cond delay="0"/>
                                  </p:stCondLst>
                                  <p:childTnLst>
                                    <p:set>
                                      <p:cBhvr>
                                        <p:cTn id="64" dur="1" fill="hold">
                                          <p:stCondLst>
                                            <p:cond delay="0"/>
                                          </p:stCondLst>
                                        </p:cTn>
                                        <p:tgtEl>
                                          <p:spTgt spid="45"/>
                                        </p:tgtEl>
                                        <p:attrNameLst>
                                          <p:attrName>style.visibility</p:attrName>
                                        </p:attrNameLst>
                                      </p:cBhvr>
                                      <p:to>
                                        <p:strVal val="visible"/>
                                      </p:to>
                                    </p:set>
                                    <p:animEffect transition="in" filter="wipe(left)">
                                      <p:cBhvr>
                                        <p:cTn id="65" dur="500"/>
                                        <p:tgtEl>
                                          <p:spTgt spid="45"/>
                                        </p:tgtEl>
                                      </p:cBhvr>
                                    </p:animEffect>
                                  </p:childTnLst>
                                </p:cTn>
                              </p:par>
                            </p:childTnLst>
                          </p:cTn>
                        </p:par>
                      </p:childTnLst>
                    </p:cTn>
                  </p:par>
                  <p:par>
                    <p:cTn id="66" fill="hold">
                      <p:stCondLst>
                        <p:cond delay="indefinite"/>
                      </p:stCondLst>
                      <p:childTnLst>
                        <p:par>
                          <p:cTn id="67" fill="hold">
                            <p:stCondLst>
                              <p:cond delay="0"/>
                            </p:stCondLst>
                            <p:childTnLst>
                              <p:par>
                                <p:cTn id="68" presetID="22" presetClass="entr" presetSubtype="8" fill="hold" nodeType="click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wipe(left)">
                                      <p:cBhvr>
                                        <p:cTn id="70" dur="500"/>
                                        <p:tgtEl>
                                          <p:spTgt spid="19"/>
                                        </p:tgtEl>
                                      </p:cBhvr>
                                    </p:animEffect>
                                  </p:childTnLst>
                                </p:cTn>
                              </p:par>
                              <p:par>
                                <p:cTn id="71" presetID="22" presetClass="entr" presetSubtype="8" fill="hold" grpId="0" nodeType="withEffect">
                                  <p:stCondLst>
                                    <p:cond delay="0"/>
                                  </p:stCondLst>
                                  <p:childTnLst>
                                    <p:set>
                                      <p:cBhvr>
                                        <p:cTn id="72" dur="1" fill="hold">
                                          <p:stCondLst>
                                            <p:cond delay="0"/>
                                          </p:stCondLst>
                                        </p:cTn>
                                        <p:tgtEl>
                                          <p:spTgt spid="37"/>
                                        </p:tgtEl>
                                        <p:attrNameLst>
                                          <p:attrName>style.visibility</p:attrName>
                                        </p:attrNameLst>
                                      </p:cBhvr>
                                      <p:to>
                                        <p:strVal val="visible"/>
                                      </p:to>
                                    </p:set>
                                    <p:animEffect transition="in" filter="wipe(left)">
                                      <p:cBhvr>
                                        <p:cTn id="73" dur="500"/>
                                        <p:tgtEl>
                                          <p:spTgt spid="37"/>
                                        </p:tgtEl>
                                      </p:cBhvr>
                                    </p:animEffect>
                                  </p:childTnLst>
                                </p:cTn>
                              </p:par>
                            </p:childTnLst>
                          </p:cTn>
                        </p:par>
                      </p:childTnLst>
                    </p:cTn>
                  </p:par>
                  <p:par>
                    <p:cTn id="74" fill="hold">
                      <p:stCondLst>
                        <p:cond delay="indefinite"/>
                      </p:stCondLst>
                      <p:childTnLst>
                        <p:par>
                          <p:cTn id="75" fill="hold">
                            <p:stCondLst>
                              <p:cond delay="0"/>
                            </p:stCondLst>
                            <p:childTnLst>
                              <p:par>
                                <p:cTn id="76" presetID="22" presetClass="entr" presetSubtype="8" fill="hold" nodeType="clickEffect">
                                  <p:stCondLst>
                                    <p:cond delay="0"/>
                                  </p:stCondLst>
                                  <p:childTnLst>
                                    <p:set>
                                      <p:cBhvr>
                                        <p:cTn id="77" dur="1" fill="hold">
                                          <p:stCondLst>
                                            <p:cond delay="0"/>
                                          </p:stCondLst>
                                        </p:cTn>
                                        <p:tgtEl>
                                          <p:spTgt spid="30"/>
                                        </p:tgtEl>
                                        <p:attrNameLst>
                                          <p:attrName>style.visibility</p:attrName>
                                        </p:attrNameLst>
                                      </p:cBhvr>
                                      <p:to>
                                        <p:strVal val="visible"/>
                                      </p:to>
                                    </p:set>
                                    <p:animEffect transition="in" filter="wipe(left)">
                                      <p:cBhvr>
                                        <p:cTn id="78" dur="500"/>
                                        <p:tgtEl>
                                          <p:spTgt spid="30"/>
                                        </p:tgtEl>
                                      </p:cBhvr>
                                    </p:animEffect>
                                  </p:childTnLst>
                                </p:cTn>
                              </p:par>
                              <p:par>
                                <p:cTn id="79" presetID="22" presetClass="entr" presetSubtype="8" fill="hold" grpId="0" nodeType="withEffect">
                                  <p:stCondLst>
                                    <p:cond delay="0"/>
                                  </p:stCondLst>
                                  <p:childTnLst>
                                    <p:set>
                                      <p:cBhvr>
                                        <p:cTn id="80" dur="1" fill="hold">
                                          <p:stCondLst>
                                            <p:cond delay="0"/>
                                          </p:stCondLst>
                                        </p:cTn>
                                        <p:tgtEl>
                                          <p:spTgt spid="46"/>
                                        </p:tgtEl>
                                        <p:attrNameLst>
                                          <p:attrName>style.visibility</p:attrName>
                                        </p:attrNameLst>
                                      </p:cBhvr>
                                      <p:to>
                                        <p:strVal val="visible"/>
                                      </p:to>
                                    </p:set>
                                    <p:animEffect transition="in" filter="wipe(left)">
                                      <p:cBhvr>
                                        <p:cTn id="81" dur="5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 grpId="0" animBg="1"/>
      <p:bldP spid="34" grpId="0" animBg="1"/>
      <p:bldP spid="35" grpId="0" animBg="1"/>
      <p:bldP spid="36" grpId="0" animBg="1"/>
      <p:bldP spid="37" grpId="0" animBg="1"/>
      <p:bldP spid="38" grpId="0" animBg="1"/>
      <p:bldP spid="39" grpId="0" animBg="1"/>
      <p:bldP spid="40" grpId="0"/>
      <p:bldP spid="41" grpId="0"/>
      <p:bldP spid="42" grpId="0"/>
      <p:bldP spid="43" grpId="0"/>
      <p:bldP spid="44" grpId="0"/>
      <p:bldP spid="45" grpId="0"/>
      <p:bldP spid="46"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t="-15111" b="-15111"/>
            </a:stretch>
          </a:blipFill>
        </p:spPr>
        <p:txBody>
          <a:bodyPr/>
          <a:lstStyle/>
          <a:p>
            <a:endParaRPr lang="en-US"/>
          </a:p>
        </p:txBody>
      </p:sp>
      <p:sp>
        <p:nvSpPr>
          <p:cNvPr id="3" name="TextBox 3"/>
          <p:cNvSpPr txBox="1"/>
          <p:nvPr/>
        </p:nvSpPr>
        <p:spPr>
          <a:xfrm>
            <a:off x="1593308" y="39731"/>
            <a:ext cx="13851580" cy="2848588"/>
          </a:xfrm>
          <a:prstGeom prst="rect">
            <a:avLst/>
          </a:prstGeom>
        </p:spPr>
        <p:txBody>
          <a:bodyPr lIns="0" tIns="0" rIns="0" bIns="0" rtlCol="0" anchor="t">
            <a:spAutoFit/>
          </a:bodyPr>
          <a:lstStyle/>
          <a:p>
            <a:pPr algn="ctr">
              <a:lnSpc>
                <a:spcPts val="11159"/>
              </a:lnSpc>
            </a:pPr>
            <a:r>
              <a:rPr lang="en-US" sz="9600" b="1" dirty="0">
                <a:solidFill>
                  <a:srgbClr val="000000"/>
                </a:solidFill>
                <a:latin typeface="Gagalin" panose="020B0604020202020204" charset="0"/>
                <a:ea typeface="Oswald Bold"/>
                <a:cs typeface="Oswald Bold"/>
                <a:sym typeface="Oswald Bold"/>
              </a:rPr>
              <a:t>Data Cleaning</a:t>
            </a:r>
          </a:p>
          <a:p>
            <a:pPr marL="0" lvl="0" indent="0" algn="ctr">
              <a:lnSpc>
                <a:spcPts val="11159"/>
              </a:lnSpc>
              <a:spcBef>
                <a:spcPct val="0"/>
              </a:spcBef>
            </a:pPr>
            <a:endParaRPr lang="en-US" sz="9600" b="1" dirty="0">
              <a:solidFill>
                <a:srgbClr val="000000"/>
              </a:solidFill>
              <a:latin typeface="Oswald Bold"/>
              <a:ea typeface="Oswald Bold"/>
              <a:cs typeface="Oswald Bold"/>
              <a:sym typeface="Oswald Bold"/>
            </a:endParaRPr>
          </a:p>
        </p:txBody>
      </p:sp>
      <p:grpSp>
        <p:nvGrpSpPr>
          <p:cNvPr id="4" name="Group 4"/>
          <p:cNvGrpSpPr/>
          <p:nvPr/>
        </p:nvGrpSpPr>
        <p:grpSpPr>
          <a:xfrm>
            <a:off x="605912" y="2156471"/>
            <a:ext cx="845577" cy="845577"/>
            <a:chOff x="0" y="0"/>
            <a:chExt cx="812800" cy="812800"/>
          </a:xfrm>
        </p:grpSpPr>
        <p:sp>
          <p:nvSpPr>
            <p:cNvPr id="5" name="Freeform 5"/>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30A"/>
            </a:solidFill>
          </p:spPr>
          <p:txBody>
            <a:bodyPr/>
            <a:lstStyle/>
            <a:p>
              <a:endParaRPr lang="en-US"/>
            </a:p>
          </p:txBody>
        </p:sp>
        <p:sp>
          <p:nvSpPr>
            <p:cNvPr id="6" name="TextBox 6"/>
            <p:cNvSpPr txBox="1"/>
            <p:nvPr/>
          </p:nvSpPr>
          <p:spPr>
            <a:xfrm>
              <a:off x="76200" y="28575"/>
              <a:ext cx="660400" cy="708025"/>
            </a:xfrm>
            <a:prstGeom prst="rect">
              <a:avLst/>
            </a:prstGeom>
          </p:spPr>
          <p:txBody>
            <a:bodyPr lIns="50800" tIns="50800" rIns="50800" bIns="50800" rtlCol="0" anchor="ctr"/>
            <a:lstStyle/>
            <a:p>
              <a:pPr marL="0" lvl="0" indent="0" algn="ctr">
                <a:lnSpc>
                  <a:spcPts val="3269"/>
                </a:lnSpc>
              </a:pPr>
              <a:r>
                <a:rPr lang="en-US" sz="2335">
                  <a:solidFill>
                    <a:srgbClr val="EAEAEA"/>
                  </a:solidFill>
                  <a:latin typeface="Decalotype"/>
                  <a:ea typeface="Decalotype"/>
                  <a:cs typeface="Decalotype"/>
                  <a:sym typeface="Decalotype"/>
                </a:rPr>
                <a:t>01</a:t>
              </a:r>
            </a:p>
          </p:txBody>
        </p:sp>
      </p:grpSp>
      <p:grpSp>
        <p:nvGrpSpPr>
          <p:cNvPr id="7" name="Group 7"/>
          <p:cNvGrpSpPr/>
          <p:nvPr/>
        </p:nvGrpSpPr>
        <p:grpSpPr>
          <a:xfrm>
            <a:off x="9405314" y="2190339"/>
            <a:ext cx="777842" cy="777842"/>
            <a:chOff x="0" y="0"/>
            <a:chExt cx="812800" cy="812800"/>
          </a:xfrm>
        </p:grpSpPr>
        <p:sp>
          <p:nvSpPr>
            <p:cNvPr id="8" name="Freeform 8"/>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30A"/>
            </a:solidFill>
          </p:spPr>
          <p:txBody>
            <a:bodyPr/>
            <a:lstStyle/>
            <a:p>
              <a:endParaRPr lang="en-US"/>
            </a:p>
          </p:txBody>
        </p:sp>
        <p:sp>
          <p:nvSpPr>
            <p:cNvPr id="9" name="TextBox 9"/>
            <p:cNvSpPr txBox="1"/>
            <p:nvPr/>
          </p:nvSpPr>
          <p:spPr>
            <a:xfrm>
              <a:off x="76200" y="28575"/>
              <a:ext cx="660400" cy="708025"/>
            </a:xfrm>
            <a:prstGeom prst="rect">
              <a:avLst/>
            </a:prstGeom>
          </p:spPr>
          <p:txBody>
            <a:bodyPr lIns="50800" tIns="50800" rIns="50800" bIns="50800" rtlCol="0" anchor="ctr"/>
            <a:lstStyle/>
            <a:p>
              <a:pPr marL="0" lvl="0" indent="0" algn="ctr">
                <a:lnSpc>
                  <a:spcPts val="3269"/>
                </a:lnSpc>
              </a:pPr>
              <a:r>
                <a:rPr lang="en-US" sz="2335" dirty="0">
                  <a:solidFill>
                    <a:srgbClr val="EAEAEA"/>
                  </a:solidFill>
                  <a:latin typeface="Decalotype"/>
                  <a:ea typeface="Decalotype"/>
                  <a:cs typeface="Decalotype"/>
                  <a:sym typeface="Decalotype"/>
                </a:rPr>
                <a:t>02</a:t>
              </a:r>
            </a:p>
          </p:txBody>
        </p:sp>
      </p:grpSp>
      <p:sp>
        <p:nvSpPr>
          <p:cNvPr id="10" name="AutoShape 10"/>
          <p:cNvSpPr/>
          <p:nvPr/>
        </p:nvSpPr>
        <p:spPr>
          <a:xfrm>
            <a:off x="9124950" y="3487750"/>
            <a:ext cx="0" cy="6492240"/>
          </a:xfrm>
          <a:prstGeom prst="line">
            <a:avLst/>
          </a:prstGeom>
          <a:ln w="38100" cap="flat">
            <a:solidFill>
              <a:srgbClr val="000000"/>
            </a:solidFill>
            <a:prstDash val="solid"/>
            <a:headEnd type="none" w="sm" len="sm"/>
            <a:tailEnd type="none" w="sm" len="sm"/>
          </a:ln>
        </p:spPr>
        <p:txBody>
          <a:bodyPr/>
          <a:lstStyle/>
          <a:p>
            <a:endParaRPr lang="en-US"/>
          </a:p>
        </p:txBody>
      </p:sp>
      <p:sp>
        <p:nvSpPr>
          <p:cNvPr id="11" name="Freeform 11"/>
          <p:cNvSpPr/>
          <p:nvPr/>
        </p:nvSpPr>
        <p:spPr>
          <a:xfrm>
            <a:off x="780932" y="3679402"/>
            <a:ext cx="7405144" cy="5578898"/>
          </a:xfrm>
          <a:custGeom>
            <a:avLst/>
            <a:gdLst/>
            <a:ahLst/>
            <a:cxnLst/>
            <a:rect l="l" t="t" r="r" b="b"/>
            <a:pathLst>
              <a:path w="7405144" h="5578898">
                <a:moveTo>
                  <a:pt x="0" y="0"/>
                </a:moveTo>
                <a:lnTo>
                  <a:pt x="7405144" y="0"/>
                </a:lnTo>
                <a:lnTo>
                  <a:pt x="7405144" y="5578898"/>
                </a:lnTo>
                <a:lnTo>
                  <a:pt x="0" y="5578898"/>
                </a:lnTo>
                <a:lnTo>
                  <a:pt x="0" y="0"/>
                </a:lnTo>
                <a:close/>
              </a:path>
            </a:pathLst>
          </a:custGeom>
          <a:blipFill>
            <a:blip r:embed="rId3"/>
            <a:stretch>
              <a:fillRect l="-29031" b="-2119"/>
            </a:stretch>
          </a:blipFill>
        </p:spPr>
        <p:txBody>
          <a:bodyPr/>
          <a:lstStyle/>
          <a:p>
            <a:endParaRPr lang="en-US"/>
          </a:p>
        </p:txBody>
      </p:sp>
      <p:sp>
        <p:nvSpPr>
          <p:cNvPr id="12" name="Freeform 12"/>
          <p:cNvSpPr/>
          <p:nvPr/>
        </p:nvSpPr>
        <p:spPr>
          <a:xfrm>
            <a:off x="12442030" y="7511676"/>
            <a:ext cx="6327492" cy="3089596"/>
          </a:xfrm>
          <a:custGeom>
            <a:avLst/>
            <a:gdLst/>
            <a:ahLst/>
            <a:cxnLst/>
            <a:rect l="l" t="t" r="r" b="b"/>
            <a:pathLst>
              <a:path w="6327492" h="3089596">
                <a:moveTo>
                  <a:pt x="0" y="0"/>
                </a:moveTo>
                <a:lnTo>
                  <a:pt x="6327492" y="0"/>
                </a:lnTo>
                <a:lnTo>
                  <a:pt x="6327492" y="3089595"/>
                </a:lnTo>
                <a:lnTo>
                  <a:pt x="0" y="3089595"/>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3" name="Freeform 13"/>
          <p:cNvSpPr/>
          <p:nvPr/>
        </p:nvSpPr>
        <p:spPr>
          <a:xfrm>
            <a:off x="9794234" y="3621897"/>
            <a:ext cx="7708010" cy="5636403"/>
          </a:xfrm>
          <a:custGeom>
            <a:avLst/>
            <a:gdLst/>
            <a:ahLst/>
            <a:cxnLst/>
            <a:rect l="l" t="t" r="r" b="b"/>
            <a:pathLst>
              <a:path w="7708010" h="5636403">
                <a:moveTo>
                  <a:pt x="0" y="0"/>
                </a:moveTo>
                <a:lnTo>
                  <a:pt x="7708011" y="0"/>
                </a:lnTo>
                <a:lnTo>
                  <a:pt x="7708011" y="5636403"/>
                </a:lnTo>
                <a:lnTo>
                  <a:pt x="0" y="5636403"/>
                </a:lnTo>
                <a:lnTo>
                  <a:pt x="0" y="0"/>
                </a:lnTo>
                <a:close/>
              </a:path>
            </a:pathLst>
          </a:custGeom>
          <a:blipFill>
            <a:blip r:embed="rId5"/>
            <a:stretch>
              <a:fillRect l="-29454" b="-24"/>
            </a:stretch>
          </a:blipFill>
        </p:spPr>
        <p:txBody>
          <a:bodyPr/>
          <a:lstStyle/>
          <a:p>
            <a:endParaRPr lang="en-US"/>
          </a:p>
        </p:txBody>
      </p:sp>
      <p:grpSp>
        <p:nvGrpSpPr>
          <p:cNvPr id="14" name="Group 14"/>
          <p:cNvGrpSpPr/>
          <p:nvPr/>
        </p:nvGrpSpPr>
        <p:grpSpPr>
          <a:xfrm>
            <a:off x="7600950" y="3600450"/>
            <a:ext cx="3086100" cy="3086100"/>
            <a:chOff x="0" y="0"/>
            <a:chExt cx="812800" cy="812800"/>
          </a:xfrm>
        </p:grpSpPr>
        <p:sp>
          <p:nvSpPr>
            <p:cNvPr id="15" name="Freeform 15"/>
            <p:cNvSpPr/>
            <p:nvPr/>
          </p:nvSpPr>
          <p:spPr>
            <a:xfrm>
              <a:off x="0" y="0"/>
              <a:ext cx="812800" cy="812800"/>
            </a:xfrm>
            <a:custGeom>
              <a:avLst/>
              <a:gdLst/>
              <a:ahLst/>
              <a:cxnLst/>
              <a:rect l="l" t="t" r="r" b="b"/>
              <a:pathLst>
                <a:path w="812800" h="812800">
                  <a:moveTo>
                    <a:pt x="127941" y="0"/>
                  </a:moveTo>
                  <a:lnTo>
                    <a:pt x="684859" y="0"/>
                  </a:lnTo>
                  <a:cubicBezTo>
                    <a:pt x="718791" y="0"/>
                    <a:pt x="751333" y="13479"/>
                    <a:pt x="775327" y="37473"/>
                  </a:cubicBezTo>
                  <a:cubicBezTo>
                    <a:pt x="799321" y="61467"/>
                    <a:pt x="812800" y="94009"/>
                    <a:pt x="812800" y="127941"/>
                  </a:cubicBezTo>
                  <a:lnTo>
                    <a:pt x="812800" y="684859"/>
                  </a:lnTo>
                  <a:cubicBezTo>
                    <a:pt x="812800" y="718791"/>
                    <a:pt x="799321" y="751333"/>
                    <a:pt x="775327" y="775327"/>
                  </a:cubicBezTo>
                  <a:cubicBezTo>
                    <a:pt x="751333" y="799321"/>
                    <a:pt x="718791" y="812800"/>
                    <a:pt x="684859" y="812800"/>
                  </a:cubicBezTo>
                  <a:lnTo>
                    <a:pt x="127941" y="812800"/>
                  </a:lnTo>
                  <a:cubicBezTo>
                    <a:pt x="94009" y="812800"/>
                    <a:pt x="61467" y="799321"/>
                    <a:pt x="37473" y="775327"/>
                  </a:cubicBezTo>
                  <a:cubicBezTo>
                    <a:pt x="13479" y="751333"/>
                    <a:pt x="0" y="718791"/>
                    <a:pt x="0" y="684859"/>
                  </a:cubicBezTo>
                  <a:lnTo>
                    <a:pt x="0" y="127941"/>
                  </a:lnTo>
                  <a:cubicBezTo>
                    <a:pt x="0" y="94009"/>
                    <a:pt x="13479" y="61467"/>
                    <a:pt x="37473" y="37473"/>
                  </a:cubicBezTo>
                  <a:cubicBezTo>
                    <a:pt x="61467" y="13479"/>
                    <a:pt x="94009" y="0"/>
                    <a:pt x="127941" y="0"/>
                  </a:cubicBezTo>
                  <a:close/>
                </a:path>
              </a:pathLst>
            </a:custGeom>
            <a:solidFill>
              <a:srgbClr val="231F20">
                <a:alpha val="0"/>
              </a:srgbClr>
            </a:solidFill>
            <a:ln w="314325" cap="rnd">
              <a:solidFill>
                <a:srgbClr val="000000">
                  <a:alpha val="0"/>
                </a:srgbClr>
              </a:solidFill>
              <a:prstDash val="solid"/>
              <a:round/>
            </a:ln>
          </p:spPr>
          <p:txBody>
            <a:bodyPr/>
            <a:lstStyle/>
            <a:p>
              <a:endParaRPr lang="en-US"/>
            </a:p>
          </p:txBody>
        </p:sp>
        <p:sp>
          <p:nvSpPr>
            <p:cNvPr id="16" name="TextBox 16"/>
            <p:cNvSpPr txBox="1"/>
            <p:nvPr/>
          </p:nvSpPr>
          <p:spPr>
            <a:xfrm>
              <a:off x="0" y="-47625"/>
              <a:ext cx="812800" cy="860425"/>
            </a:xfrm>
            <a:prstGeom prst="rect">
              <a:avLst/>
            </a:prstGeom>
          </p:spPr>
          <p:txBody>
            <a:bodyPr lIns="50800" tIns="50800" rIns="50800" bIns="50800" rtlCol="0" anchor="ctr"/>
            <a:lstStyle/>
            <a:p>
              <a:pPr algn="ctr">
                <a:lnSpc>
                  <a:spcPts val="3269"/>
                </a:lnSpc>
              </a:pPr>
              <a:endParaRPr/>
            </a:p>
          </p:txBody>
        </p:sp>
      </p:grpSp>
      <p:sp>
        <p:nvSpPr>
          <p:cNvPr id="17" name="Freeform 17"/>
          <p:cNvSpPr/>
          <p:nvPr/>
        </p:nvSpPr>
        <p:spPr>
          <a:xfrm>
            <a:off x="5786922" y="3554003"/>
            <a:ext cx="2399154" cy="5829696"/>
          </a:xfrm>
          <a:custGeom>
            <a:avLst/>
            <a:gdLst/>
            <a:ahLst/>
            <a:cxnLst/>
            <a:rect l="l" t="t" r="r" b="b"/>
            <a:pathLst>
              <a:path w="2399154" h="5829696">
                <a:moveTo>
                  <a:pt x="0" y="0"/>
                </a:moveTo>
                <a:lnTo>
                  <a:pt x="2399154" y="0"/>
                </a:lnTo>
                <a:lnTo>
                  <a:pt x="2399154" y="5829696"/>
                </a:lnTo>
                <a:lnTo>
                  <a:pt x="0" y="5829696"/>
                </a:lnTo>
                <a:lnTo>
                  <a:pt x="0" y="0"/>
                </a:lnTo>
                <a:close/>
              </a:path>
            </a:pathLst>
          </a:custGeom>
          <a:blipFill>
            <a:blip r:embed="rId6"/>
            <a:stretch>
              <a:fillRect t="-3592" r="-107413" b="-3592"/>
            </a:stretch>
          </a:blipFill>
        </p:spPr>
        <p:txBody>
          <a:bodyPr/>
          <a:lstStyle/>
          <a:p>
            <a:endParaRPr lang="en-US"/>
          </a:p>
        </p:txBody>
      </p:sp>
      <p:sp>
        <p:nvSpPr>
          <p:cNvPr id="18" name="Freeform 18"/>
          <p:cNvSpPr/>
          <p:nvPr/>
        </p:nvSpPr>
        <p:spPr>
          <a:xfrm>
            <a:off x="14899884" y="3649829"/>
            <a:ext cx="2602361" cy="5733870"/>
          </a:xfrm>
          <a:custGeom>
            <a:avLst/>
            <a:gdLst/>
            <a:ahLst/>
            <a:cxnLst/>
            <a:rect l="l" t="t" r="r" b="b"/>
            <a:pathLst>
              <a:path w="2602361" h="5733870">
                <a:moveTo>
                  <a:pt x="0" y="0"/>
                </a:moveTo>
                <a:lnTo>
                  <a:pt x="2602361" y="0"/>
                </a:lnTo>
                <a:lnTo>
                  <a:pt x="2602361" y="5733870"/>
                </a:lnTo>
                <a:lnTo>
                  <a:pt x="0" y="5733870"/>
                </a:lnTo>
                <a:lnTo>
                  <a:pt x="0" y="0"/>
                </a:lnTo>
                <a:close/>
              </a:path>
            </a:pathLst>
          </a:custGeom>
          <a:blipFill>
            <a:blip r:embed="rId6"/>
            <a:stretch>
              <a:fillRect l="-592" t="-3888" r="-81696"/>
            </a:stretch>
          </a:blipFill>
        </p:spPr>
        <p:txBody>
          <a:bodyPr/>
          <a:lstStyle/>
          <a:p>
            <a:endParaRPr lang="en-US"/>
          </a:p>
        </p:txBody>
      </p:sp>
      <p:sp>
        <p:nvSpPr>
          <p:cNvPr id="19" name="Freeform 19"/>
          <p:cNvSpPr/>
          <p:nvPr/>
        </p:nvSpPr>
        <p:spPr>
          <a:xfrm>
            <a:off x="12767507" y="111780"/>
            <a:ext cx="1761464" cy="1423280"/>
          </a:xfrm>
          <a:custGeom>
            <a:avLst/>
            <a:gdLst/>
            <a:ahLst/>
            <a:cxnLst/>
            <a:rect l="l" t="t" r="r" b="b"/>
            <a:pathLst>
              <a:path w="1390955" h="1316191">
                <a:moveTo>
                  <a:pt x="0" y="0"/>
                </a:moveTo>
                <a:lnTo>
                  <a:pt x="1390955" y="0"/>
                </a:lnTo>
                <a:lnTo>
                  <a:pt x="1390955" y="1316192"/>
                </a:lnTo>
                <a:lnTo>
                  <a:pt x="0" y="1316192"/>
                </a:lnTo>
                <a:lnTo>
                  <a:pt x="0" y="0"/>
                </a:lnTo>
                <a:close/>
              </a:path>
            </a:pathLst>
          </a:custGeom>
          <a:blipFill>
            <a:blip r:embed="rId7"/>
            <a:stretch>
              <a:fillRect/>
            </a:stretch>
          </a:blipFill>
          <a:ln cap="sq">
            <a:noFill/>
            <a:prstDash val="solid"/>
            <a:miter/>
          </a:ln>
        </p:spPr>
        <p:txBody>
          <a:bodyPr/>
          <a:lstStyle/>
          <a:p>
            <a:endParaRPr lang="en-US"/>
          </a:p>
        </p:txBody>
      </p:sp>
      <p:sp>
        <p:nvSpPr>
          <p:cNvPr id="20" name="Freeform 20"/>
          <p:cNvSpPr/>
          <p:nvPr/>
        </p:nvSpPr>
        <p:spPr>
          <a:xfrm>
            <a:off x="10824827" y="1467156"/>
            <a:ext cx="1337317" cy="2182673"/>
          </a:xfrm>
          <a:custGeom>
            <a:avLst/>
            <a:gdLst/>
            <a:ahLst/>
            <a:cxnLst/>
            <a:rect l="l" t="t" r="r" b="b"/>
            <a:pathLst>
              <a:path w="1337317" h="2182673">
                <a:moveTo>
                  <a:pt x="0" y="0"/>
                </a:moveTo>
                <a:lnTo>
                  <a:pt x="1337316" y="0"/>
                </a:lnTo>
                <a:lnTo>
                  <a:pt x="1337316" y="2182673"/>
                </a:lnTo>
                <a:lnTo>
                  <a:pt x="0" y="2182673"/>
                </a:lnTo>
                <a:lnTo>
                  <a:pt x="0" y="0"/>
                </a:lnTo>
                <a:close/>
              </a:path>
            </a:pathLst>
          </a:custGeom>
          <a:blipFill>
            <a:blip r:embed="rId8"/>
            <a:stretch>
              <a:fillRect l="-5594" r="-5594"/>
            </a:stretch>
          </a:blipFill>
          <a:ln cap="sq">
            <a:noFill/>
            <a:prstDash val="solid"/>
            <a:miter/>
          </a:ln>
        </p:spPr>
        <p:txBody>
          <a:bodyPr/>
          <a:lstStyle/>
          <a:p>
            <a:endParaRPr lang="en-US"/>
          </a:p>
        </p:txBody>
      </p:sp>
      <p:sp>
        <p:nvSpPr>
          <p:cNvPr id="21" name="Freeform 21"/>
          <p:cNvSpPr/>
          <p:nvPr/>
        </p:nvSpPr>
        <p:spPr>
          <a:xfrm>
            <a:off x="1241934" y="1467156"/>
            <a:ext cx="2660732" cy="1800954"/>
          </a:xfrm>
          <a:custGeom>
            <a:avLst/>
            <a:gdLst/>
            <a:ahLst/>
            <a:cxnLst/>
            <a:rect l="l" t="t" r="r" b="b"/>
            <a:pathLst>
              <a:path w="2660732" h="1800954">
                <a:moveTo>
                  <a:pt x="0" y="0"/>
                </a:moveTo>
                <a:lnTo>
                  <a:pt x="2660732" y="0"/>
                </a:lnTo>
                <a:lnTo>
                  <a:pt x="2660732" y="1800954"/>
                </a:lnTo>
                <a:lnTo>
                  <a:pt x="0" y="1800954"/>
                </a:lnTo>
                <a:lnTo>
                  <a:pt x="0" y="0"/>
                </a:lnTo>
                <a:close/>
              </a:path>
            </a:pathLst>
          </a:custGeom>
          <a:blipFill>
            <a:blip r:embed="rId9"/>
            <a:stretch>
              <a:fillRect t="-1306" b="-1306"/>
            </a:stretch>
          </a:blipFill>
          <a:ln cap="sq">
            <a:noFill/>
            <a:prstDash val="solid"/>
            <a:miter/>
          </a:ln>
        </p:spPr>
        <p:txBody>
          <a:bodyPr/>
          <a:lstStyle/>
          <a:p>
            <a:endParaRPr lang="en-US"/>
          </a:p>
        </p:txBody>
      </p:sp>
      <p:sp>
        <p:nvSpPr>
          <p:cNvPr id="22" name="TextBox 22"/>
          <p:cNvSpPr txBox="1"/>
          <p:nvPr/>
        </p:nvSpPr>
        <p:spPr>
          <a:xfrm>
            <a:off x="1383753" y="2131931"/>
            <a:ext cx="2814107" cy="802382"/>
          </a:xfrm>
          <a:prstGeom prst="rect">
            <a:avLst/>
          </a:prstGeom>
        </p:spPr>
        <p:txBody>
          <a:bodyPr lIns="0" tIns="0" rIns="0" bIns="0" rtlCol="0" anchor="t">
            <a:spAutoFit/>
          </a:bodyPr>
          <a:lstStyle/>
          <a:p>
            <a:pPr algn="ctr">
              <a:lnSpc>
                <a:spcPts val="6221"/>
              </a:lnSpc>
              <a:spcBef>
                <a:spcPct val="0"/>
              </a:spcBef>
            </a:pPr>
            <a:r>
              <a:rPr lang="en-US" sz="5605">
                <a:solidFill>
                  <a:srgbClr val="000000"/>
                </a:solidFill>
                <a:latin typeface="Oswald"/>
                <a:ea typeface="Oswald"/>
                <a:cs typeface="Oswald"/>
                <a:sym typeface="Oswald"/>
              </a:rPr>
              <a:t>Before</a:t>
            </a:r>
          </a:p>
        </p:txBody>
      </p:sp>
      <p:sp>
        <p:nvSpPr>
          <p:cNvPr id="23" name="TextBox 23"/>
          <p:cNvSpPr txBox="1"/>
          <p:nvPr/>
        </p:nvSpPr>
        <p:spPr>
          <a:xfrm>
            <a:off x="9794234" y="2036746"/>
            <a:ext cx="3398501" cy="992751"/>
          </a:xfrm>
          <a:prstGeom prst="rect">
            <a:avLst/>
          </a:prstGeom>
        </p:spPr>
        <p:txBody>
          <a:bodyPr lIns="0" tIns="0" rIns="0" bIns="0" rtlCol="0" anchor="t">
            <a:spAutoFit/>
          </a:bodyPr>
          <a:lstStyle/>
          <a:p>
            <a:pPr algn="ctr">
              <a:lnSpc>
                <a:spcPts val="7608"/>
              </a:lnSpc>
              <a:spcBef>
                <a:spcPct val="0"/>
              </a:spcBef>
            </a:pPr>
            <a:r>
              <a:rPr lang="en-US" sz="6854" dirty="0">
                <a:solidFill>
                  <a:srgbClr val="000000"/>
                </a:solidFill>
                <a:latin typeface="Oswald"/>
                <a:ea typeface="Oswald"/>
                <a:cs typeface="Oswald"/>
                <a:sym typeface="Oswald"/>
              </a:rPr>
              <a:t>After</a:t>
            </a:r>
          </a:p>
        </p:txBody>
      </p:sp>
      <p:sp>
        <p:nvSpPr>
          <p:cNvPr id="24" name="Freeform 24"/>
          <p:cNvSpPr/>
          <p:nvPr/>
        </p:nvSpPr>
        <p:spPr>
          <a:xfrm>
            <a:off x="-1721079" y="-2478272"/>
            <a:ext cx="3952615" cy="3945428"/>
          </a:xfrm>
          <a:custGeom>
            <a:avLst/>
            <a:gdLst/>
            <a:ahLst/>
            <a:cxnLst/>
            <a:rect l="l" t="t" r="r" b="b"/>
            <a:pathLst>
              <a:path w="3952615" h="3945428">
                <a:moveTo>
                  <a:pt x="0" y="0"/>
                </a:moveTo>
                <a:lnTo>
                  <a:pt x="3952615" y="0"/>
                </a:lnTo>
                <a:lnTo>
                  <a:pt x="3952615" y="3945428"/>
                </a:lnTo>
                <a:lnTo>
                  <a:pt x="0" y="3945428"/>
                </a:lnTo>
                <a:lnTo>
                  <a:pt x="0" y="0"/>
                </a:lnTo>
                <a:close/>
              </a:path>
            </a:pathLst>
          </a:custGeom>
          <a:blipFill>
            <a:blip>
              <a:extLst>
                <a:ext uri="{96DAC541-7B7A-43D3-8B79-37D633B846F1}">
                  <asvg:svgBlip xmlns:asvg="http://schemas.microsoft.com/office/drawing/2016/SVG/main" r:embed="rId10"/>
                </a:ext>
              </a:extLst>
            </a:blip>
            <a:stretch>
              <a:fillRect/>
            </a:stretch>
          </a:blipFill>
        </p:spPr>
        <p:txBody>
          <a:bodyPr/>
          <a:lstStyle/>
          <a:p>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500"/>
                                        <p:tgtEl>
                                          <p:spTgt spid="1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500"/>
                                        <p:tgtEl>
                                          <p:spTgt spid="3"/>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00"/>
                                        <p:tgtEl>
                                          <p:spTgt spid="4"/>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500"/>
                                        <p:tgtEl>
                                          <p:spTgt spid="22"/>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21"/>
                                        </p:tgtEl>
                                        <p:attrNameLst>
                                          <p:attrName>style.visibility</p:attrName>
                                        </p:attrNameLst>
                                      </p:cBhvr>
                                      <p:to>
                                        <p:strVal val="visible"/>
                                      </p:to>
                                    </p:set>
                                    <p:animEffect transition="in" filter="fade">
                                      <p:cBhvr>
                                        <p:cTn id="21" dur="500"/>
                                        <p:tgtEl>
                                          <p:spTgt spid="21"/>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500"/>
                                        <p:tgtEl>
                                          <p:spTgt spid="11"/>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17"/>
                                        </p:tgtEl>
                                        <p:attrNameLst>
                                          <p:attrName>style.visibility</p:attrName>
                                        </p:attrNameLst>
                                      </p:cBhvr>
                                      <p:to>
                                        <p:strVal val="visible"/>
                                      </p:to>
                                    </p:set>
                                    <p:animEffect transition="in" filter="fade">
                                      <p:cBhvr>
                                        <p:cTn id="31" dur="500"/>
                                        <p:tgtEl>
                                          <p:spTgt spid="17"/>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5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23"/>
                                        </p:tgtEl>
                                        <p:attrNameLst>
                                          <p:attrName>style.visibility</p:attrName>
                                        </p:attrNameLst>
                                      </p:cBhvr>
                                      <p:to>
                                        <p:strVal val="visible"/>
                                      </p:to>
                                    </p:set>
                                    <p:animEffect transition="in" filter="fade">
                                      <p:cBhvr>
                                        <p:cTn id="41" dur="500"/>
                                        <p:tgtEl>
                                          <p:spTgt spid="23"/>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500"/>
                                        <p:tgtEl>
                                          <p:spTgt spid="20"/>
                                        </p:tgtEl>
                                      </p:cBhvr>
                                    </p:animEffect>
                                  </p:childTnLst>
                                </p:cTn>
                              </p:par>
                              <p:par>
                                <p:cTn id="45" presetID="10" presetClass="entr" presetSubtype="0" fill="hold" nodeType="withEffect">
                                  <p:stCondLst>
                                    <p:cond delay="0"/>
                                  </p:stCondLst>
                                  <p:childTnLst>
                                    <p:set>
                                      <p:cBhvr>
                                        <p:cTn id="46" dur="1" fill="hold">
                                          <p:stCondLst>
                                            <p:cond delay="0"/>
                                          </p:stCondLst>
                                        </p:cTn>
                                        <p:tgtEl>
                                          <p:spTgt spid="7"/>
                                        </p:tgtEl>
                                        <p:attrNameLst>
                                          <p:attrName>style.visibility</p:attrName>
                                        </p:attrNameLst>
                                      </p:cBhvr>
                                      <p:to>
                                        <p:strVal val="visible"/>
                                      </p:to>
                                    </p:set>
                                    <p:animEffect transition="in" filter="fade">
                                      <p:cBhvr>
                                        <p:cTn id="47" dur="500"/>
                                        <p:tgtEl>
                                          <p:spTgt spid="7"/>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grpId="0" nodeType="clickEffect">
                                  <p:stCondLst>
                                    <p:cond delay="0"/>
                                  </p:stCondLst>
                                  <p:childTnLst>
                                    <p:set>
                                      <p:cBhvr>
                                        <p:cTn id="51" dur="1" fill="hold">
                                          <p:stCondLst>
                                            <p:cond delay="0"/>
                                          </p:stCondLst>
                                        </p:cTn>
                                        <p:tgtEl>
                                          <p:spTgt spid="13"/>
                                        </p:tgtEl>
                                        <p:attrNameLst>
                                          <p:attrName>style.visibility</p:attrName>
                                        </p:attrNameLst>
                                      </p:cBhvr>
                                      <p:to>
                                        <p:strVal val="visible"/>
                                      </p:to>
                                    </p:set>
                                    <p:animEffect transition="in" filter="fade">
                                      <p:cBhvr>
                                        <p:cTn id="52" dur="500"/>
                                        <p:tgtEl>
                                          <p:spTgt spid="13"/>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18"/>
                                        </p:tgtEl>
                                        <p:attrNameLst>
                                          <p:attrName>style.visibility</p:attrName>
                                        </p:attrNameLst>
                                      </p:cBhvr>
                                      <p:to>
                                        <p:strVal val="visible"/>
                                      </p:to>
                                    </p:set>
                                    <p:animEffect transition="in" filter="fade">
                                      <p:cBhvr>
                                        <p:cTn id="57"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11" grpId="0" animBg="1"/>
      <p:bldP spid="13" grpId="0" animBg="1"/>
      <p:bldP spid="17" grpId="0" animBg="1"/>
      <p:bldP spid="18" grpId="0" animBg="1"/>
      <p:bldP spid="19" grpId="0" animBg="1"/>
      <p:bldP spid="20" grpId="0" animBg="1"/>
      <p:bldP spid="21" grpId="0" animBg="1"/>
      <p:bldP spid="22" grpId="0"/>
      <p:bldP spid="23" grpId="0"/>
    </p:bld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E7E7E7"/>
        </a:solidFill>
        <a:effectLst/>
      </p:bgPr>
    </p:bg>
    <p:spTree>
      <p:nvGrpSpPr>
        <p:cNvPr id="1" name=""/>
        <p:cNvGrpSpPr/>
        <p:nvPr/>
      </p:nvGrpSpPr>
      <p:grpSpPr>
        <a:xfrm>
          <a:off x="0" y="0"/>
          <a:ext cx="0" cy="0"/>
          <a:chOff x="0" y="0"/>
          <a:chExt cx="0" cy="0"/>
        </a:xfrm>
      </p:grpSpPr>
      <p:sp>
        <p:nvSpPr>
          <p:cNvPr id="2" name="Freeform 2"/>
          <p:cNvSpPr/>
          <p:nvPr/>
        </p:nvSpPr>
        <p:spPr>
          <a:xfrm>
            <a:off x="11960508" y="7534017"/>
            <a:ext cx="6461038" cy="3154804"/>
          </a:xfrm>
          <a:custGeom>
            <a:avLst/>
            <a:gdLst/>
            <a:ahLst/>
            <a:cxnLst/>
            <a:rect l="l" t="t" r="r" b="b"/>
            <a:pathLst>
              <a:path w="6461038" h="3154804">
                <a:moveTo>
                  <a:pt x="0" y="0"/>
                </a:moveTo>
                <a:lnTo>
                  <a:pt x="6461037" y="0"/>
                </a:lnTo>
                <a:lnTo>
                  <a:pt x="6461037" y="3154804"/>
                </a:lnTo>
                <a:lnTo>
                  <a:pt x="0" y="3154804"/>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US"/>
          </a:p>
        </p:txBody>
      </p:sp>
      <p:sp>
        <p:nvSpPr>
          <p:cNvPr id="4" name="Freeform 4"/>
          <p:cNvSpPr/>
          <p:nvPr/>
        </p:nvSpPr>
        <p:spPr>
          <a:xfrm>
            <a:off x="12091075" y="186380"/>
            <a:ext cx="1574958" cy="1437149"/>
          </a:xfrm>
          <a:custGeom>
            <a:avLst/>
            <a:gdLst/>
            <a:ahLst/>
            <a:cxnLst/>
            <a:rect l="l" t="t" r="r" b="b"/>
            <a:pathLst>
              <a:path w="1574958" h="1437149">
                <a:moveTo>
                  <a:pt x="0" y="0"/>
                </a:moveTo>
                <a:lnTo>
                  <a:pt x="1574958" y="0"/>
                </a:lnTo>
                <a:lnTo>
                  <a:pt x="1574958" y="1437149"/>
                </a:lnTo>
                <a:lnTo>
                  <a:pt x="0" y="1437149"/>
                </a:lnTo>
                <a:lnTo>
                  <a:pt x="0" y="0"/>
                </a:lnTo>
                <a:close/>
              </a:path>
            </a:pathLst>
          </a:custGeom>
          <a:blipFill>
            <a:blip r:embed="rId3"/>
            <a:stretch>
              <a:fillRect/>
            </a:stretch>
          </a:blipFill>
          <a:ln cap="sq">
            <a:noFill/>
            <a:prstDash val="solid"/>
            <a:miter/>
          </a:ln>
        </p:spPr>
        <p:txBody>
          <a:bodyPr/>
          <a:lstStyle/>
          <a:p>
            <a:endParaRPr lang="en-US"/>
          </a:p>
        </p:txBody>
      </p:sp>
      <p:sp>
        <p:nvSpPr>
          <p:cNvPr id="5" name="TextBox 5"/>
          <p:cNvSpPr txBox="1"/>
          <p:nvPr/>
        </p:nvSpPr>
        <p:spPr>
          <a:xfrm>
            <a:off x="3871117" y="186380"/>
            <a:ext cx="8970566" cy="1209947"/>
          </a:xfrm>
          <a:prstGeom prst="rect">
            <a:avLst/>
          </a:prstGeom>
        </p:spPr>
        <p:txBody>
          <a:bodyPr lIns="0" tIns="0" rIns="0" bIns="0" rtlCol="0" anchor="t">
            <a:spAutoFit/>
          </a:bodyPr>
          <a:lstStyle/>
          <a:p>
            <a:pPr algn="ctr">
              <a:lnSpc>
                <a:spcPts val="10466"/>
              </a:lnSpc>
              <a:spcBef>
                <a:spcPct val="0"/>
              </a:spcBef>
            </a:pPr>
            <a:r>
              <a:rPr lang="en-US" sz="8000" b="1" dirty="0">
                <a:solidFill>
                  <a:srgbClr val="000000"/>
                </a:solidFill>
                <a:latin typeface="Gagalin" panose="020B0604020202020204" charset="0"/>
                <a:ea typeface="Barbra"/>
                <a:cs typeface="Barbra"/>
                <a:sym typeface="Barbra"/>
              </a:rPr>
              <a:t>Data</a:t>
            </a:r>
            <a:r>
              <a:rPr lang="en-US" sz="8000" dirty="0">
                <a:solidFill>
                  <a:srgbClr val="000000"/>
                </a:solidFill>
                <a:latin typeface="Gagalin" panose="020B0604020202020204" charset="0"/>
                <a:ea typeface="Barbra"/>
                <a:cs typeface="Barbra"/>
                <a:sym typeface="Barbra"/>
              </a:rPr>
              <a:t> Modeling</a:t>
            </a:r>
          </a:p>
        </p:txBody>
      </p:sp>
      <p:sp>
        <p:nvSpPr>
          <p:cNvPr id="6" name="Freeform 6"/>
          <p:cNvSpPr/>
          <p:nvPr/>
        </p:nvSpPr>
        <p:spPr>
          <a:xfrm>
            <a:off x="-2179154" y="-2887863"/>
            <a:ext cx="5214119" cy="5204638"/>
          </a:xfrm>
          <a:custGeom>
            <a:avLst/>
            <a:gdLst/>
            <a:ahLst/>
            <a:cxnLst/>
            <a:rect l="l" t="t" r="r" b="b"/>
            <a:pathLst>
              <a:path w="5214119" h="5204638">
                <a:moveTo>
                  <a:pt x="0" y="0"/>
                </a:moveTo>
                <a:lnTo>
                  <a:pt x="5214118" y="0"/>
                </a:lnTo>
                <a:lnTo>
                  <a:pt x="5214118" y="5204639"/>
                </a:lnTo>
                <a:lnTo>
                  <a:pt x="0" y="5204639"/>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pic>
        <p:nvPicPr>
          <p:cNvPr id="10" name="Picture 9">
            <a:extLst>
              <a:ext uri="{FF2B5EF4-FFF2-40B4-BE49-F238E27FC236}">
                <a16:creationId xmlns:a16="http://schemas.microsoft.com/office/drawing/2014/main" id="{0092F68A-8BAD-4B82-3278-DAB6AF83CF52}"/>
              </a:ext>
            </a:extLst>
          </p:cNvPr>
          <p:cNvPicPr>
            <a:picLocks noChangeAspect="1"/>
          </p:cNvPicPr>
          <p:nvPr/>
        </p:nvPicPr>
        <p:blipFill>
          <a:blip r:embed="rId5"/>
          <a:stretch>
            <a:fillRect/>
          </a:stretch>
        </p:blipFill>
        <p:spPr>
          <a:xfrm>
            <a:off x="2057400" y="2476500"/>
            <a:ext cx="13924231" cy="6253919"/>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par>
                                <p:cTn id="11" presetID="10" presetClass="entr" presetSubtype="0" fill="hold"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t="-15111" b="-15111"/>
            </a:stretch>
          </a:blipFill>
        </p:spPr>
        <p:txBody>
          <a:bodyPr/>
          <a:lstStyle/>
          <a:p>
            <a:endParaRPr lang="en-US"/>
          </a:p>
        </p:txBody>
      </p:sp>
      <p:sp>
        <p:nvSpPr>
          <p:cNvPr id="3" name="Freeform 3"/>
          <p:cNvSpPr/>
          <p:nvPr/>
        </p:nvSpPr>
        <p:spPr>
          <a:xfrm>
            <a:off x="14547881" y="8220113"/>
            <a:ext cx="4232984" cy="2066887"/>
          </a:xfrm>
          <a:custGeom>
            <a:avLst/>
            <a:gdLst/>
            <a:ahLst/>
            <a:cxnLst/>
            <a:rect l="l" t="t" r="r" b="b"/>
            <a:pathLst>
              <a:path w="4232984" h="2066887">
                <a:moveTo>
                  <a:pt x="0" y="0"/>
                </a:moveTo>
                <a:lnTo>
                  <a:pt x="4232984" y="0"/>
                </a:lnTo>
                <a:lnTo>
                  <a:pt x="4232984" y="2066887"/>
                </a:lnTo>
                <a:lnTo>
                  <a:pt x="0" y="2066887"/>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graphicFrame>
        <p:nvGraphicFramePr>
          <p:cNvPr id="4" name="Table 4"/>
          <p:cNvGraphicFramePr>
            <a:graphicFrameLocks noGrp="1"/>
          </p:cNvGraphicFramePr>
          <p:nvPr>
            <p:extLst>
              <p:ext uri="{D42A27DB-BD31-4B8C-83A1-F6EECF244321}">
                <p14:modId xmlns:p14="http://schemas.microsoft.com/office/powerpoint/2010/main" val="3467354012"/>
              </p:ext>
            </p:extLst>
          </p:nvPr>
        </p:nvGraphicFramePr>
        <p:xfrm>
          <a:off x="195999" y="1506904"/>
          <a:ext cx="17863401" cy="7827596"/>
        </p:xfrm>
        <a:graphic>
          <a:graphicData uri="http://schemas.openxmlformats.org/drawingml/2006/table">
            <a:tbl>
              <a:tblPr/>
              <a:tblGrid>
                <a:gridCol w="3025925">
                  <a:extLst>
                    <a:ext uri="{9D8B030D-6E8A-4147-A177-3AD203B41FA5}">
                      <a16:colId xmlns:a16="http://schemas.microsoft.com/office/drawing/2014/main" val="20000"/>
                    </a:ext>
                  </a:extLst>
                </a:gridCol>
                <a:gridCol w="2784760">
                  <a:extLst>
                    <a:ext uri="{9D8B030D-6E8A-4147-A177-3AD203B41FA5}">
                      <a16:colId xmlns:a16="http://schemas.microsoft.com/office/drawing/2014/main" val="20001"/>
                    </a:ext>
                  </a:extLst>
                </a:gridCol>
                <a:gridCol w="12052716">
                  <a:extLst>
                    <a:ext uri="{9D8B030D-6E8A-4147-A177-3AD203B41FA5}">
                      <a16:colId xmlns:a16="http://schemas.microsoft.com/office/drawing/2014/main" val="20002"/>
                    </a:ext>
                  </a:extLst>
                </a:gridCol>
              </a:tblGrid>
              <a:tr h="0">
                <a:tc>
                  <a:txBody>
                    <a:bodyPr/>
                    <a:lstStyle/>
                    <a:p>
                      <a:pPr algn="just">
                        <a:lnSpc>
                          <a:spcPts val="2799"/>
                        </a:lnSpc>
                        <a:defRPr/>
                      </a:pPr>
                      <a:r>
                        <a:rPr lang="en-US" sz="1999" b="1" dirty="0">
                          <a:solidFill>
                            <a:srgbClr val="000000"/>
                          </a:solidFill>
                          <a:latin typeface="Canva Sans Bold"/>
                          <a:ea typeface="Canva Sans Bold"/>
                          <a:cs typeface="Canva Sans Bold"/>
                          <a:sym typeface="Canva Sans Bold"/>
                        </a:rPr>
                        <a:t>     </a:t>
                      </a:r>
                      <a:r>
                        <a:rPr lang="en-US" sz="2400" b="1" u="sng" dirty="0">
                          <a:solidFill>
                            <a:srgbClr val="000000"/>
                          </a:solidFill>
                          <a:latin typeface="Canva Sans Bold"/>
                          <a:ea typeface="Canva Sans Bold"/>
                          <a:cs typeface="Canva Sans Bold"/>
                          <a:sym typeface="Canva Sans Bold"/>
                        </a:rPr>
                        <a:t>Measure Name</a:t>
                      </a:r>
                      <a:endParaRPr lang="en-US" sz="1100" dirty="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rtl="0">
                        <a:lnSpc>
                          <a:spcPct val="100000"/>
                        </a:lnSpc>
                        <a:defRPr/>
                      </a:pPr>
                      <a:r>
                        <a:rPr lang="en-US" sz="2400" b="1" dirty="0">
                          <a:solidFill>
                            <a:srgbClr val="000000"/>
                          </a:solidFill>
                          <a:latin typeface="Canva Sans Bold"/>
                          <a:ea typeface="Canva Sans Bold"/>
                          <a:cs typeface="Canva Sans Bold"/>
                          <a:sym typeface="Canva Sans Bold"/>
                        </a:rPr>
                        <a:t>                                              </a:t>
                      </a:r>
                      <a:r>
                        <a:rPr lang="en-US" sz="2400" b="1" u="sng" dirty="0">
                          <a:solidFill>
                            <a:srgbClr val="000000"/>
                          </a:solidFill>
                          <a:latin typeface="Canva Sans Bold"/>
                          <a:ea typeface="Canva Sans Bold"/>
                          <a:cs typeface="Canva Sans Bold"/>
                          <a:sym typeface="Canva Sans Bold"/>
                        </a:rPr>
                        <a:t>DAX Formula</a:t>
                      </a:r>
                      <a:endParaRPr lang="en-US" sz="1400" dirty="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519"/>
                        </a:lnSpc>
                        <a:defRPr/>
                      </a:pPr>
                      <a:r>
                        <a:rPr lang="en-US" sz="2800" b="1" u="sng" dirty="0">
                          <a:solidFill>
                            <a:srgbClr val="000000"/>
                          </a:solidFill>
                          <a:latin typeface="Canva Sans Bold"/>
                          <a:ea typeface="Canva Sans Bold"/>
                          <a:cs typeface="Canva Sans Bold"/>
                          <a:sym typeface="Canva Sans Bold"/>
                        </a:rPr>
                        <a:t>Component Analysis</a:t>
                      </a:r>
                      <a:endParaRPr lang="en-US" sz="1800" dirty="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0"/>
                  </a:ext>
                </a:extLst>
              </a:tr>
              <a:tr h="1762076">
                <a:tc>
                  <a:txBody>
                    <a:bodyPr/>
                    <a:lstStyle/>
                    <a:p>
                      <a:pPr marL="480059" lvl="1" indent="-285750" algn="l">
                        <a:lnSpc>
                          <a:spcPts val="2519"/>
                        </a:lnSpc>
                        <a:buFont typeface="Arial" panose="020B0604020202020204" pitchFamily="34" charset="0"/>
                        <a:buChar char="•"/>
                        <a:defRPr/>
                      </a:pPr>
                      <a:r>
                        <a:rPr lang="en-US" sz="2000" b="1" dirty="0">
                          <a:solidFill>
                            <a:srgbClr val="000000"/>
                          </a:solidFill>
                          <a:latin typeface="Arial" panose="020B0604020202020204" pitchFamily="34" charset="0"/>
                          <a:cs typeface="Arial" panose="020B0604020202020204" pitchFamily="34" charset="0"/>
                          <a:sym typeface="Canva Sans Bold"/>
                        </a:rPr>
                        <a:t>Mean Time Between Failures</a:t>
                      </a:r>
                      <a:endParaRPr lang="en-US" sz="1400" b="1" dirty="0">
                        <a:latin typeface="Arial" panose="020B0604020202020204" pitchFamily="34" charset="0"/>
                        <a:cs typeface="Arial" panose="020B0604020202020204" pitchFamily="34" charset="0"/>
                      </a:endParaRPr>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l">
                        <a:lnSpc>
                          <a:spcPts val="1959"/>
                        </a:lnSpc>
                        <a:defRPr/>
                      </a:pPr>
                      <a:endParaRPr lang="en-US" sz="1100" dirty="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520"/>
                        </a:lnSpc>
                        <a:defRPr/>
                      </a:pPr>
                      <a:endParaRPr lang="en-US" sz="1100" dirty="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1471627">
                <a:tc>
                  <a:txBody>
                    <a:bodyPr/>
                    <a:lstStyle/>
                    <a:p>
                      <a:pPr marL="365759" lvl="1" indent="-171450" algn="l">
                        <a:lnSpc>
                          <a:spcPts val="2519"/>
                        </a:lnSpc>
                        <a:buFont typeface="Arial" panose="020B0604020202020204" pitchFamily="34" charset="0"/>
                        <a:buChar char="•"/>
                        <a:defRPr/>
                      </a:pPr>
                      <a:endParaRPr lang="en-US" sz="2400" b="1" dirty="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520"/>
                        </a:lnSpc>
                        <a:defRPr/>
                      </a:pPr>
                      <a:endParaRPr lang="en-US" sz="1100" dirty="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520"/>
                        </a:lnSpc>
                        <a:defRPr/>
                      </a:pPr>
                      <a:endParaRPr lang="en-US" sz="1100" dirty="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2"/>
                  </a:ext>
                </a:extLst>
              </a:tr>
              <a:tr h="1041023">
                <a:tc>
                  <a:txBody>
                    <a:bodyPr/>
                    <a:lstStyle/>
                    <a:p>
                      <a:pPr marL="388617" lvl="1" indent="-194308" algn="l">
                        <a:lnSpc>
                          <a:spcPts val="2519"/>
                        </a:lnSpc>
                        <a:buFont typeface="Arial"/>
                        <a:buChar char="•"/>
                        <a:defRPr/>
                      </a:pP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l">
                        <a:lnSpc>
                          <a:spcPts val="2239"/>
                        </a:lnSpc>
                        <a:defRPr/>
                      </a:pPr>
                      <a:endParaRPr lang="en-US" sz="1100" dirty="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l">
                        <a:lnSpc>
                          <a:spcPts val="2239"/>
                        </a:lnSpc>
                        <a:defRPr/>
                      </a:pPr>
                      <a:endParaRPr lang="en-US" sz="1100" dirty="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3"/>
                  </a:ext>
                </a:extLst>
              </a:tr>
              <a:tr h="2440350">
                <a:tc>
                  <a:txBody>
                    <a:bodyPr/>
                    <a:lstStyle/>
                    <a:p>
                      <a:pPr marL="388617" lvl="1" indent="-194308" algn="l">
                        <a:lnSpc>
                          <a:spcPts val="2519"/>
                        </a:lnSpc>
                        <a:buFont typeface="Arial"/>
                        <a:buChar char="•"/>
                        <a:defRPr/>
                      </a:pPr>
                      <a:endParaRPr lang="en-US" sz="1100" dirty="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1680"/>
                        </a:lnSpc>
                        <a:defRPr/>
                      </a:pP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520"/>
                        </a:lnSpc>
                        <a:defRPr/>
                      </a:pPr>
                      <a:endParaRPr lang="en-US" sz="1100" dirty="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AutoShape 5"/>
          <p:cNvSpPr/>
          <p:nvPr/>
        </p:nvSpPr>
        <p:spPr>
          <a:xfrm>
            <a:off x="3220687" y="3146445"/>
            <a:ext cx="2777377" cy="0"/>
          </a:xfrm>
          <a:prstGeom prst="line">
            <a:avLst/>
          </a:prstGeom>
          <a:ln w="38100" cap="flat">
            <a:solidFill>
              <a:srgbClr val="000000"/>
            </a:solidFill>
            <a:prstDash val="solid"/>
            <a:headEnd type="none" w="sm" len="sm"/>
            <a:tailEnd type="none" w="sm" len="sm"/>
          </a:ln>
        </p:spPr>
        <p:txBody>
          <a:bodyPr/>
          <a:lstStyle/>
          <a:p>
            <a:endParaRPr lang="en-US"/>
          </a:p>
        </p:txBody>
      </p:sp>
      <p:sp>
        <p:nvSpPr>
          <p:cNvPr id="11" name="TextBox 11"/>
          <p:cNvSpPr txBox="1"/>
          <p:nvPr/>
        </p:nvSpPr>
        <p:spPr>
          <a:xfrm>
            <a:off x="1028700" y="205288"/>
            <a:ext cx="7734300" cy="1038746"/>
          </a:xfrm>
          <a:prstGeom prst="rect">
            <a:avLst/>
          </a:prstGeom>
        </p:spPr>
        <p:txBody>
          <a:bodyPr wrap="square" lIns="0" tIns="0" rIns="0" bIns="0" rtlCol="0" anchor="t">
            <a:spAutoFit/>
          </a:bodyPr>
          <a:lstStyle/>
          <a:p>
            <a:pPr marL="0" lvl="0" indent="0" algn="l">
              <a:lnSpc>
                <a:spcPts val="8095"/>
              </a:lnSpc>
            </a:pPr>
            <a:r>
              <a:rPr lang="en-US" sz="7292" dirty="0">
                <a:solidFill>
                  <a:srgbClr val="000000"/>
                </a:solidFill>
                <a:latin typeface="Gagalin" panose="020B0604020202020204" charset="0"/>
                <a:ea typeface="Yellowtail"/>
                <a:cs typeface="Yellowtail"/>
                <a:sym typeface="Yellowtail"/>
              </a:rPr>
              <a:t>DAX Calculation</a:t>
            </a:r>
          </a:p>
        </p:txBody>
      </p:sp>
      <p:sp>
        <p:nvSpPr>
          <p:cNvPr id="14" name="AutoShape 14"/>
          <p:cNvSpPr/>
          <p:nvPr/>
        </p:nvSpPr>
        <p:spPr>
          <a:xfrm>
            <a:off x="3238278" y="3692544"/>
            <a:ext cx="2777377" cy="0"/>
          </a:xfrm>
          <a:prstGeom prst="line">
            <a:avLst/>
          </a:prstGeom>
          <a:ln w="38100" cap="flat">
            <a:solidFill>
              <a:srgbClr val="000000"/>
            </a:solidFill>
            <a:prstDash val="solid"/>
            <a:headEnd type="none" w="sm" len="sm"/>
            <a:tailEnd type="none" w="sm" len="sm"/>
          </a:ln>
        </p:spPr>
        <p:txBody>
          <a:bodyPr/>
          <a:lstStyle/>
          <a:p>
            <a:endParaRPr lang="en-US" dirty="0"/>
          </a:p>
        </p:txBody>
      </p:sp>
      <p:sp>
        <p:nvSpPr>
          <p:cNvPr id="15" name="TextBox 15"/>
          <p:cNvSpPr txBox="1"/>
          <p:nvPr/>
        </p:nvSpPr>
        <p:spPr>
          <a:xfrm>
            <a:off x="4379341" y="3888328"/>
            <a:ext cx="608863" cy="284309"/>
          </a:xfrm>
          <a:prstGeom prst="rect">
            <a:avLst/>
          </a:prstGeom>
        </p:spPr>
        <p:txBody>
          <a:bodyPr lIns="0" tIns="0" rIns="0" bIns="0" rtlCol="0" anchor="t">
            <a:spAutoFit/>
          </a:bodyPr>
          <a:lstStyle/>
          <a:p>
            <a:pPr algn="ctr">
              <a:lnSpc>
                <a:spcPts val="2520"/>
              </a:lnSpc>
              <a:spcBef>
                <a:spcPct val="0"/>
              </a:spcBef>
            </a:pPr>
            <a:r>
              <a:rPr lang="en-US" sz="1800" b="1" dirty="0">
                <a:solidFill>
                  <a:srgbClr val="000000"/>
                </a:solidFill>
                <a:latin typeface="Decalotype Bold"/>
                <a:ea typeface="Decalotype Bold"/>
                <a:cs typeface="Decalotype Bold"/>
                <a:sym typeface="Decalotype Bold"/>
              </a:rPr>
              <a:t> </a:t>
            </a:r>
          </a:p>
        </p:txBody>
      </p:sp>
      <p:sp>
        <p:nvSpPr>
          <p:cNvPr id="18" name="TextBox 18"/>
          <p:cNvSpPr txBox="1"/>
          <p:nvPr/>
        </p:nvSpPr>
        <p:spPr>
          <a:xfrm>
            <a:off x="4121508" y="6197083"/>
            <a:ext cx="1108972" cy="284309"/>
          </a:xfrm>
          <a:prstGeom prst="rect">
            <a:avLst/>
          </a:prstGeom>
        </p:spPr>
        <p:txBody>
          <a:bodyPr wrap="square" lIns="0" tIns="0" rIns="0" bIns="0" rtlCol="0" anchor="t">
            <a:spAutoFit/>
          </a:bodyPr>
          <a:lstStyle/>
          <a:p>
            <a:pPr algn="ctr">
              <a:lnSpc>
                <a:spcPts val="2520"/>
              </a:lnSpc>
              <a:spcBef>
                <a:spcPct val="0"/>
              </a:spcBef>
            </a:pPr>
            <a:r>
              <a:rPr lang="en-US" sz="1800" b="1" dirty="0">
                <a:solidFill>
                  <a:srgbClr val="000000"/>
                </a:solidFill>
                <a:latin typeface="Decalotype Bold"/>
                <a:ea typeface="Decalotype Bold"/>
                <a:cs typeface="Decalotype Bold"/>
                <a:sym typeface="Decalotype Bold"/>
              </a:rPr>
              <a:t>Average</a:t>
            </a:r>
          </a:p>
        </p:txBody>
      </p:sp>
      <p:sp>
        <p:nvSpPr>
          <p:cNvPr id="20" name="TextBox 20"/>
          <p:cNvSpPr txBox="1"/>
          <p:nvPr/>
        </p:nvSpPr>
        <p:spPr>
          <a:xfrm>
            <a:off x="242326" y="6126685"/>
            <a:ext cx="3106908" cy="298864"/>
          </a:xfrm>
          <a:prstGeom prst="rect">
            <a:avLst/>
          </a:prstGeom>
        </p:spPr>
        <p:txBody>
          <a:bodyPr lIns="0" tIns="0" rIns="0" bIns="0" rtlCol="0" anchor="t">
            <a:spAutoFit/>
          </a:bodyPr>
          <a:lstStyle/>
          <a:p>
            <a:pPr marL="388620" lvl="1" indent="-194310" algn="l">
              <a:lnSpc>
                <a:spcPts val="2520"/>
              </a:lnSpc>
              <a:buFont typeface="Arial"/>
              <a:buChar char="•"/>
            </a:pPr>
            <a:r>
              <a:rPr lang="en-US" sz="2000" b="1" dirty="0">
                <a:solidFill>
                  <a:srgbClr val="000000"/>
                </a:solidFill>
                <a:latin typeface="Arial" panose="020B0604020202020204" pitchFamily="34" charset="0"/>
                <a:ea typeface="Decalotype Bold"/>
                <a:cs typeface="Arial" panose="020B0604020202020204" pitchFamily="34" charset="0"/>
                <a:sym typeface="Decalotype Bold"/>
              </a:rPr>
              <a:t>Average processing</a:t>
            </a:r>
          </a:p>
        </p:txBody>
      </p:sp>
      <p:sp>
        <p:nvSpPr>
          <p:cNvPr id="22" name="TextBox 22"/>
          <p:cNvSpPr txBox="1"/>
          <p:nvPr/>
        </p:nvSpPr>
        <p:spPr>
          <a:xfrm>
            <a:off x="381000" y="7892395"/>
            <a:ext cx="2490192" cy="327718"/>
          </a:xfrm>
          <a:prstGeom prst="rect">
            <a:avLst/>
          </a:prstGeom>
        </p:spPr>
        <p:txBody>
          <a:bodyPr lIns="0" tIns="0" rIns="0" bIns="0" rtlCol="0" anchor="t">
            <a:spAutoFit/>
          </a:bodyPr>
          <a:lstStyle/>
          <a:p>
            <a:pPr marL="431799" lvl="1" indent="-215899" algn="l">
              <a:lnSpc>
                <a:spcPts val="2799"/>
              </a:lnSpc>
              <a:buFont typeface="Arial"/>
              <a:buChar char="•"/>
            </a:pPr>
            <a:r>
              <a:rPr lang="en-US" sz="2000" b="1" dirty="0">
                <a:solidFill>
                  <a:srgbClr val="000000"/>
                </a:solidFill>
                <a:latin typeface="Arial" panose="020B0604020202020204" pitchFamily="34" charset="0"/>
                <a:ea typeface="Decalotype Bold"/>
                <a:cs typeface="Arial" panose="020B0604020202020204" pitchFamily="34" charset="0"/>
                <a:sym typeface="Decalotype Bold"/>
              </a:rPr>
              <a:t>Success Rate</a:t>
            </a:r>
          </a:p>
        </p:txBody>
      </p:sp>
      <p:pic>
        <p:nvPicPr>
          <p:cNvPr id="25" name="Picture 24">
            <a:extLst>
              <a:ext uri="{FF2B5EF4-FFF2-40B4-BE49-F238E27FC236}">
                <a16:creationId xmlns:a16="http://schemas.microsoft.com/office/drawing/2014/main" id="{B1764E18-D5B3-BFB1-FABF-7CD951DA3904}"/>
              </a:ext>
            </a:extLst>
          </p:cNvPr>
          <p:cNvPicPr>
            <a:picLocks noChangeAspect="1"/>
          </p:cNvPicPr>
          <p:nvPr/>
        </p:nvPicPr>
        <p:blipFill>
          <a:blip r:embed="rId5"/>
          <a:stretch>
            <a:fillRect/>
          </a:stretch>
        </p:blipFill>
        <p:spPr>
          <a:xfrm>
            <a:off x="6320359" y="2741002"/>
            <a:ext cx="9991725" cy="1514475"/>
          </a:xfrm>
          <a:prstGeom prst="rect">
            <a:avLst/>
          </a:prstGeom>
        </p:spPr>
      </p:pic>
      <p:sp>
        <p:nvSpPr>
          <p:cNvPr id="28" name="TextBox 27">
            <a:extLst>
              <a:ext uri="{FF2B5EF4-FFF2-40B4-BE49-F238E27FC236}">
                <a16:creationId xmlns:a16="http://schemas.microsoft.com/office/drawing/2014/main" id="{49F24D1D-55B3-DCCA-1AC6-4C57700784A2}"/>
              </a:ext>
            </a:extLst>
          </p:cNvPr>
          <p:cNvSpPr txBox="1"/>
          <p:nvPr/>
        </p:nvSpPr>
        <p:spPr>
          <a:xfrm>
            <a:off x="4205171" y="2685515"/>
            <a:ext cx="1289128" cy="400110"/>
          </a:xfrm>
          <a:prstGeom prst="rect">
            <a:avLst/>
          </a:prstGeom>
          <a:noFill/>
        </p:spPr>
        <p:txBody>
          <a:bodyPr wrap="square" rtlCol="0">
            <a:spAutoFit/>
          </a:bodyPr>
          <a:lstStyle/>
          <a:p>
            <a:r>
              <a:rPr lang="en-US" sz="2000" b="1" dirty="0"/>
              <a:t>Divide</a:t>
            </a:r>
            <a:endParaRPr lang="en-US" sz="2400" b="1" dirty="0"/>
          </a:p>
        </p:txBody>
      </p:sp>
      <p:sp>
        <p:nvSpPr>
          <p:cNvPr id="29" name="AutoShape 4">
            <a:extLst>
              <a:ext uri="{FF2B5EF4-FFF2-40B4-BE49-F238E27FC236}">
                <a16:creationId xmlns:a16="http://schemas.microsoft.com/office/drawing/2014/main" id="{A59781F1-C6C0-18A8-DECF-49DB9E5A5588}"/>
              </a:ext>
            </a:extLst>
          </p:cNvPr>
          <p:cNvSpPr>
            <a:spLocks noChangeAspect="1" noChangeArrowheads="1"/>
          </p:cNvSpPr>
          <p:nvPr/>
        </p:nvSpPr>
        <p:spPr bwMode="auto">
          <a:xfrm>
            <a:off x="8991600" y="49911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0" name="TextBox 29">
            <a:extLst>
              <a:ext uri="{FF2B5EF4-FFF2-40B4-BE49-F238E27FC236}">
                <a16:creationId xmlns:a16="http://schemas.microsoft.com/office/drawing/2014/main" id="{E84E6DE3-EEDD-2800-33E9-CD399DBA262D}"/>
              </a:ext>
            </a:extLst>
          </p:cNvPr>
          <p:cNvSpPr txBox="1"/>
          <p:nvPr/>
        </p:nvSpPr>
        <p:spPr>
          <a:xfrm>
            <a:off x="4271418" y="3237535"/>
            <a:ext cx="1289128" cy="400110"/>
          </a:xfrm>
          <a:prstGeom prst="rect">
            <a:avLst/>
          </a:prstGeom>
          <a:noFill/>
        </p:spPr>
        <p:txBody>
          <a:bodyPr wrap="square" rtlCol="0">
            <a:spAutoFit/>
          </a:bodyPr>
          <a:lstStyle/>
          <a:p>
            <a:r>
              <a:rPr lang="en-US" sz="2000" b="1" dirty="0"/>
              <a:t>Sum</a:t>
            </a:r>
            <a:endParaRPr lang="en-US" sz="2400" b="1" dirty="0"/>
          </a:p>
        </p:txBody>
      </p:sp>
      <p:sp>
        <p:nvSpPr>
          <p:cNvPr id="31" name="AutoShape 4">
            <a:extLst>
              <a:ext uri="{FF2B5EF4-FFF2-40B4-BE49-F238E27FC236}">
                <a16:creationId xmlns:a16="http://schemas.microsoft.com/office/drawing/2014/main" id="{2B72EE14-D649-C1E2-93D4-0C3976D0690F}"/>
              </a:ext>
            </a:extLst>
          </p:cNvPr>
          <p:cNvSpPr>
            <a:spLocks noChangeAspect="1" noChangeArrowheads="1"/>
          </p:cNvSpPr>
          <p:nvPr/>
        </p:nvSpPr>
        <p:spPr bwMode="auto">
          <a:xfrm>
            <a:off x="8920503" y="5524384"/>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2" name="TextBox 31">
            <a:extLst>
              <a:ext uri="{FF2B5EF4-FFF2-40B4-BE49-F238E27FC236}">
                <a16:creationId xmlns:a16="http://schemas.microsoft.com/office/drawing/2014/main" id="{31D5C9E0-EEDE-BD0D-0A4D-4D7EB11B7FB2}"/>
              </a:ext>
            </a:extLst>
          </p:cNvPr>
          <p:cNvSpPr txBox="1"/>
          <p:nvPr/>
        </p:nvSpPr>
        <p:spPr>
          <a:xfrm>
            <a:off x="4121508" y="3685290"/>
            <a:ext cx="1838325" cy="707886"/>
          </a:xfrm>
          <a:prstGeom prst="rect">
            <a:avLst/>
          </a:prstGeom>
          <a:noFill/>
        </p:spPr>
        <p:txBody>
          <a:bodyPr wrap="square" rtlCol="0">
            <a:spAutoFit/>
          </a:bodyPr>
          <a:lstStyle/>
          <a:p>
            <a:r>
              <a:rPr lang="en-US" sz="2000" b="1" dirty="0"/>
              <a:t>Calculate, Count</a:t>
            </a:r>
          </a:p>
        </p:txBody>
      </p:sp>
      <p:pic>
        <p:nvPicPr>
          <p:cNvPr id="35" name="Picture 34">
            <a:extLst>
              <a:ext uri="{FF2B5EF4-FFF2-40B4-BE49-F238E27FC236}">
                <a16:creationId xmlns:a16="http://schemas.microsoft.com/office/drawing/2014/main" id="{2CC8DCDD-3369-6DA5-F7B4-4C2605B654BA}"/>
              </a:ext>
            </a:extLst>
          </p:cNvPr>
          <p:cNvPicPr>
            <a:picLocks noChangeAspect="1"/>
          </p:cNvPicPr>
          <p:nvPr/>
        </p:nvPicPr>
        <p:blipFill>
          <a:blip r:embed="rId6"/>
          <a:stretch>
            <a:fillRect/>
          </a:stretch>
        </p:blipFill>
        <p:spPr>
          <a:xfrm>
            <a:off x="6324600" y="4781434"/>
            <a:ext cx="11420475" cy="742950"/>
          </a:xfrm>
          <a:prstGeom prst="rect">
            <a:avLst/>
          </a:prstGeom>
        </p:spPr>
      </p:pic>
      <p:sp>
        <p:nvSpPr>
          <p:cNvPr id="36" name="AutoShape 8">
            <a:extLst>
              <a:ext uri="{FF2B5EF4-FFF2-40B4-BE49-F238E27FC236}">
                <a16:creationId xmlns:a16="http://schemas.microsoft.com/office/drawing/2014/main" id="{14BB8D99-CC54-FADF-AE64-5A3730F1715E}"/>
              </a:ext>
            </a:extLst>
          </p:cNvPr>
          <p:cNvSpPr>
            <a:spLocks noChangeAspect="1" noChangeArrowheads="1"/>
          </p:cNvSpPr>
          <p:nvPr/>
        </p:nvSpPr>
        <p:spPr bwMode="auto">
          <a:xfrm>
            <a:off x="9144000" y="51435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7" name="TextBox 36">
            <a:extLst>
              <a:ext uri="{FF2B5EF4-FFF2-40B4-BE49-F238E27FC236}">
                <a16:creationId xmlns:a16="http://schemas.microsoft.com/office/drawing/2014/main" id="{F74EA1F1-10FE-02F6-4D03-E4EA92115C37}"/>
              </a:ext>
            </a:extLst>
          </p:cNvPr>
          <p:cNvSpPr txBox="1"/>
          <p:nvPr/>
        </p:nvSpPr>
        <p:spPr>
          <a:xfrm>
            <a:off x="4139452" y="4621232"/>
            <a:ext cx="1289128" cy="400110"/>
          </a:xfrm>
          <a:prstGeom prst="rect">
            <a:avLst/>
          </a:prstGeom>
          <a:noFill/>
        </p:spPr>
        <p:txBody>
          <a:bodyPr wrap="square" rtlCol="0">
            <a:spAutoFit/>
          </a:bodyPr>
          <a:lstStyle/>
          <a:p>
            <a:r>
              <a:rPr lang="en-US" sz="2000" b="1" dirty="0"/>
              <a:t>Divide</a:t>
            </a:r>
            <a:endParaRPr lang="en-US" sz="2400" b="1" dirty="0"/>
          </a:p>
        </p:txBody>
      </p:sp>
      <p:sp>
        <p:nvSpPr>
          <p:cNvPr id="38" name="AutoShape 8">
            <a:extLst>
              <a:ext uri="{FF2B5EF4-FFF2-40B4-BE49-F238E27FC236}">
                <a16:creationId xmlns:a16="http://schemas.microsoft.com/office/drawing/2014/main" id="{065103A3-9A69-0B40-47C6-645F2AF2F9FF}"/>
              </a:ext>
            </a:extLst>
          </p:cNvPr>
          <p:cNvSpPr>
            <a:spLocks noChangeAspect="1" noChangeArrowheads="1"/>
          </p:cNvSpPr>
          <p:nvPr/>
        </p:nvSpPr>
        <p:spPr bwMode="auto">
          <a:xfrm>
            <a:off x="9075438" y="6931545"/>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9" name="TextBox 38">
            <a:extLst>
              <a:ext uri="{FF2B5EF4-FFF2-40B4-BE49-F238E27FC236}">
                <a16:creationId xmlns:a16="http://schemas.microsoft.com/office/drawing/2014/main" id="{21FD8898-0D26-8E8F-3F38-4E35196E8C0C}"/>
              </a:ext>
            </a:extLst>
          </p:cNvPr>
          <p:cNvSpPr txBox="1"/>
          <p:nvPr/>
        </p:nvSpPr>
        <p:spPr>
          <a:xfrm>
            <a:off x="4091262" y="5201033"/>
            <a:ext cx="1289128" cy="400110"/>
          </a:xfrm>
          <a:prstGeom prst="rect">
            <a:avLst/>
          </a:prstGeom>
          <a:noFill/>
        </p:spPr>
        <p:txBody>
          <a:bodyPr wrap="square" rtlCol="0">
            <a:spAutoFit/>
          </a:bodyPr>
          <a:lstStyle/>
          <a:p>
            <a:r>
              <a:rPr lang="en-US" sz="2000" b="1" dirty="0"/>
              <a:t>Average</a:t>
            </a:r>
            <a:endParaRPr lang="en-US" sz="2400" b="1" dirty="0"/>
          </a:p>
        </p:txBody>
      </p:sp>
      <p:sp>
        <p:nvSpPr>
          <p:cNvPr id="40" name="AutoShape 8">
            <a:extLst>
              <a:ext uri="{FF2B5EF4-FFF2-40B4-BE49-F238E27FC236}">
                <a16:creationId xmlns:a16="http://schemas.microsoft.com/office/drawing/2014/main" id="{2657CCF0-4056-FB87-A5D7-E38741B5BF09}"/>
              </a:ext>
            </a:extLst>
          </p:cNvPr>
          <p:cNvSpPr>
            <a:spLocks noChangeAspect="1" noChangeArrowheads="1"/>
          </p:cNvSpPr>
          <p:nvPr/>
        </p:nvSpPr>
        <p:spPr bwMode="auto">
          <a:xfrm>
            <a:off x="9031973" y="7482836"/>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3" name="AutoShape 14">
            <a:extLst>
              <a:ext uri="{FF2B5EF4-FFF2-40B4-BE49-F238E27FC236}">
                <a16:creationId xmlns:a16="http://schemas.microsoft.com/office/drawing/2014/main" id="{FB750EF5-AB11-A140-134B-B53EF329AD46}"/>
              </a:ext>
            </a:extLst>
          </p:cNvPr>
          <p:cNvSpPr/>
          <p:nvPr/>
        </p:nvSpPr>
        <p:spPr>
          <a:xfrm>
            <a:off x="3220687" y="5143500"/>
            <a:ext cx="2777377" cy="0"/>
          </a:xfrm>
          <a:prstGeom prst="line">
            <a:avLst/>
          </a:prstGeom>
          <a:ln w="38100" cap="flat">
            <a:solidFill>
              <a:srgbClr val="000000"/>
            </a:solidFill>
            <a:prstDash val="solid"/>
            <a:headEnd type="none" w="sm" len="sm"/>
            <a:tailEnd type="none" w="sm" len="sm"/>
          </a:ln>
        </p:spPr>
        <p:txBody>
          <a:bodyPr/>
          <a:lstStyle/>
          <a:p>
            <a:endParaRPr lang="en-US" dirty="0"/>
          </a:p>
        </p:txBody>
      </p:sp>
      <p:pic>
        <p:nvPicPr>
          <p:cNvPr id="46" name="Picture 45">
            <a:extLst>
              <a:ext uri="{FF2B5EF4-FFF2-40B4-BE49-F238E27FC236}">
                <a16:creationId xmlns:a16="http://schemas.microsoft.com/office/drawing/2014/main" id="{98431201-8679-08B4-939E-D24B1D6EA729}"/>
              </a:ext>
            </a:extLst>
          </p:cNvPr>
          <p:cNvPicPr>
            <a:picLocks noChangeAspect="1"/>
          </p:cNvPicPr>
          <p:nvPr/>
        </p:nvPicPr>
        <p:blipFill>
          <a:blip r:embed="rId7"/>
          <a:stretch>
            <a:fillRect/>
          </a:stretch>
        </p:blipFill>
        <p:spPr>
          <a:xfrm>
            <a:off x="6324600" y="5954166"/>
            <a:ext cx="11020425" cy="819150"/>
          </a:xfrm>
          <a:prstGeom prst="rect">
            <a:avLst/>
          </a:prstGeom>
        </p:spPr>
      </p:pic>
      <p:pic>
        <p:nvPicPr>
          <p:cNvPr id="48" name="Picture 47">
            <a:extLst>
              <a:ext uri="{FF2B5EF4-FFF2-40B4-BE49-F238E27FC236}">
                <a16:creationId xmlns:a16="http://schemas.microsoft.com/office/drawing/2014/main" id="{7A91FA01-88B0-7E6B-BA16-B39925611329}"/>
              </a:ext>
            </a:extLst>
          </p:cNvPr>
          <p:cNvPicPr>
            <a:picLocks noChangeAspect="1"/>
          </p:cNvPicPr>
          <p:nvPr/>
        </p:nvPicPr>
        <p:blipFill>
          <a:blip r:embed="rId8"/>
          <a:stretch>
            <a:fillRect/>
          </a:stretch>
        </p:blipFill>
        <p:spPr>
          <a:xfrm>
            <a:off x="6320359" y="7045943"/>
            <a:ext cx="10753725" cy="2181225"/>
          </a:xfrm>
          <a:prstGeom prst="rect">
            <a:avLst/>
          </a:prstGeom>
        </p:spPr>
      </p:pic>
      <p:sp>
        <p:nvSpPr>
          <p:cNvPr id="49" name="AutoShape 6">
            <a:extLst>
              <a:ext uri="{FF2B5EF4-FFF2-40B4-BE49-F238E27FC236}">
                <a16:creationId xmlns:a16="http://schemas.microsoft.com/office/drawing/2014/main" id="{402638DF-61FC-225A-0A9D-12809291547B}"/>
              </a:ext>
            </a:extLst>
          </p:cNvPr>
          <p:cNvSpPr/>
          <p:nvPr/>
        </p:nvSpPr>
        <p:spPr>
          <a:xfrm>
            <a:off x="3182325" y="8496300"/>
            <a:ext cx="2777508" cy="0"/>
          </a:xfrm>
          <a:prstGeom prst="line">
            <a:avLst/>
          </a:prstGeom>
          <a:ln w="38100" cap="flat">
            <a:solidFill>
              <a:srgbClr val="000000"/>
            </a:solidFill>
            <a:prstDash val="solid"/>
            <a:headEnd type="none" w="sm" len="sm"/>
            <a:tailEnd type="none" w="sm" len="sm"/>
          </a:ln>
        </p:spPr>
        <p:txBody>
          <a:bodyPr/>
          <a:lstStyle/>
          <a:p>
            <a:endParaRPr lang="en-US"/>
          </a:p>
        </p:txBody>
      </p:sp>
      <p:sp>
        <p:nvSpPr>
          <p:cNvPr id="53" name="TextBox 52">
            <a:extLst>
              <a:ext uri="{FF2B5EF4-FFF2-40B4-BE49-F238E27FC236}">
                <a16:creationId xmlns:a16="http://schemas.microsoft.com/office/drawing/2014/main" id="{9BA7AB02-2959-6DF3-46A0-95D71AB2B6C5}"/>
              </a:ext>
            </a:extLst>
          </p:cNvPr>
          <p:cNvSpPr txBox="1"/>
          <p:nvPr/>
        </p:nvSpPr>
        <p:spPr>
          <a:xfrm>
            <a:off x="3930573" y="7317951"/>
            <a:ext cx="1652234" cy="707886"/>
          </a:xfrm>
          <a:prstGeom prst="rect">
            <a:avLst/>
          </a:prstGeom>
          <a:noFill/>
        </p:spPr>
        <p:txBody>
          <a:bodyPr wrap="square" rtlCol="0">
            <a:spAutoFit/>
          </a:bodyPr>
          <a:lstStyle/>
          <a:p>
            <a:r>
              <a:rPr lang="en-US" sz="2000" b="1" dirty="0"/>
              <a:t>Calculate, Count</a:t>
            </a:r>
          </a:p>
        </p:txBody>
      </p:sp>
      <p:sp>
        <p:nvSpPr>
          <p:cNvPr id="54" name="TextBox 53">
            <a:extLst>
              <a:ext uri="{FF2B5EF4-FFF2-40B4-BE49-F238E27FC236}">
                <a16:creationId xmlns:a16="http://schemas.microsoft.com/office/drawing/2014/main" id="{096BA9ED-E054-348D-7828-AA8D75E80925}"/>
              </a:ext>
            </a:extLst>
          </p:cNvPr>
          <p:cNvSpPr txBox="1"/>
          <p:nvPr/>
        </p:nvSpPr>
        <p:spPr>
          <a:xfrm>
            <a:off x="4205171" y="8731301"/>
            <a:ext cx="1838325" cy="400110"/>
          </a:xfrm>
          <a:prstGeom prst="rect">
            <a:avLst/>
          </a:prstGeom>
          <a:noFill/>
        </p:spPr>
        <p:txBody>
          <a:bodyPr wrap="square" rtlCol="0">
            <a:spAutoFit/>
          </a:bodyPr>
          <a:lstStyle/>
          <a:p>
            <a:r>
              <a:rPr lang="en-US" sz="2000" b="1" dirty="0"/>
              <a:t>Divide</a:t>
            </a:r>
          </a:p>
        </p:txBody>
      </p:sp>
      <p:sp>
        <p:nvSpPr>
          <p:cNvPr id="6" name="TextBox 5">
            <a:extLst>
              <a:ext uri="{FF2B5EF4-FFF2-40B4-BE49-F238E27FC236}">
                <a16:creationId xmlns:a16="http://schemas.microsoft.com/office/drawing/2014/main" id="{214661E6-056D-E8DF-460C-4D69E3DAD11F}"/>
              </a:ext>
            </a:extLst>
          </p:cNvPr>
          <p:cNvSpPr txBox="1"/>
          <p:nvPr/>
        </p:nvSpPr>
        <p:spPr>
          <a:xfrm>
            <a:off x="329110" y="4911211"/>
            <a:ext cx="2893354" cy="689932"/>
          </a:xfrm>
          <a:prstGeom prst="rect">
            <a:avLst/>
          </a:prstGeom>
          <a:noFill/>
        </p:spPr>
        <p:txBody>
          <a:bodyPr wrap="square" rtlCol="0">
            <a:spAutoFit/>
          </a:bodyPr>
          <a:lstStyle/>
          <a:p>
            <a:pPr marL="365759" marR="0" lvl="1" indent="-171450" algn="l" defTabSz="914400" rtl="0" eaLnBrk="1" fontAlgn="auto" latinLnBrk="0" hangingPunct="1">
              <a:lnSpc>
                <a:spcPts val="2519"/>
              </a:lnSpc>
              <a:spcBef>
                <a:spcPts val="0"/>
              </a:spcBef>
              <a:spcAft>
                <a:spcPts val="0"/>
              </a:spcAft>
              <a:buClrTx/>
              <a:buSzTx/>
              <a:buFont typeface="Arial" panose="020B0604020202020204" pitchFamily="34" charset="0"/>
              <a:buChar char="•"/>
              <a:tabLst/>
              <a:defRPr/>
            </a:pPr>
            <a:r>
              <a:rPr kumimoji="0" lang="en-US" sz="2400" b="1" i="0" u="none" strike="noStrike" kern="1200" cap="none" spc="0" normalizeH="0" baseline="0" noProof="0" dirty="0">
                <a:ln>
                  <a:noFill/>
                </a:ln>
                <a:solidFill>
                  <a:prstClr val="black"/>
                </a:solidFill>
                <a:effectLst/>
                <a:uLnTx/>
                <a:uFillTx/>
                <a:latin typeface="Calibri"/>
                <a:ea typeface="+mn-ea"/>
                <a:cs typeface="+mn-cs"/>
              </a:rPr>
              <a:t>Labor Efficiency</a:t>
            </a:r>
          </a:p>
          <a:p>
            <a:endParaRPr lang="en-US"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28"/>
                                        </p:tgtEl>
                                        <p:attrNameLst>
                                          <p:attrName>style.visibility</p:attrName>
                                        </p:attrNameLst>
                                      </p:cBhvr>
                                      <p:to>
                                        <p:strVal val="visible"/>
                                      </p:to>
                                    </p:set>
                                    <p:animEffect transition="in" filter="fade">
                                      <p:cBhvr>
                                        <p:cTn id="15" dur="500"/>
                                        <p:tgtEl>
                                          <p:spTgt spid="28"/>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00"/>
                                        <p:tgtEl>
                                          <p:spTgt spid="5"/>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30"/>
                                        </p:tgtEl>
                                        <p:attrNameLst>
                                          <p:attrName>style.visibility</p:attrName>
                                        </p:attrNameLst>
                                      </p:cBhvr>
                                      <p:to>
                                        <p:strVal val="visible"/>
                                      </p:to>
                                    </p:set>
                                    <p:animEffect transition="in" filter="fade">
                                      <p:cBhvr>
                                        <p:cTn id="21" dur="500"/>
                                        <p:tgtEl>
                                          <p:spTgt spid="30"/>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fade">
                                      <p:cBhvr>
                                        <p:cTn id="24" dur="500"/>
                                        <p:tgtEl>
                                          <p:spTgt spid="14"/>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500"/>
                                        <p:tgtEl>
                                          <p:spTgt spid="32"/>
                                        </p:tgtEl>
                                      </p:cBhvr>
                                    </p:animEffect>
                                  </p:childTnLst>
                                </p:cTn>
                              </p:par>
                              <p:par>
                                <p:cTn id="28" presetID="10" presetClass="entr" presetSubtype="0" fill="hold" nodeType="withEffect">
                                  <p:stCondLst>
                                    <p:cond delay="0"/>
                                  </p:stCondLst>
                                  <p:childTnLst>
                                    <p:set>
                                      <p:cBhvr>
                                        <p:cTn id="29" dur="1" fill="hold">
                                          <p:stCondLst>
                                            <p:cond delay="0"/>
                                          </p:stCondLst>
                                        </p:cTn>
                                        <p:tgtEl>
                                          <p:spTgt spid="25"/>
                                        </p:tgtEl>
                                        <p:attrNameLst>
                                          <p:attrName>style.visibility</p:attrName>
                                        </p:attrNameLst>
                                      </p:cBhvr>
                                      <p:to>
                                        <p:strVal val="visible"/>
                                      </p:to>
                                    </p:set>
                                    <p:animEffect transition="in" filter="fade">
                                      <p:cBhvr>
                                        <p:cTn id="30" dur="500"/>
                                        <p:tgtEl>
                                          <p:spTgt spid="25"/>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6"/>
                                        </p:tgtEl>
                                        <p:attrNameLst>
                                          <p:attrName>style.visibility</p:attrName>
                                        </p:attrNameLst>
                                      </p:cBhvr>
                                      <p:to>
                                        <p:strVal val="visible"/>
                                      </p:to>
                                    </p:set>
                                    <p:animEffect transition="in" filter="fade">
                                      <p:cBhvr>
                                        <p:cTn id="35" dur="500"/>
                                        <p:tgtEl>
                                          <p:spTgt spid="6"/>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43"/>
                                        </p:tgtEl>
                                        <p:attrNameLst>
                                          <p:attrName>style.visibility</p:attrName>
                                        </p:attrNameLst>
                                      </p:cBhvr>
                                      <p:to>
                                        <p:strVal val="visible"/>
                                      </p:to>
                                    </p:set>
                                    <p:animEffect transition="in" filter="fade">
                                      <p:cBhvr>
                                        <p:cTn id="38" dur="500"/>
                                        <p:tgtEl>
                                          <p:spTgt spid="43"/>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37"/>
                                        </p:tgtEl>
                                        <p:attrNameLst>
                                          <p:attrName>style.visibility</p:attrName>
                                        </p:attrNameLst>
                                      </p:cBhvr>
                                      <p:to>
                                        <p:strVal val="visible"/>
                                      </p:to>
                                    </p:set>
                                    <p:animEffect transition="in" filter="fade">
                                      <p:cBhvr>
                                        <p:cTn id="41" dur="500"/>
                                        <p:tgtEl>
                                          <p:spTgt spid="3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39"/>
                                        </p:tgtEl>
                                        <p:attrNameLst>
                                          <p:attrName>style.visibility</p:attrName>
                                        </p:attrNameLst>
                                      </p:cBhvr>
                                      <p:to>
                                        <p:strVal val="visible"/>
                                      </p:to>
                                    </p:set>
                                    <p:animEffect transition="in" filter="fade">
                                      <p:cBhvr>
                                        <p:cTn id="44" dur="500"/>
                                        <p:tgtEl>
                                          <p:spTgt spid="39"/>
                                        </p:tgtEl>
                                      </p:cBhvr>
                                    </p:animEffect>
                                  </p:childTnLst>
                                </p:cTn>
                              </p:par>
                              <p:par>
                                <p:cTn id="45" presetID="10" presetClass="entr" presetSubtype="0" fill="hold" nodeType="withEffect">
                                  <p:stCondLst>
                                    <p:cond delay="0"/>
                                  </p:stCondLst>
                                  <p:childTnLst>
                                    <p:set>
                                      <p:cBhvr>
                                        <p:cTn id="46" dur="1" fill="hold">
                                          <p:stCondLst>
                                            <p:cond delay="0"/>
                                          </p:stCondLst>
                                        </p:cTn>
                                        <p:tgtEl>
                                          <p:spTgt spid="35"/>
                                        </p:tgtEl>
                                        <p:attrNameLst>
                                          <p:attrName>style.visibility</p:attrName>
                                        </p:attrNameLst>
                                      </p:cBhvr>
                                      <p:to>
                                        <p:strVal val="visible"/>
                                      </p:to>
                                    </p:set>
                                    <p:animEffect transition="in" filter="fade">
                                      <p:cBhvr>
                                        <p:cTn id="47" dur="500"/>
                                        <p:tgtEl>
                                          <p:spTgt spid="35"/>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grpId="0" nodeType="clickEffect">
                                  <p:stCondLst>
                                    <p:cond delay="0"/>
                                  </p:stCondLst>
                                  <p:childTnLst>
                                    <p:set>
                                      <p:cBhvr>
                                        <p:cTn id="51" dur="1" fill="hold">
                                          <p:stCondLst>
                                            <p:cond delay="0"/>
                                          </p:stCondLst>
                                        </p:cTn>
                                        <p:tgtEl>
                                          <p:spTgt spid="20"/>
                                        </p:tgtEl>
                                        <p:attrNameLst>
                                          <p:attrName>style.visibility</p:attrName>
                                        </p:attrNameLst>
                                      </p:cBhvr>
                                      <p:to>
                                        <p:strVal val="visible"/>
                                      </p:to>
                                    </p:set>
                                    <p:animEffect transition="in" filter="fade">
                                      <p:cBhvr>
                                        <p:cTn id="52" dur="500"/>
                                        <p:tgtEl>
                                          <p:spTgt spid="20"/>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8"/>
                                        </p:tgtEl>
                                        <p:attrNameLst>
                                          <p:attrName>style.visibility</p:attrName>
                                        </p:attrNameLst>
                                      </p:cBhvr>
                                      <p:to>
                                        <p:strVal val="visible"/>
                                      </p:to>
                                    </p:set>
                                    <p:animEffect transition="in" filter="fade">
                                      <p:cBhvr>
                                        <p:cTn id="55" dur="500"/>
                                        <p:tgtEl>
                                          <p:spTgt spid="18"/>
                                        </p:tgtEl>
                                      </p:cBhvr>
                                    </p:animEffect>
                                  </p:childTnLst>
                                </p:cTn>
                              </p:par>
                              <p:par>
                                <p:cTn id="56" presetID="10" presetClass="entr" presetSubtype="0" fill="hold" nodeType="withEffect">
                                  <p:stCondLst>
                                    <p:cond delay="0"/>
                                  </p:stCondLst>
                                  <p:childTnLst>
                                    <p:set>
                                      <p:cBhvr>
                                        <p:cTn id="57" dur="1" fill="hold">
                                          <p:stCondLst>
                                            <p:cond delay="0"/>
                                          </p:stCondLst>
                                        </p:cTn>
                                        <p:tgtEl>
                                          <p:spTgt spid="46"/>
                                        </p:tgtEl>
                                        <p:attrNameLst>
                                          <p:attrName>style.visibility</p:attrName>
                                        </p:attrNameLst>
                                      </p:cBhvr>
                                      <p:to>
                                        <p:strVal val="visible"/>
                                      </p:to>
                                    </p:set>
                                    <p:animEffect transition="in" filter="fade">
                                      <p:cBhvr>
                                        <p:cTn id="58" dur="500"/>
                                        <p:tgtEl>
                                          <p:spTgt spid="46"/>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22"/>
                                        </p:tgtEl>
                                        <p:attrNameLst>
                                          <p:attrName>style.visibility</p:attrName>
                                        </p:attrNameLst>
                                      </p:cBhvr>
                                      <p:to>
                                        <p:strVal val="visible"/>
                                      </p:to>
                                    </p:set>
                                    <p:animEffect transition="in" filter="fade">
                                      <p:cBhvr>
                                        <p:cTn id="63" dur="500"/>
                                        <p:tgtEl>
                                          <p:spTgt spid="22"/>
                                        </p:tgtEl>
                                      </p:cBhvr>
                                    </p:animEffect>
                                  </p:childTnLst>
                                </p:cTn>
                              </p:par>
                              <p:par>
                                <p:cTn id="64" presetID="10" presetClass="entr" presetSubtype="0" fill="hold" nodeType="withEffect">
                                  <p:stCondLst>
                                    <p:cond delay="0"/>
                                  </p:stCondLst>
                                  <p:childTnLst>
                                    <p:set>
                                      <p:cBhvr>
                                        <p:cTn id="65" dur="1" fill="hold">
                                          <p:stCondLst>
                                            <p:cond delay="0"/>
                                          </p:stCondLst>
                                        </p:cTn>
                                        <p:tgtEl>
                                          <p:spTgt spid="48"/>
                                        </p:tgtEl>
                                        <p:attrNameLst>
                                          <p:attrName>style.visibility</p:attrName>
                                        </p:attrNameLst>
                                      </p:cBhvr>
                                      <p:to>
                                        <p:strVal val="visible"/>
                                      </p:to>
                                    </p:set>
                                    <p:animEffect transition="in" filter="fade">
                                      <p:cBhvr>
                                        <p:cTn id="66" dur="500"/>
                                        <p:tgtEl>
                                          <p:spTgt spid="48"/>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53"/>
                                        </p:tgtEl>
                                        <p:attrNameLst>
                                          <p:attrName>style.visibility</p:attrName>
                                        </p:attrNameLst>
                                      </p:cBhvr>
                                      <p:to>
                                        <p:strVal val="visible"/>
                                      </p:to>
                                    </p:set>
                                    <p:animEffect transition="in" filter="fade">
                                      <p:cBhvr>
                                        <p:cTn id="69" dur="500"/>
                                        <p:tgtEl>
                                          <p:spTgt spid="53"/>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54"/>
                                        </p:tgtEl>
                                        <p:attrNameLst>
                                          <p:attrName>style.visibility</p:attrName>
                                        </p:attrNameLst>
                                      </p:cBhvr>
                                      <p:to>
                                        <p:strVal val="visible"/>
                                      </p:to>
                                    </p:set>
                                    <p:animEffect transition="in" filter="fade">
                                      <p:cBhvr>
                                        <p:cTn id="72" dur="500"/>
                                        <p:tgtEl>
                                          <p:spTgt spid="54"/>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9"/>
                                        </p:tgtEl>
                                        <p:attrNameLst>
                                          <p:attrName>style.visibility</p:attrName>
                                        </p:attrNameLst>
                                      </p:cBhvr>
                                      <p:to>
                                        <p:strVal val="visible"/>
                                      </p:to>
                                    </p:set>
                                    <p:animEffect transition="in" filter="fade">
                                      <p:cBhvr>
                                        <p:cTn id="75" dur="50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5" grpId="0" animBg="1"/>
      <p:bldP spid="14" grpId="0" animBg="1"/>
      <p:bldP spid="18" grpId="0"/>
      <p:bldP spid="20" grpId="0"/>
      <p:bldP spid="22" grpId="0"/>
      <p:bldP spid="28" grpId="0"/>
      <p:bldP spid="30" grpId="0"/>
      <p:bldP spid="32" grpId="0"/>
      <p:bldP spid="37" grpId="0"/>
      <p:bldP spid="39" grpId="0"/>
      <p:bldP spid="43" grpId="0" animBg="1"/>
      <p:bldP spid="49" grpId="0" animBg="1"/>
      <p:bldP spid="53" grpId="0"/>
      <p:bldP spid="54" grpId="0"/>
      <p:bldP spid="6" grpId="0"/>
    </p:bld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E7E7E7"/>
        </a:solidFill>
        <a:effectLst/>
      </p:bgPr>
    </p:bg>
    <p:spTree>
      <p:nvGrpSpPr>
        <p:cNvPr id="1" name="">
          <a:extLst>
            <a:ext uri="{FF2B5EF4-FFF2-40B4-BE49-F238E27FC236}">
              <a16:creationId xmlns:a16="http://schemas.microsoft.com/office/drawing/2014/main" id="{692A298F-0C8C-6630-28EB-6C24A3DF1FC4}"/>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3F46EF56-CDE2-50A1-1EB6-C36302F02208}"/>
              </a:ext>
            </a:extLst>
          </p:cNvPr>
          <p:cNvSpPr txBox="1"/>
          <p:nvPr/>
        </p:nvSpPr>
        <p:spPr>
          <a:xfrm>
            <a:off x="175099" y="2157590"/>
            <a:ext cx="11331101" cy="5964197"/>
          </a:xfrm>
          <a:prstGeom prst="rect">
            <a:avLst/>
          </a:prstGeom>
        </p:spPr>
        <p:txBody>
          <a:bodyPr wrap="square" lIns="0" tIns="0" rIns="0" bIns="0" rtlCol="0" anchor="t">
            <a:spAutoFit/>
          </a:bodyPr>
          <a:lstStyle/>
          <a:p>
            <a:pPr algn="l">
              <a:lnSpc>
                <a:spcPts val="3639"/>
              </a:lnSpc>
              <a:spcBef>
                <a:spcPct val="0"/>
              </a:spcBef>
            </a:pPr>
            <a:r>
              <a:rPr lang="en-US" sz="3600" b="1" dirty="0">
                <a:solidFill>
                  <a:srgbClr val="000000"/>
                </a:solidFill>
                <a:latin typeface="Oswald Bold"/>
                <a:ea typeface="Oswald Bold"/>
                <a:cs typeface="Oswald Bold"/>
                <a:sym typeface="Oswald Bold"/>
              </a:rPr>
              <a:t>1. KPI Cards &amp; Gauges: </a:t>
            </a:r>
            <a:r>
              <a:rPr lang="en-US" sz="3600" dirty="0">
                <a:solidFill>
                  <a:srgbClr val="000000"/>
                </a:solidFill>
                <a:latin typeface="Oswald"/>
                <a:ea typeface="Oswald"/>
                <a:cs typeface="Oswald"/>
                <a:sym typeface="Oswald"/>
              </a:rPr>
              <a:t>Used to provide an instant "snapshot" of the most critical metrics, such as Total Energy Cost and Success Rate. They help managers spot deviations from targets in seconds.</a:t>
            </a:r>
          </a:p>
          <a:p>
            <a:pPr algn="l">
              <a:lnSpc>
                <a:spcPts val="3639"/>
              </a:lnSpc>
              <a:spcBef>
                <a:spcPct val="0"/>
              </a:spcBef>
            </a:pPr>
            <a:endParaRPr lang="ar-EG" sz="2599" dirty="0">
              <a:solidFill>
                <a:srgbClr val="000000"/>
              </a:solidFill>
              <a:latin typeface="Oswald"/>
              <a:ea typeface="Oswald"/>
              <a:cs typeface="Oswald"/>
              <a:sym typeface="Oswald"/>
            </a:endParaRPr>
          </a:p>
          <a:p>
            <a:pPr algn="l">
              <a:lnSpc>
                <a:spcPts val="3639"/>
              </a:lnSpc>
              <a:spcBef>
                <a:spcPct val="0"/>
              </a:spcBef>
            </a:pPr>
            <a:endParaRPr lang="ar-EG" sz="2599" dirty="0">
              <a:solidFill>
                <a:srgbClr val="000000"/>
              </a:solidFill>
              <a:latin typeface="Oswald"/>
              <a:ea typeface="Oswald"/>
              <a:cs typeface="Oswald"/>
              <a:sym typeface="Oswald"/>
            </a:endParaRPr>
          </a:p>
          <a:p>
            <a:pPr algn="l">
              <a:lnSpc>
                <a:spcPts val="3639"/>
              </a:lnSpc>
              <a:spcBef>
                <a:spcPct val="0"/>
              </a:spcBef>
            </a:pPr>
            <a:endParaRPr lang="ar-EG" sz="2599" dirty="0">
              <a:solidFill>
                <a:srgbClr val="000000"/>
              </a:solidFill>
              <a:latin typeface="Oswald"/>
              <a:ea typeface="Oswald"/>
              <a:cs typeface="Oswald"/>
              <a:sym typeface="Oswald"/>
            </a:endParaRPr>
          </a:p>
          <a:p>
            <a:pPr algn="l">
              <a:lnSpc>
                <a:spcPts val="3639"/>
              </a:lnSpc>
              <a:spcBef>
                <a:spcPct val="0"/>
              </a:spcBef>
            </a:pPr>
            <a:endParaRPr lang="ar-EG" sz="2599" dirty="0">
              <a:solidFill>
                <a:srgbClr val="000000"/>
              </a:solidFill>
              <a:latin typeface="Oswald"/>
              <a:ea typeface="Oswald"/>
              <a:cs typeface="Oswald"/>
              <a:sym typeface="Oswald"/>
            </a:endParaRPr>
          </a:p>
          <a:p>
            <a:pPr algn="l">
              <a:lnSpc>
                <a:spcPts val="3639"/>
              </a:lnSpc>
              <a:spcBef>
                <a:spcPct val="0"/>
              </a:spcBef>
            </a:pPr>
            <a:endParaRPr lang="en-US" sz="2599" dirty="0">
              <a:solidFill>
                <a:srgbClr val="000000"/>
              </a:solidFill>
              <a:latin typeface="Oswald"/>
              <a:ea typeface="Oswald"/>
              <a:cs typeface="Oswald"/>
              <a:sym typeface="Oswald"/>
            </a:endParaRPr>
          </a:p>
          <a:p>
            <a:pPr algn="l">
              <a:lnSpc>
                <a:spcPts val="3639"/>
              </a:lnSpc>
              <a:spcBef>
                <a:spcPct val="0"/>
              </a:spcBef>
            </a:pPr>
            <a:r>
              <a:rPr lang="en-US" sz="3600" b="1" dirty="0">
                <a:solidFill>
                  <a:srgbClr val="000000"/>
                </a:solidFill>
                <a:latin typeface="Oswald Bold"/>
                <a:ea typeface="Oswald Bold"/>
                <a:cs typeface="Oswald Bold"/>
                <a:sym typeface="Oswald Bold"/>
              </a:rPr>
              <a:t>2. Donut &amp; Pie Charts: </a:t>
            </a:r>
            <a:r>
              <a:rPr lang="en-US" sz="3600" dirty="0">
                <a:solidFill>
                  <a:srgbClr val="000000"/>
                </a:solidFill>
                <a:latin typeface="Oswald"/>
                <a:ea typeface="Oswald"/>
                <a:cs typeface="Oswald"/>
                <a:sym typeface="Oswald"/>
              </a:rPr>
              <a:t>Best for showing Part-to-Whole relationships. We use them to visualize the distribution of energy across different operations or to see the breakdown of downtime causes.</a:t>
            </a:r>
          </a:p>
          <a:p>
            <a:pPr algn="l">
              <a:lnSpc>
                <a:spcPts val="3639"/>
              </a:lnSpc>
              <a:spcBef>
                <a:spcPct val="0"/>
              </a:spcBef>
            </a:pPr>
            <a:endParaRPr lang="en-US" sz="2599" dirty="0">
              <a:solidFill>
                <a:srgbClr val="000000"/>
              </a:solidFill>
              <a:latin typeface="Oswald"/>
              <a:ea typeface="Oswald"/>
              <a:cs typeface="Oswald"/>
              <a:sym typeface="Oswald"/>
            </a:endParaRPr>
          </a:p>
        </p:txBody>
      </p:sp>
      <p:sp>
        <p:nvSpPr>
          <p:cNvPr id="3" name="Freeform 3">
            <a:extLst>
              <a:ext uri="{FF2B5EF4-FFF2-40B4-BE49-F238E27FC236}">
                <a16:creationId xmlns:a16="http://schemas.microsoft.com/office/drawing/2014/main" id="{EAF30C07-AD0A-609A-C45D-296105A334EB}"/>
              </a:ext>
            </a:extLst>
          </p:cNvPr>
          <p:cNvSpPr/>
          <p:nvPr/>
        </p:nvSpPr>
        <p:spPr>
          <a:xfrm>
            <a:off x="10972800" y="334499"/>
            <a:ext cx="1350498" cy="1270460"/>
          </a:xfrm>
          <a:custGeom>
            <a:avLst/>
            <a:gdLst/>
            <a:ahLst/>
            <a:cxnLst/>
            <a:rect l="l" t="t" r="r" b="b"/>
            <a:pathLst>
              <a:path w="1203778" h="1203778">
                <a:moveTo>
                  <a:pt x="0" y="0"/>
                </a:moveTo>
                <a:lnTo>
                  <a:pt x="1203779" y="0"/>
                </a:lnTo>
                <a:lnTo>
                  <a:pt x="1203779" y="1203779"/>
                </a:lnTo>
                <a:lnTo>
                  <a:pt x="0" y="1203779"/>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US"/>
          </a:p>
        </p:txBody>
      </p:sp>
      <p:sp>
        <p:nvSpPr>
          <p:cNvPr id="4" name="TextBox 4">
            <a:extLst>
              <a:ext uri="{FF2B5EF4-FFF2-40B4-BE49-F238E27FC236}">
                <a16:creationId xmlns:a16="http://schemas.microsoft.com/office/drawing/2014/main" id="{6D35774D-D5E5-4037-5764-170FBA8A7CB1}"/>
              </a:ext>
            </a:extLst>
          </p:cNvPr>
          <p:cNvSpPr txBox="1"/>
          <p:nvPr/>
        </p:nvSpPr>
        <p:spPr>
          <a:xfrm>
            <a:off x="5081603" y="445291"/>
            <a:ext cx="5988500" cy="1048877"/>
          </a:xfrm>
          <a:prstGeom prst="rect">
            <a:avLst/>
          </a:prstGeom>
        </p:spPr>
        <p:txBody>
          <a:bodyPr wrap="square" lIns="0" tIns="0" rIns="0" bIns="0" rtlCol="0" anchor="t">
            <a:spAutoFit/>
          </a:bodyPr>
          <a:lstStyle/>
          <a:p>
            <a:pPr algn="ctr">
              <a:lnSpc>
                <a:spcPts val="9190"/>
              </a:lnSpc>
              <a:spcBef>
                <a:spcPct val="0"/>
              </a:spcBef>
            </a:pPr>
            <a:r>
              <a:rPr lang="en-US" sz="6560" b="1" dirty="0">
                <a:solidFill>
                  <a:srgbClr val="000000"/>
                </a:solidFill>
                <a:latin typeface="Gagalin" panose="020B0604020202020204" charset="0"/>
                <a:ea typeface="Decalotype Bold"/>
                <a:cs typeface="Decalotype Bold"/>
                <a:sym typeface="Decalotype Bold"/>
              </a:rPr>
              <a:t>Sample Visual</a:t>
            </a:r>
          </a:p>
        </p:txBody>
      </p:sp>
      <p:sp>
        <p:nvSpPr>
          <p:cNvPr id="5" name="Freeform 5">
            <a:extLst>
              <a:ext uri="{FF2B5EF4-FFF2-40B4-BE49-F238E27FC236}">
                <a16:creationId xmlns:a16="http://schemas.microsoft.com/office/drawing/2014/main" id="{BC1C21C1-7323-5CC7-329C-5E54F9CFD4A8}"/>
              </a:ext>
            </a:extLst>
          </p:cNvPr>
          <p:cNvSpPr/>
          <p:nvPr/>
        </p:nvSpPr>
        <p:spPr>
          <a:xfrm>
            <a:off x="12945440" y="8013992"/>
            <a:ext cx="5769763" cy="2817267"/>
          </a:xfrm>
          <a:custGeom>
            <a:avLst/>
            <a:gdLst/>
            <a:ahLst/>
            <a:cxnLst/>
            <a:rect l="l" t="t" r="r" b="b"/>
            <a:pathLst>
              <a:path w="5769763" h="2817267">
                <a:moveTo>
                  <a:pt x="0" y="0"/>
                </a:moveTo>
                <a:lnTo>
                  <a:pt x="5769763" y="0"/>
                </a:lnTo>
                <a:lnTo>
                  <a:pt x="5769763" y="2817268"/>
                </a:lnTo>
                <a:lnTo>
                  <a:pt x="0" y="2817268"/>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a:p>
        </p:txBody>
      </p:sp>
      <p:sp>
        <p:nvSpPr>
          <p:cNvPr id="6" name="Freeform 6">
            <a:extLst>
              <a:ext uri="{FF2B5EF4-FFF2-40B4-BE49-F238E27FC236}">
                <a16:creationId xmlns:a16="http://schemas.microsoft.com/office/drawing/2014/main" id="{1D796799-4D41-12B8-4A85-6A478B0928D0}"/>
              </a:ext>
            </a:extLst>
          </p:cNvPr>
          <p:cNvSpPr/>
          <p:nvPr/>
        </p:nvSpPr>
        <p:spPr>
          <a:xfrm>
            <a:off x="-1721079" y="-2478272"/>
            <a:ext cx="4513046" cy="4504840"/>
          </a:xfrm>
          <a:custGeom>
            <a:avLst/>
            <a:gdLst/>
            <a:ahLst/>
            <a:cxnLst/>
            <a:rect l="l" t="t" r="r" b="b"/>
            <a:pathLst>
              <a:path w="4513046" h="4504840">
                <a:moveTo>
                  <a:pt x="0" y="0"/>
                </a:moveTo>
                <a:lnTo>
                  <a:pt x="4513046" y="0"/>
                </a:lnTo>
                <a:lnTo>
                  <a:pt x="4513046" y="4504841"/>
                </a:lnTo>
                <a:lnTo>
                  <a:pt x="0" y="4504841"/>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pic>
        <p:nvPicPr>
          <p:cNvPr id="8" name="Picture 7">
            <a:extLst>
              <a:ext uri="{FF2B5EF4-FFF2-40B4-BE49-F238E27FC236}">
                <a16:creationId xmlns:a16="http://schemas.microsoft.com/office/drawing/2014/main" id="{A0D3F5F9-ECB8-8F4A-C705-ADE7EA25166B}"/>
              </a:ext>
            </a:extLst>
          </p:cNvPr>
          <p:cNvPicPr>
            <a:picLocks noChangeAspect="1"/>
          </p:cNvPicPr>
          <p:nvPr/>
        </p:nvPicPr>
        <p:blipFill>
          <a:blip r:embed="rId5"/>
          <a:srcRect t="3626"/>
          <a:stretch>
            <a:fillRect/>
          </a:stretch>
        </p:blipFill>
        <p:spPr>
          <a:xfrm>
            <a:off x="11887200" y="5008324"/>
            <a:ext cx="4232793" cy="4157817"/>
          </a:xfrm>
          <a:prstGeom prst="rect">
            <a:avLst/>
          </a:prstGeom>
        </p:spPr>
      </p:pic>
      <p:pic>
        <p:nvPicPr>
          <p:cNvPr id="12" name="Picture 11">
            <a:extLst>
              <a:ext uri="{FF2B5EF4-FFF2-40B4-BE49-F238E27FC236}">
                <a16:creationId xmlns:a16="http://schemas.microsoft.com/office/drawing/2014/main" id="{E651B955-D0C1-951A-39CE-794F31008965}"/>
              </a:ext>
            </a:extLst>
          </p:cNvPr>
          <p:cNvPicPr>
            <a:picLocks noChangeAspect="1"/>
          </p:cNvPicPr>
          <p:nvPr/>
        </p:nvPicPr>
        <p:blipFill>
          <a:blip r:embed="rId6"/>
          <a:srcRect l="-172" r="73093"/>
          <a:stretch>
            <a:fillRect/>
          </a:stretch>
        </p:blipFill>
        <p:spPr>
          <a:xfrm>
            <a:off x="13182601" y="1866167"/>
            <a:ext cx="3581400" cy="2182682"/>
          </a:xfrm>
          <a:prstGeom prst="rect">
            <a:avLst/>
          </a:prstGeom>
        </p:spPr>
      </p:pic>
    </p:spTree>
    <p:extLst>
      <p:ext uri="{BB962C8B-B14F-4D97-AF65-F5344CB8AC3E}">
        <p14:creationId xmlns:p14="http://schemas.microsoft.com/office/powerpoint/2010/main" val="284104931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500"/>
                                        <p:tgtEl>
                                          <p:spTgt spid="3"/>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
                                            <p:txEl>
                                              <p:pRg st="0" end="0"/>
                                            </p:txEl>
                                          </p:spTgt>
                                        </p:tgtEl>
                                        <p:attrNameLst>
                                          <p:attrName>style.visibility</p:attrName>
                                        </p:attrNameLst>
                                      </p:cBhvr>
                                      <p:to>
                                        <p:strVal val="visible"/>
                                      </p:to>
                                    </p:set>
                                    <p:animEffect transition="in" filter="fade">
                                      <p:cBhvr>
                                        <p:cTn id="15" dur="500"/>
                                        <p:tgtEl>
                                          <p:spTgt spid="2">
                                            <p:txEl>
                                              <p:pRg st="0" end="0"/>
                                            </p:txEl>
                                          </p:spTgt>
                                        </p:tgtEl>
                                      </p:cBhvr>
                                    </p:animEffect>
                                  </p:childTnLst>
                                </p:cTn>
                              </p:par>
                              <p:par>
                                <p:cTn id="16" presetID="10" presetClass="entr" presetSubtype="0" fill="hold" nodeType="with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fade">
                                      <p:cBhvr>
                                        <p:cTn id="18" dur="500"/>
                                        <p:tgtEl>
                                          <p:spTgt spid="1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
                                            <p:txEl>
                                              <p:pRg st="6" end="6"/>
                                            </p:txEl>
                                          </p:spTgt>
                                        </p:tgtEl>
                                        <p:attrNameLst>
                                          <p:attrName>style.visibility</p:attrName>
                                        </p:attrNameLst>
                                      </p:cBhvr>
                                      <p:to>
                                        <p:strVal val="visible"/>
                                      </p:to>
                                    </p:set>
                                    <p:animEffect transition="in" filter="fade">
                                      <p:cBhvr>
                                        <p:cTn id="23" dur="500"/>
                                        <p:tgtEl>
                                          <p:spTgt spid="2">
                                            <p:txEl>
                                              <p:pRg st="6" end="6"/>
                                            </p:txEl>
                                          </p:spTgt>
                                        </p:tgtEl>
                                      </p:cBhvr>
                                    </p:animEffect>
                                  </p:childTnLst>
                                </p:cTn>
                              </p:par>
                              <p:par>
                                <p:cTn id="24" presetID="10" presetClass="entr" presetSubtype="0" fill="hold" nodeType="with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p:bld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E7E7E7"/>
        </a:solidFill>
        <a:effectLst/>
      </p:bgPr>
    </p:bg>
    <p:spTree>
      <p:nvGrpSpPr>
        <p:cNvPr id="1" name=""/>
        <p:cNvGrpSpPr/>
        <p:nvPr/>
      </p:nvGrpSpPr>
      <p:grpSpPr>
        <a:xfrm>
          <a:off x="0" y="0"/>
          <a:ext cx="0" cy="0"/>
          <a:chOff x="0" y="0"/>
          <a:chExt cx="0" cy="0"/>
        </a:xfrm>
      </p:grpSpPr>
      <p:sp>
        <p:nvSpPr>
          <p:cNvPr id="2" name="TextBox 2"/>
          <p:cNvSpPr txBox="1"/>
          <p:nvPr/>
        </p:nvSpPr>
        <p:spPr>
          <a:xfrm>
            <a:off x="175100" y="2157590"/>
            <a:ext cx="10895004" cy="8609152"/>
          </a:xfrm>
          <a:prstGeom prst="rect">
            <a:avLst/>
          </a:prstGeom>
        </p:spPr>
        <p:txBody>
          <a:bodyPr wrap="square" lIns="0" tIns="0" rIns="0" bIns="0" rtlCol="0" anchor="t">
            <a:spAutoFit/>
          </a:bodyPr>
          <a:lstStyle/>
          <a:p>
            <a:pPr algn="l">
              <a:lnSpc>
                <a:spcPts val="3639"/>
              </a:lnSpc>
              <a:spcBef>
                <a:spcPct val="0"/>
              </a:spcBef>
            </a:pPr>
            <a:r>
              <a:rPr lang="en-US" sz="3600" b="1" dirty="0">
                <a:solidFill>
                  <a:srgbClr val="000000"/>
                </a:solidFill>
                <a:latin typeface="Oswald Bold"/>
                <a:ea typeface="Oswald Bold"/>
                <a:cs typeface="Oswald Bold"/>
                <a:sym typeface="Oswald Bold"/>
              </a:rPr>
              <a:t>3. Area &amp; Line Charts:</a:t>
            </a:r>
            <a:r>
              <a:rPr lang="en-US" sz="3600" dirty="0">
                <a:solidFill>
                  <a:srgbClr val="000000"/>
                </a:solidFill>
                <a:latin typeface="Oswald"/>
                <a:ea typeface="Oswald"/>
                <a:cs typeface="Oswald"/>
                <a:sym typeface="Oswald"/>
              </a:rPr>
              <a:t> Ideal for tracking Trends over Time. These visuals highlight peak consumption periods and production fluctuations, helping in forecasting and demand planning.</a:t>
            </a:r>
            <a:endParaRPr lang="ar-EG" sz="3600" dirty="0">
              <a:solidFill>
                <a:srgbClr val="000000"/>
              </a:solidFill>
              <a:latin typeface="Oswald"/>
              <a:ea typeface="Oswald"/>
              <a:cs typeface="Oswald"/>
              <a:sym typeface="Oswald"/>
            </a:endParaRPr>
          </a:p>
          <a:p>
            <a:pPr algn="l">
              <a:lnSpc>
                <a:spcPts val="3639"/>
              </a:lnSpc>
              <a:spcBef>
                <a:spcPct val="0"/>
              </a:spcBef>
            </a:pPr>
            <a:endParaRPr lang="ar-EG" sz="2599" dirty="0">
              <a:solidFill>
                <a:srgbClr val="000000"/>
              </a:solidFill>
              <a:latin typeface="Oswald"/>
              <a:ea typeface="Oswald"/>
              <a:cs typeface="Oswald"/>
              <a:sym typeface="Oswald"/>
            </a:endParaRPr>
          </a:p>
          <a:p>
            <a:pPr algn="l">
              <a:lnSpc>
                <a:spcPts val="3639"/>
              </a:lnSpc>
              <a:spcBef>
                <a:spcPct val="0"/>
              </a:spcBef>
            </a:pPr>
            <a:endParaRPr lang="en-US" sz="2599" dirty="0">
              <a:solidFill>
                <a:srgbClr val="000000"/>
              </a:solidFill>
              <a:latin typeface="Oswald"/>
              <a:ea typeface="Oswald"/>
              <a:cs typeface="Oswald"/>
              <a:sym typeface="Oswald"/>
            </a:endParaRPr>
          </a:p>
          <a:p>
            <a:pPr algn="l">
              <a:lnSpc>
                <a:spcPts val="3639"/>
              </a:lnSpc>
              <a:spcBef>
                <a:spcPct val="0"/>
              </a:spcBef>
            </a:pPr>
            <a:endParaRPr lang="en-US" sz="2599" dirty="0">
              <a:solidFill>
                <a:srgbClr val="000000"/>
              </a:solidFill>
              <a:latin typeface="Oswald"/>
              <a:ea typeface="Oswald"/>
              <a:cs typeface="Oswald"/>
              <a:sym typeface="Oswald"/>
            </a:endParaRPr>
          </a:p>
          <a:p>
            <a:pPr algn="l">
              <a:lnSpc>
                <a:spcPts val="3639"/>
              </a:lnSpc>
              <a:spcBef>
                <a:spcPct val="0"/>
              </a:spcBef>
            </a:pPr>
            <a:r>
              <a:rPr lang="en-US" sz="3600" b="1" dirty="0">
                <a:solidFill>
                  <a:srgbClr val="000000"/>
                </a:solidFill>
                <a:latin typeface="Oswald Bold"/>
                <a:ea typeface="Oswald Bold"/>
                <a:cs typeface="Oswald Bold"/>
                <a:sym typeface="Oswald Bold"/>
              </a:rPr>
              <a:t>4. Clustered Column &amp; Bar Charts: </a:t>
            </a:r>
            <a:r>
              <a:rPr lang="en-US" sz="3600" dirty="0">
                <a:solidFill>
                  <a:srgbClr val="000000"/>
                </a:solidFill>
                <a:latin typeface="Oswald"/>
                <a:ea typeface="Oswald"/>
                <a:cs typeface="Oswald"/>
                <a:sym typeface="Oswald"/>
              </a:rPr>
              <a:t>Used for Comparative Analysis. They allow us to compare performance metrics—like success vs. failure rates—across different machines, shifts, or operators side-by-side.</a:t>
            </a:r>
          </a:p>
          <a:p>
            <a:pPr algn="l">
              <a:lnSpc>
                <a:spcPts val="3639"/>
              </a:lnSpc>
              <a:spcBef>
                <a:spcPct val="0"/>
              </a:spcBef>
            </a:pPr>
            <a:endParaRPr lang="ar-EG" sz="2599" dirty="0">
              <a:solidFill>
                <a:srgbClr val="000000"/>
              </a:solidFill>
              <a:latin typeface="Oswald"/>
              <a:ea typeface="Oswald"/>
              <a:cs typeface="Oswald"/>
              <a:sym typeface="Oswald"/>
            </a:endParaRPr>
          </a:p>
          <a:p>
            <a:pPr algn="l">
              <a:lnSpc>
                <a:spcPts val="3639"/>
              </a:lnSpc>
              <a:spcBef>
                <a:spcPct val="0"/>
              </a:spcBef>
            </a:pPr>
            <a:endParaRPr lang="ar-EG" sz="2599" dirty="0">
              <a:solidFill>
                <a:srgbClr val="000000"/>
              </a:solidFill>
              <a:latin typeface="Oswald"/>
              <a:ea typeface="Oswald"/>
              <a:cs typeface="Oswald"/>
              <a:sym typeface="Oswald"/>
            </a:endParaRPr>
          </a:p>
          <a:p>
            <a:pPr algn="l">
              <a:lnSpc>
                <a:spcPts val="3639"/>
              </a:lnSpc>
              <a:spcBef>
                <a:spcPct val="0"/>
              </a:spcBef>
            </a:pPr>
            <a:endParaRPr lang="en-US" sz="2599" dirty="0">
              <a:solidFill>
                <a:srgbClr val="000000"/>
              </a:solidFill>
              <a:latin typeface="Oswald"/>
              <a:ea typeface="Oswald"/>
              <a:cs typeface="Oswald"/>
              <a:sym typeface="Oswald"/>
            </a:endParaRPr>
          </a:p>
          <a:p>
            <a:pPr algn="l">
              <a:lnSpc>
                <a:spcPts val="3639"/>
              </a:lnSpc>
              <a:spcBef>
                <a:spcPct val="0"/>
              </a:spcBef>
            </a:pPr>
            <a:r>
              <a:rPr lang="en-US" sz="3600" b="1" dirty="0">
                <a:solidFill>
                  <a:srgbClr val="000000"/>
                </a:solidFill>
                <a:latin typeface="Oswald Bold"/>
                <a:ea typeface="Oswald Bold"/>
                <a:cs typeface="Oswald Bold"/>
                <a:sym typeface="Oswald Bold"/>
              </a:rPr>
              <a:t>5. Interactive Slicers &amp; Filters:</a:t>
            </a:r>
            <a:r>
              <a:rPr lang="en-US" sz="3600" dirty="0">
                <a:solidFill>
                  <a:srgbClr val="000000"/>
                </a:solidFill>
                <a:latin typeface="Oswald"/>
                <a:ea typeface="Oswald"/>
                <a:cs typeface="Oswald"/>
                <a:sym typeface="Oswald"/>
              </a:rPr>
              <a:t> The core of "Self-Service BI." They enable users to Drill Down into specific data points, such as filtering the entire report for a single Machine ID or a specific production date.</a:t>
            </a:r>
          </a:p>
          <a:p>
            <a:pPr algn="ctr">
              <a:lnSpc>
                <a:spcPts val="7139"/>
              </a:lnSpc>
              <a:spcBef>
                <a:spcPct val="0"/>
              </a:spcBef>
            </a:pPr>
            <a:endParaRPr lang="en-US" sz="2599" dirty="0">
              <a:solidFill>
                <a:srgbClr val="000000"/>
              </a:solidFill>
              <a:latin typeface="Oswald"/>
              <a:ea typeface="Oswald"/>
              <a:cs typeface="Oswald"/>
              <a:sym typeface="Oswald"/>
            </a:endParaRPr>
          </a:p>
        </p:txBody>
      </p:sp>
      <p:sp>
        <p:nvSpPr>
          <p:cNvPr id="3" name="Freeform 3"/>
          <p:cNvSpPr/>
          <p:nvPr/>
        </p:nvSpPr>
        <p:spPr>
          <a:xfrm>
            <a:off x="10972800" y="334499"/>
            <a:ext cx="1350498" cy="1270460"/>
          </a:xfrm>
          <a:custGeom>
            <a:avLst/>
            <a:gdLst/>
            <a:ahLst/>
            <a:cxnLst/>
            <a:rect l="l" t="t" r="r" b="b"/>
            <a:pathLst>
              <a:path w="1203778" h="1203778">
                <a:moveTo>
                  <a:pt x="0" y="0"/>
                </a:moveTo>
                <a:lnTo>
                  <a:pt x="1203779" y="0"/>
                </a:lnTo>
                <a:lnTo>
                  <a:pt x="1203779" y="1203779"/>
                </a:lnTo>
                <a:lnTo>
                  <a:pt x="0" y="1203779"/>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US"/>
          </a:p>
        </p:txBody>
      </p:sp>
      <p:sp>
        <p:nvSpPr>
          <p:cNvPr id="4" name="TextBox 4"/>
          <p:cNvSpPr txBox="1"/>
          <p:nvPr/>
        </p:nvSpPr>
        <p:spPr>
          <a:xfrm>
            <a:off x="5081603" y="445291"/>
            <a:ext cx="5988500" cy="1048877"/>
          </a:xfrm>
          <a:prstGeom prst="rect">
            <a:avLst/>
          </a:prstGeom>
        </p:spPr>
        <p:txBody>
          <a:bodyPr wrap="square" lIns="0" tIns="0" rIns="0" bIns="0" rtlCol="0" anchor="t">
            <a:spAutoFit/>
          </a:bodyPr>
          <a:lstStyle/>
          <a:p>
            <a:pPr algn="ctr">
              <a:lnSpc>
                <a:spcPts val="9190"/>
              </a:lnSpc>
              <a:spcBef>
                <a:spcPct val="0"/>
              </a:spcBef>
            </a:pPr>
            <a:r>
              <a:rPr lang="en-US" sz="6560" b="1" dirty="0">
                <a:solidFill>
                  <a:srgbClr val="000000"/>
                </a:solidFill>
                <a:latin typeface="Gagalin" panose="020B0604020202020204" charset="0"/>
                <a:ea typeface="Decalotype Bold"/>
                <a:cs typeface="Decalotype Bold"/>
                <a:sym typeface="Decalotype Bold"/>
              </a:rPr>
              <a:t>Sample Visual</a:t>
            </a:r>
          </a:p>
        </p:txBody>
      </p:sp>
      <p:sp>
        <p:nvSpPr>
          <p:cNvPr id="5" name="Freeform 5"/>
          <p:cNvSpPr/>
          <p:nvPr/>
        </p:nvSpPr>
        <p:spPr>
          <a:xfrm>
            <a:off x="12945440" y="8013992"/>
            <a:ext cx="5769763" cy="2817267"/>
          </a:xfrm>
          <a:custGeom>
            <a:avLst/>
            <a:gdLst/>
            <a:ahLst/>
            <a:cxnLst/>
            <a:rect l="l" t="t" r="r" b="b"/>
            <a:pathLst>
              <a:path w="5769763" h="2817267">
                <a:moveTo>
                  <a:pt x="0" y="0"/>
                </a:moveTo>
                <a:lnTo>
                  <a:pt x="5769763" y="0"/>
                </a:lnTo>
                <a:lnTo>
                  <a:pt x="5769763" y="2817268"/>
                </a:lnTo>
                <a:lnTo>
                  <a:pt x="0" y="2817268"/>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a:p>
        </p:txBody>
      </p:sp>
      <p:sp>
        <p:nvSpPr>
          <p:cNvPr id="6" name="Freeform 6"/>
          <p:cNvSpPr/>
          <p:nvPr/>
        </p:nvSpPr>
        <p:spPr>
          <a:xfrm>
            <a:off x="-1721079" y="-2478272"/>
            <a:ext cx="4513046" cy="4504840"/>
          </a:xfrm>
          <a:custGeom>
            <a:avLst/>
            <a:gdLst/>
            <a:ahLst/>
            <a:cxnLst/>
            <a:rect l="l" t="t" r="r" b="b"/>
            <a:pathLst>
              <a:path w="4513046" h="4504840">
                <a:moveTo>
                  <a:pt x="0" y="0"/>
                </a:moveTo>
                <a:lnTo>
                  <a:pt x="4513046" y="0"/>
                </a:lnTo>
                <a:lnTo>
                  <a:pt x="4513046" y="4504841"/>
                </a:lnTo>
                <a:lnTo>
                  <a:pt x="0" y="4504841"/>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pic>
        <p:nvPicPr>
          <p:cNvPr id="8" name="Picture 7">
            <a:extLst>
              <a:ext uri="{FF2B5EF4-FFF2-40B4-BE49-F238E27FC236}">
                <a16:creationId xmlns:a16="http://schemas.microsoft.com/office/drawing/2014/main" id="{C6EE9934-75F4-CD91-0896-24ADC5FD0CF6}"/>
              </a:ext>
            </a:extLst>
          </p:cNvPr>
          <p:cNvPicPr>
            <a:picLocks noChangeAspect="1"/>
          </p:cNvPicPr>
          <p:nvPr/>
        </p:nvPicPr>
        <p:blipFill>
          <a:blip r:embed="rId5"/>
          <a:stretch>
            <a:fillRect/>
          </a:stretch>
        </p:blipFill>
        <p:spPr>
          <a:xfrm>
            <a:off x="11734800" y="8267700"/>
            <a:ext cx="5486400" cy="1334022"/>
          </a:xfrm>
          <a:prstGeom prst="rect">
            <a:avLst/>
          </a:prstGeom>
        </p:spPr>
      </p:pic>
      <p:pic>
        <p:nvPicPr>
          <p:cNvPr id="10" name="Picture 9">
            <a:extLst>
              <a:ext uri="{FF2B5EF4-FFF2-40B4-BE49-F238E27FC236}">
                <a16:creationId xmlns:a16="http://schemas.microsoft.com/office/drawing/2014/main" id="{672DF7BC-8CB3-08E4-C54B-1010146D3ADB}"/>
              </a:ext>
            </a:extLst>
          </p:cNvPr>
          <p:cNvPicPr>
            <a:picLocks noChangeAspect="1"/>
          </p:cNvPicPr>
          <p:nvPr/>
        </p:nvPicPr>
        <p:blipFill>
          <a:blip r:embed="rId6"/>
          <a:stretch>
            <a:fillRect/>
          </a:stretch>
        </p:blipFill>
        <p:spPr>
          <a:xfrm>
            <a:off x="11886549" y="4656858"/>
            <a:ext cx="4166935" cy="2817267"/>
          </a:xfrm>
          <a:prstGeom prst="rect">
            <a:avLst/>
          </a:prstGeom>
        </p:spPr>
      </p:pic>
      <p:pic>
        <p:nvPicPr>
          <p:cNvPr id="12" name="Picture 11">
            <a:extLst>
              <a:ext uri="{FF2B5EF4-FFF2-40B4-BE49-F238E27FC236}">
                <a16:creationId xmlns:a16="http://schemas.microsoft.com/office/drawing/2014/main" id="{95D39E4D-1D55-3619-A5A3-33E663D2CE6E}"/>
              </a:ext>
            </a:extLst>
          </p:cNvPr>
          <p:cNvPicPr>
            <a:picLocks noChangeAspect="1"/>
          </p:cNvPicPr>
          <p:nvPr/>
        </p:nvPicPr>
        <p:blipFill>
          <a:blip r:embed="rId7"/>
          <a:stretch>
            <a:fillRect/>
          </a:stretch>
        </p:blipFill>
        <p:spPr>
          <a:xfrm>
            <a:off x="13106400" y="1604959"/>
            <a:ext cx="4114800" cy="266351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500"/>
                                        <p:tgtEl>
                                          <p:spTgt spid="3"/>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
                                            <p:txEl>
                                              <p:pRg st="0" end="0"/>
                                            </p:txEl>
                                          </p:spTgt>
                                        </p:tgtEl>
                                        <p:attrNameLst>
                                          <p:attrName>style.visibility</p:attrName>
                                        </p:attrNameLst>
                                      </p:cBhvr>
                                      <p:to>
                                        <p:strVal val="visible"/>
                                      </p:to>
                                    </p:set>
                                    <p:animEffect transition="in" filter="fade">
                                      <p:cBhvr>
                                        <p:cTn id="15" dur="500"/>
                                        <p:tgtEl>
                                          <p:spTgt spid="2">
                                            <p:txEl>
                                              <p:pRg st="0" end="0"/>
                                            </p:txEl>
                                          </p:spTgt>
                                        </p:tgtEl>
                                      </p:cBhvr>
                                    </p:animEffect>
                                  </p:childTnLst>
                                </p:cTn>
                              </p:par>
                              <p:par>
                                <p:cTn id="16" presetID="10" presetClass="entr" presetSubtype="0" fill="hold" nodeType="with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fade">
                                      <p:cBhvr>
                                        <p:cTn id="18" dur="500"/>
                                        <p:tgtEl>
                                          <p:spTgt spid="1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animEffect transition="in" filter="fade">
                                      <p:cBhvr>
                                        <p:cTn id="23" dur="500"/>
                                        <p:tgtEl>
                                          <p:spTgt spid="2">
                                            <p:txEl>
                                              <p:pRg st="4" end="4"/>
                                            </p:txEl>
                                          </p:spTgt>
                                        </p:tgtEl>
                                      </p:cBhvr>
                                    </p:animEffect>
                                  </p:childTnLst>
                                </p:cTn>
                              </p:par>
                              <p:par>
                                <p:cTn id="24" presetID="10" presetClass="entr" presetSubtype="0" fill="hold" nodeType="with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500"/>
                                        <p:tgtEl>
                                          <p:spTgt spid="10"/>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
                                            <p:txEl>
                                              <p:pRg st="8" end="8"/>
                                            </p:txEl>
                                          </p:spTgt>
                                        </p:tgtEl>
                                        <p:attrNameLst>
                                          <p:attrName>style.visibility</p:attrName>
                                        </p:attrNameLst>
                                      </p:cBhvr>
                                      <p:to>
                                        <p:strVal val="visible"/>
                                      </p:to>
                                    </p:set>
                                    <p:animEffect transition="in" filter="fade">
                                      <p:cBhvr>
                                        <p:cTn id="31" dur="500"/>
                                        <p:tgtEl>
                                          <p:spTgt spid="2">
                                            <p:txEl>
                                              <p:pRg st="8" end="8"/>
                                            </p:txEl>
                                          </p:spTgt>
                                        </p:tgtEl>
                                      </p:cBhvr>
                                    </p:animEffect>
                                  </p:childTnLst>
                                </p:cTn>
                              </p:par>
                              <p:par>
                                <p:cTn id="32" presetID="10" presetClass="entr" presetSubtype="0" fill="hold" nodeType="withEffect">
                                  <p:stCondLst>
                                    <p:cond delay="0"/>
                                  </p:stCondLst>
                                  <p:childTnLst>
                                    <p:set>
                                      <p:cBhvr>
                                        <p:cTn id="33" dur="1" fill="hold">
                                          <p:stCondLst>
                                            <p:cond delay="0"/>
                                          </p:stCondLst>
                                        </p:cTn>
                                        <p:tgtEl>
                                          <p:spTgt spid="8"/>
                                        </p:tgtEl>
                                        <p:attrNameLst>
                                          <p:attrName>style.visibility</p:attrName>
                                        </p:attrNameLst>
                                      </p:cBhvr>
                                      <p:to>
                                        <p:strVal val="visible"/>
                                      </p:to>
                                    </p:set>
                                    <p:animEffect transition="in" filter="fade">
                                      <p:cBhvr>
                                        <p:cTn id="34"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t="-15111" b="-15111"/>
            </a:stretch>
          </a:blipFill>
        </p:spPr>
        <p:txBody>
          <a:bodyPr/>
          <a:lstStyle/>
          <a:p>
            <a:endParaRPr lang="en-US" dirty="0"/>
          </a:p>
        </p:txBody>
      </p:sp>
      <p:sp>
        <p:nvSpPr>
          <p:cNvPr id="3" name="TextBox 3"/>
          <p:cNvSpPr txBox="1"/>
          <p:nvPr/>
        </p:nvSpPr>
        <p:spPr>
          <a:xfrm>
            <a:off x="1752600" y="2167285"/>
            <a:ext cx="14782800" cy="3509615"/>
          </a:xfrm>
          <a:prstGeom prst="rect">
            <a:avLst/>
          </a:prstGeom>
        </p:spPr>
        <p:txBody>
          <a:bodyPr wrap="square" lIns="0" tIns="0" rIns="0" bIns="0" rtlCol="0" anchor="t">
            <a:spAutoFit/>
          </a:bodyPr>
          <a:lstStyle/>
          <a:p>
            <a:pPr algn="ctr">
              <a:lnSpc>
                <a:spcPts val="33485"/>
              </a:lnSpc>
              <a:spcBef>
                <a:spcPct val="0"/>
              </a:spcBef>
            </a:pPr>
            <a:r>
              <a:rPr lang="en-US" sz="11500" dirty="0">
                <a:solidFill>
                  <a:srgbClr val="000000"/>
                </a:solidFill>
                <a:latin typeface="Gagalin"/>
                <a:ea typeface="Gagalin"/>
                <a:cs typeface="Gagalin"/>
                <a:sym typeface="Gagalin"/>
              </a:rPr>
              <a:t>Reports &amp; Dashboard</a:t>
            </a:r>
          </a:p>
        </p:txBody>
      </p:sp>
      <p:sp>
        <p:nvSpPr>
          <p:cNvPr id="4" name="Freeform 4"/>
          <p:cNvSpPr/>
          <p:nvPr/>
        </p:nvSpPr>
        <p:spPr>
          <a:xfrm>
            <a:off x="1600200" y="5600700"/>
            <a:ext cx="1379029" cy="1447800"/>
          </a:xfrm>
          <a:custGeom>
            <a:avLst/>
            <a:gdLst/>
            <a:ahLst/>
            <a:cxnLst/>
            <a:rect l="l" t="t" r="r" b="b"/>
            <a:pathLst>
              <a:path w="3227021" h="3387949">
                <a:moveTo>
                  <a:pt x="0" y="0"/>
                </a:moveTo>
                <a:lnTo>
                  <a:pt x="3227021" y="0"/>
                </a:lnTo>
                <a:lnTo>
                  <a:pt x="3227021" y="3387948"/>
                </a:lnTo>
                <a:lnTo>
                  <a:pt x="0" y="3387948"/>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dirty="0"/>
          </a:p>
        </p:txBody>
      </p:sp>
      <p:sp>
        <p:nvSpPr>
          <p:cNvPr id="5" name="Freeform 5"/>
          <p:cNvSpPr/>
          <p:nvPr/>
        </p:nvSpPr>
        <p:spPr>
          <a:xfrm>
            <a:off x="-1721079" y="-2478272"/>
            <a:ext cx="5214119" cy="5204638"/>
          </a:xfrm>
          <a:custGeom>
            <a:avLst/>
            <a:gdLst/>
            <a:ahLst/>
            <a:cxnLst/>
            <a:rect l="l" t="t" r="r" b="b"/>
            <a:pathLst>
              <a:path w="5214119" h="5204638">
                <a:moveTo>
                  <a:pt x="0" y="0"/>
                </a:moveTo>
                <a:lnTo>
                  <a:pt x="5214119" y="0"/>
                </a:lnTo>
                <a:lnTo>
                  <a:pt x="5214119" y="5204639"/>
                </a:lnTo>
                <a:lnTo>
                  <a:pt x="0" y="5204639"/>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6" name="Freeform 6"/>
          <p:cNvSpPr/>
          <p:nvPr/>
        </p:nvSpPr>
        <p:spPr>
          <a:xfrm>
            <a:off x="12945440" y="7849666"/>
            <a:ext cx="5769763" cy="2817267"/>
          </a:xfrm>
          <a:custGeom>
            <a:avLst/>
            <a:gdLst/>
            <a:ahLst/>
            <a:cxnLst/>
            <a:rect l="l" t="t" r="r" b="b"/>
            <a:pathLst>
              <a:path w="5769763" h="2817267">
                <a:moveTo>
                  <a:pt x="0" y="0"/>
                </a:moveTo>
                <a:lnTo>
                  <a:pt x="5769763" y="0"/>
                </a:lnTo>
                <a:lnTo>
                  <a:pt x="5769763" y="2817268"/>
                </a:lnTo>
                <a:lnTo>
                  <a:pt x="0" y="2817268"/>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US"/>
          </a:p>
        </p:txBody>
      </p:sp>
      <p:sp>
        <p:nvSpPr>
          <p:cNvPr id="8" name="Freeform 4">
            <a:extLst>
              <a:ext uri="{FF2B5EF4-FFF2-40B4-BE49-F238E27FC236}">
                <a16:creationId xmlns:a16="http://schemas.microsoft.com/office/drawing/2014/main" id="{08F13CBD-225D-6155-2C1F-B4ED09E56110}"/>
              </a:ext>
            </a:extLst>
          </p:cNvPr>
          <p:cNvSpPr/>
          <p:nvPr/>
        </p:nvSpPr>
        <p:spPr>
          <a:xfrm>
            <a:off x="15316200" y="2650166"/>
            <a:ext cx="1350334" cy="1350334"/>
          </a:xfrm>
          <a:custGeom>
            <a:avLst/>
            <a:gdLst/>
            <a:ahLst/>
            <a:cxnLst/>
            <a:rect l="l" t="t" r="r" b="b"/>
            <a:pathLst>
              <a:path w="3067600" h="3067600">
                <a:moveTo>
                  <a:pt x="0" y="0"/>
                </a:moveTo>
                <a:lnTo>
                  <a:pt x="3067600" y="0"/>
                </a:lnTo>
                <a:lnTo>
                  <a:pt x="3067600" y="3067600"/>
                </a:lnTo>
                <a:lnTo>
                  <a:pt x="0" y="3067600"/>
                </a:lnTo>
                <a:lnTo>
                  <a:pt x="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216BB327-7AA9-4EC5-815F-9D8E6BC53E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89309" y="172789"/>
            <a:ext cx="17909382" cy="9941421"/>
          </a:xfrm>
          <a:prstGeom prst="rect">
            <a:avLst/>
          </a:prstGeom>
          <a:noFill/>
          <a:ln w="127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we="http://schemas.microsoft.com/office/webextensions/webextension/2010/11" xmlns:pca="http://schemas.microsoft.com/office/powerpoint/2013/contentapp" Requires="we pca">
          <p:graphicFrame>
            <p:nvGraphicFramePr>
              <p:cNvPr id="10" name="Add-in 9">
                <a:extLst>
                  <a:ext uri="{FF2B5EF4-FFF2-40B4-BE49-F238E27FC236}">
                    <a16:creationId xmlns:a16="http://schemas.microsoft.com/office/drawing/2014/main" id="{BB3449A6-393C-0B00-2CF8-409BE6122897}"/>
                  </a:ext>
                </a:extLst>
              </p:cNvPr>
              <p:cNvGraphicFramePr>
                <a:graphicFrameLocks noGrp="1"/>
              </p:cNvGraphicFramePr>
              <p:nvPr>
                <p:extLst>
                  <p:ext uri="{D42A27DB-BD31-4B8C-83A1-F6EECF244321}">
                    <p14:modId xmlns:p14="http://schemas.microsoft.com/office/powerpoint/2010/main" val="1709560649"/>
                  </p:ext>
                </p:extLst>
              </p:nvPr>
            </p:nvGraphicFramePr>
            <p:xfrm>
              <a:off x="1" y="0"/>
              <a:ext cx="18288000" cy="10287000"/>
            </p:xfrm>
            <a:graphic>
              <a:graphicData uri="http://schemas.microsoft.com/office/webextensions/webextension/2010/11">
                <we:webextensionref xmlns:we="http://schemas.microsoft.com/office/webextensions/webextension/2010/11" xmlns:r="http://schemas.openxmlformats.org/officeDocument/2006/relationships" r:id="rId3"/>
              </a:graphicData>
            </a:graphic>
          </p:graphicFrame>
        </mc:Choice>
        <mc:Fallback>
          <p:pic>
            <p:nvPicPr>
              <p:cNvPr id="10" name="Add-in 9">
                <a:extLst>
                  <a:ext uri="{FF2B5EF4-FFF2-40B4-BE49-F238E27FC236}">
                    <a16:creationId xmlns:a16="http://schemas.microsoft.com/office/drawing/2014/main" id="{BB3449A6-393C-0B00-2CF8-409BE6122897}"/>
                  </a:ext>
                </a:extLst>
              </p:cNvPr>
              <p:cNvPicPr>
                <a:picLocks noGrp="1" noRot="1" noChangeAspect="1" noMove="1" noResize="1" noEditPoints="1" noAdjustHandles="1" noChangeArrowheads="1" noChangeShapeType="1"/>
              </p:cNvPicPr>
              <p:nvPr/>
            </p:nvPicPr>
            <p:blipFill>
              <a:blip r:embed="rId4"/>
              <a:stretch>
                <a:fillRect/>
              </a:stretch>
            </p:blipFill>
            <p:spPr>
              <a:xfrm>
                <a:off x="1" y="0"/>
                <a:ext cx="18288000" cy="10287000"/>
              </a:xfrm>
              <a:prstGeom prst="rect">
                <a:avLst/>
              </a:prstGeom>
            </p:spPr>
          </p:pic>
        </mc:Fallback>
      </mc:AlternateContent>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E7E7E7"/>
        </a:solidFill>
        <a:effectLst/>
      </p:bgPr>
    </p:bg>
    <p:spTree>
      <p:nvGrpSpPr>
        <p:cNvPr id="1" name=""/>
        <p:cNvGrpSpPr/>
        <p:nvPr/>
      </p:nvGrpSpPr>
      <p:grpSpPr>
        <a:xfrm>
          <a:off x="0" y="0"/>
          <a:ext cx="0" cy="0"/>
          <a:chOff x="0" y="0"/>
          <a:chExt cx="0" cy="0"/>
        </a:xfrm>
      </p:grpSpPr>
      <p:sp>
        <p:nvSpPr>
          <p:cNvPr id="2" name="TextBox 2"/>
          <p:cNvSpPr txBox="1"/>
          <p:nvPr/>
        </p:nvSpPr>
        <p:spPr>
          <a:xfrm>
            <a:off x="179351" y="558280"/>
            <a:ext cx="10564849" cy="2618602"/>
          </a:xfrm>
          <a:prstGeom prst="rect">
            <a:avLst/>
          </a:prstGeom>
        </p:spPr>
        <p:txBody>
          <a:bodyPr wrap="square" lIns="0" tIns="0" rIns="0" bIns="0" rtlCol="0" anchor="t">
            <a:spAutoFit/>
          </a:bodyPr>
          <a:lstStyle/>
          <a:p>
            <a:pPr algn="ctr" rtl="1">
              <a:lnSpc>
                <a:spcPts val="6999"/>
              </a:lnSpc>
            </a:pPr>
            <a:r>
              <a:rPr lang="en-US" sz="4999" b="1" dirty="0">
                <a:solidFill>
                  <a:srgbClr val="000000"/>
                </a:solidFill>
                <a:latin typeface="Gagalin" panose="020B0604020202020204" charset="0"/>
                <a:ea typeface="Oswald Bold"/>
                <a:cs typeface="Oswald Bold"/>
                <a:sym typeface="Oswald Bold"/>
              </a:rPr>
              <a:t>Project Benefits &amp; Strategic Value</a:t>
            </a:r>
          </a:p>
          <a:p>
            <a:pPr algn="ctr" rtl="1">
              <a:lnSpc>
                <a:spcPts val="6999"/>
              </a:lnSpc>
            </a:pPr>
            <a:endParaRPr lang="en-US" sz="4999" b="1" dirty="0">
              <a:solidFill>
                <a:srgbClr val="000000"/>
              </a:solidFill>
              <a:latin typeface="Oswald Bold"/>
              <a:ea typeface="Oswald Bold"/>
              <a:cs typeface="Oswald Bold"/>
              <a:sym typeface="Oswald Bold"/>
            </a:endParaRPr>
          </a:p>
          <a:p>
            <a:pPr algn="ctr" rtl="1">
              <a:lnSpc>
                <a:spcPts val="6999"/>
              </a:lnSpc>
              <a:spcBef>
                <a:spcPct val="0"/>
              </a:spcBef>
            </a:pPr>
            <a:endParaRPr lang="en-US" sz="4999" b="1" dirty="0">
              <a:solidFill>
                <a:srgbClr val="000000"/>
              </a:solidFill>
              <a:latin typeface="Oswald Bold"/>
              <a:ea typeface="Oswald Bold"/>
              <a:cs typeface="Oswald Bold"/>
              <a:sym typeface="Oswald Bold"/>
            </a:endParaRPr>
          </a:p>
        </p:txBody>
      </p:sp>
      <p:sp>
        <p:nvSpPr>
          <p:cNvPr id="3" name="TextBox 3"/>
          <p:cNvSpPr txBox="1"/>
          <p:nvPr/>
        </p:nvSpPr>
        <p:spPr>
          <a:xfrm>
            <a:off x="355800" y="2273867"/>
            <a:ext cx="15828084" cy="6671005"/>
          </a:xfrm>
          <a:prstGeom prst="rect">
            <a:avLst/>
          </a:prstGeom>
        </p:spPr>
        <p:txBody>
          <a:bodyPr lIns="0" tIns="0" rIns="0" bIns="0" rtlCol="0" anchor="t">
            <a:spAutoFit/>
          </a:bodyPr>
          <a:lstStyle/>
          <a:p>
            <a:pPr algn="l">
              <a:lnSpc>
                <a:spcPts val="3506"/>
              </a:lnSpc>
            </a:pPr>
            <a:r>
              <a:rPr lang="en-US" sz="2504" b="1" dirty="0">
                <a:solidFill>
                  <a:srgbClr val="000000"/>
                </a:solidFill>
                <a:latin typeface="Oswald Bold"/>
                <a:ea typeface="Oswald Bold"/>
                <a:cs typeface="Oswald Bold"/>
                <a:sym typeface="Oswald Bold"/>
              </a:rPr>
              <a:t>1. Data-Driven Decision Making Empowers management to shift from "intuition-based" to "fact-based" decisions by providing real-time visibility into all factory floor operations.</a:t>
            </a:r>
          </a:p>
          <a:p>
            <a:pPr algn="l">
              <a:lnSpc>
                <a:spcPts val="3506"/>
              </a:lnSpc>
            </a:pPr>
            <a:endParaRPr lang="en-US" sz="2504" b="1" dirty="0">
              <a:solidFill>
                <a:srgbClr val="000000"/>
              </a:solidFill>
              <a:latin typeface="Oswald Bold"/>
              <a:ea typeface="Oswald Bold"/>
              <a:cs typeface="Oswald Bold"/>
              <a:sym typeface="Oswald Bold"/>
            </a:endParaRPr>
          </a:p>
          <a:p>
            <a:pPr algn="l">
              <a:lnSpc>
                <a:spcPts val="3506"/>
              </a:lnSpc>
            </a:pPr>
            <a:r>
              <a:rPr lang="en-US" sz="2504" b="1" dirty="0">
                <a:solidFill>
                  <a:srgbClr val="000000"/>
                </a:solidFill>
                <a:latin typeface="Oswald Bold"/>
                <a:ea typeface="Oswald Bold"/>
                <a:cs typeface="Oswald Bold"/>
                <a:sym typeface="Oswald Bold"/>
              </a:rPr>
              <a:t>2. Cost Reduction &amp; Resource Optimization Identifies high-energy consumption patterns and wasteful processes, leading to a significant reduction in Operational Expenses (OPEX).</a:t>
            </a:r>
          </a:p>
          <a:p>
            <a:pPr algn="l">
              <a:lnSpc>
                <a:spcPts val="3506"/>
              </a:lnSpc>
            </a:pPr>
            <a:endParaRPr lang="en-US" sz="2504" b="1" dirty="0">
              <a:solidFill>
                <a:srgbClr val="000000"/>
              </a:solidFill>
              <a:latin typeface="Oswald Bold"/>
              <a:ea typeface="Oswald Bold"/>
              <a:cs typeface="Oswald Bold"/>
              <a:sym typeface="Oswald Bold"/>
            </a:endParaRPr>
          </a:p>
          <a:p>
            <a:pPr algn="l">
              <a:lnSpc>
                <a:spcPts val="3506"/>
              </a:lnSpc>
              <a:spcBef>
                <a:spcPct val="0"/>
              </a:spcBef>
            </a:pPr>
            <a:r>
              <a:rPr lang="en-US" sz="2504" b="1" dirty="0">
                <a:solidFill>
                  <a:srgbClr val="000000"/>
                </a:solidFill>
                <a:latin typeface="Oswald Bold"/>
                <a:ea typeface="Oswald Bold"/>
                <a:cs typeface="Oswald Bold"/>
                <a:sym typeface="Oswald Bold"/>
              </a:rPr>
              <a:t>3. Enhanced Asset Utilization Maximizes machine uptime by analyzing downtime root causes and improving maintenance schedules through MTBF and MTTR metrics.</a:t>
            </a:r>
          </a:p>
          <a:p>
            <a:pPr algn="l">
              <a:lnSpc>
                <a:spcPts val="3506"/>
              </a:lnSpc>
              <a:spcBef>
                <a:spcPct val="0"/>
              </a:spcBef>
            </a:pPr>
            <a:endParaRPr lang="en-US" sz="2504" b="1" dirty="0">
              <a:solidFill>
                <a:srgbClr val="000000"/>
              </a:solidFill>
              <a:latin typeface="Oswald Bold"/>
              <a:ea typeface="Oswald Bold"/>
              <a:cs typeface="Oswald Bold"/>
              <a:sym typeface="Oswald Bold"/>
            </a:endParaRPr>
          </a:p>
          <a:p>
            <a:pPr algn="l">
              <a:lnSpc>
                <a:spcPts val="3506"/>
              </a:lnSpc>
              <a:spcBef>
                <a:spcPct val="0"/>
              </a:spcBef>
            </a:pPr>
            <a:r>
              <a:rPr lang="en-US" sz="2504" b="1" dirty="0">
                <a:solidFill>
                  <a:srgbClr val="000000"/>
                </a:solidFill>
                <a:latin typeface="Oswald Bold"/>
                <a:ea typeface="Oswald Bold"/>
                <a:cs typeface="Oswald Bold"/>
                <a:sym typeface="Oswald Bold"/>
              </a:rPr>
              <a:t>4. Quality &amp; Waste Management Minimizes production failures by correlating success rates with specific machines and operators, ensuring a higher standard of Quality Control (QC).</a:t>
            </a:r>
          </a:p>
          <a:p>
            <a:pPr algn="l">
              <a:lnSpc>
                <a:spcPts val="3506"/>
              </a:lnSpc>
              <a:spcBef>
                <a:spcPct val="0"/>
              </a:spcBef>
            </a:pPr>
            <a:endParaRPr lang="en-US" sz="2504" b="1" dirty="0">
              <a:solidFill>
                <a:srgbClr val="000000"/>
              </a:solidFill>
              <a:latin typeface="Oswald Bold"/>
              <a:ea typeface="Oswald Bold"/>
              <a:cs typeface="Oswald Bold"/>
              <a:sym typeface="Oswald Bold"/>
            </a:endParaRPr>
          </a:p>
          <a:p>
            <a:pPr algn="l">
              <a:lnSpc>
                <a:spcPts val="3506"/>
              </a:lnSpc>
              <a:spcBef>
                <a:spcPct val="0"/>
              </a:spcBef>
            </a:pPr>
            <a:r>
              <a:rPr lang="en-US" sz="2504" b="1" dirty="0">
                <a:solidFill>
                  <a:srgbClr val="000000"/>
                </a:solidFill>
                <a:latin typeface="Oswald Bold"/>
                <a:ea typeface="Oswald Bold"/>
                <a:cs typeface="Oswald Bold"/>
                <a:sym typeface="Oswald Bold"/>
              </a:rPr>
              <a:t>5. Operational Transparency Creates a "Single Source of Truth" where financial, technical, and labor data are integrated, eliminating communication gaps between departments.</a:t>
            </a:r>
          </a:p>
          <a:p>
            <a:pPr algn="ctr">
              <a:lnSpc>
                <a:spcPts val="3506"/>
              </a:lnSpc>
              <a:spcBef>
                <a:spcPct val="0"/>
              </a:spcBef>
            </a:pPr>
            <a:endParaRPr lang="en-US" sz="2504" b="1" dirty="0">
              <a:solidFill>
                <a:srgbClr val="000000"/>
              </a:solidFill>
              <a:latin typeface="Oswald Bold"/>
              <a:ea typeface="Oswald Bold"/>
              <a:cs typeface="Oswald Bold"/>
              <a:sym typeface="Oswald Bold"/>
            </a:endParaRPr>
          </a:p>
        </p:txBody>
      </p:sp>
      <p:sp>
        <p:nvSpPr>
          <p:cNvPr id="4" name="Freeform 4"/>
          <p:cNvSpPr/>
          <p:nvPr/>
        </p:nvSpPr>
        <p:spPr>
          <a:xfrm>
            <a:off x="14483305" y="7298857"/>
            <a:ext cx="5277936" cy="3292029"/>
          </a:xfrm>
          <a:custGeom>
            <a:avLst/>
            <a:gdLst/>
            <a:ahLst/>
            <a:cxnLst/>
            <a:rect l="l" t="t" r="r" b="b"/>
            <a:pathLst>
              <a:path w="5277936" h="3292029">
                <a:moveTo>
                  <a:pt x="0" y="0"/>
                </a:moveTo>
                <a:lnTo>
                  <a:pt x="5277936" y="0"/>
                </a:lnTo>
                <a:lnTo>
                  <a:pt x="5277936" y="3292029"/>
                </a:lnTo>
                <a:lnTo>
                  <a:pt x="0" y="3292029"/>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US"/>
          </a:p>
        </p:txBody>
      </p:sp>
      <p:sp>
        <p:nvSpPr>
          <p:cNvPr id="5" name="Freeform 5"/>
          <p:cNvSpPr/>
          <p:nvPr/>
        </p:nvSpPr>
        <p:spPr>
          <a:xfrm>
            <a:off x="15132204" y="-2020632"/>
            <a:ext cx="5214119" cy="5204638"/>
          </a:xfrm>
          <a:custGeom>
            <a:avLst/>
            <a:gdLst/>
            <a:ahLst/>
            <a:cxnLst/>
            <a:rect l="l" t="t" r="r" b="b"/>
            <a:pathLst>
              <a:path w="5214119" h="5204638">
                <a:moveTo>
                  <a:pt x="0" y="0"/>
                </a:moveTo>
                <a:lnTo>
                  <a:pt x="5214118" y="0"/>
                </a:lnTo>
                <a:lnTo>
                  <a:pt x="5214118" y="5204639"/>
                </a:lnTo>
                <a:lnTo>
                  <a:pt x="0" y="5204639"/>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fade">
                                      <p:cBhvr>
                                        <p:cTn id="12" dur="500"/>
                                        <p:tgtEl>
                                          <p:spTgt spid="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
                                            <p:txEl>
                                              <p:pRg st="4" end="4"/>
                                            </p:txEl>
                                          </p:spTgt>
                                        </p:tgtEl>
                                        <p:attrNameLst>
                                          <p:attrName>style.visibility</p:attrName>
                                        </p:attrNameLst>
                                      </p:cBhvr>
                                      <p:to>
                                        <p:strVal val="visible"/>
                                      </p:to>
                                    </p:set>
                                    <p:animEffect transition="in" filter="fade">
                                      <p:cBhvr>
                                        <p:cTn id="22" dur="500"/>
                                        <p:tgtEl>
                                          <p:spTgt spid="3">
                                            <p:txEl>
                                              <p:pRg st="4" end="4"/>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animEffect transition="in" filter="fade">
                                      <p:cBhvr>
                                        <p:cTn id="27" dur="500"/>
                                        <p:tgtEl>
                                          <p:spTgt spid="3">
                                            <p:txEl>
                                              <p:pRg st="6" end="6"/>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
                                            <p:txEl>
                                              <p:pRg st="8" end="8"/>
                                            </p:txEl>
                                          </p:spTgt>
                                        </p:tgtEl>
                                        <p:attrNameLst>
                                          <p:attrName>style.visibility</p:attrName>
                                        </p:attrNameLst>
                                      </p:cBhvr>
                                      <p:to>
                                        <p:strVal val="visible"/>
                                      </p:to>
                                    </p:set>
                                    <p:animEffect transition="in" filter="fade">
                                      <p:cBhvr>
                                        <p:cTn id="32" dur="5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t="-15111" b="-15111"/>
            </a:stretch>
          </a:blipFill>
        </p:spPr>
        <p:txBody>
          <a:bodyPr/>
          <a:lstStyle/>
          <a:p>
            <a:endParaRPr lang="en-US"/>
          </a:p>
        </p:txBody>
      </p:sp>
      <p:sp>
        <p:nvSpPr>
          <p:cNvPr id="3" name="Freeform 3"/>
          <p:cNvSpPr/>
          <p:nvPr/>
        </p:nvSpPr>
        <p:spPr>
          <a:xfrm>
            <a:off x="13945313" y="0"/>
            <a:ext cx="4253113" cy="10287000"/>
          </a:xfrm>
          <a:custGeom>
            <a:avLst/>
            <a:gdLst/>
            <a:ahLst/>
            <a:cxnLst/>
            <a:rect l="l" t="t" r="r" b="b"/>
            <a:pathLst>
              <a:path w="4253113" h="10287000">
                <a:moveTo>
                  <a:pt x="0" y="0"/>
                </a:moveTo>
                <a:lnTo>
                  <a:pt x="4253112" y="0"/>
                </a:lnTo>
                <a:lnTo>
                  <a:pt x="4253112" y="10287000"/>
                </a:lnTo>
                <a:lnTo>
                  <a:pt x="0" y="10287000"/>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4" name="TextBox 4"/>
          <p:cNvSpPr txBox="1"/>
          <p:nvPr/>
        </p:nvSpPr>
        <p:spPr>
          <a:xfrm>
            <a:off x="4531728" y="4183014"/>
            <a:ext cx="8727067" cy="2026196"/>
          </a:xfrm>
          <a:prstGeom prst="rect">
            <a:avLst/>
          </a:prstGeom>
        </p:spPr>
        <p:txBody>
          <a:bodyPr wrap="square" lIns="0" tIns="0" rIns="0" bIns="0" rtlCol="0" anchor="t">
            <a:spAutoFit/>
          </a:bodyPr>
          <a:lstStyle/>
          <a:p>
            <a:pPr marL="0" lvl="0" indent="0" algn="l">
              <a:lnSpc>
                <a:spcPts val="15797"/>
              </a:lnSpc>
              <a:spcBef>
                <a:spcPct val="0"/>
              </a:spcBef>
            </a:pPr>
            <a:r>
              <a:rPr lang="en-US" sz="14230" u="none" strike="noStrike" dirty="0">
                <a:solidFill>
                  <a:srgbClr val="000000"/>
                </a:solidFill>
                <a:latin typeface="Gagalin" panose="020B0604020202020204" charset="0"/>
                <a:ea typeface="Oswald"/>
                <a:cs typeface="Oswald"/>
                <a:sym typeface="Oswald"/>
              </a:rPr>
              <a:t>Thank You</a:t>
            </a:r>
          </a:p>
        </p:txBody>
      </p:sp>
      <p:sp>
        <p:nvSpPr>
          <p:cNvPr id="5" name="AutoShape 5"/>
          <p:cNvSpPr/>
          <p:nvPr/>
        </p:nvSpPr>
        <p:spPr>
          <a:xfrm>
            <a:off x="3583218" y="2503955"/>
            <a:ext cx="0" cy="5279090"/>
          </a:xfrm>
          <a:prstGeom prst="line">
            <a:avLst/>
          </a:prstGeom>
          <a:ln w="38100" cap="flat">
            <a:solidFill>
              <a:srgbClr val="000000"/>
            </a:solidFill>
            <a:prstDash val="solid"/>
            <a:headEnd type="none" w="sm" len="sm"/>
            <a:tailEnd type="none" w="sm" len="sm"/>
          </a:ln>
        </p:spPr>
        <p:txBody>
          <a:bodyPr/>
          <a:lstStyle/>
          <a:p>
            <a:endParaRPr lang="en-US"/>
          </a:p>
        </p:txBody>
      </p:sp>
      <p:sp>
        <p:nvSpPr>
          <p:cNvPr id="6" name="TextBox 6"/>
          <p:cNvSpPr txBox="1"/>
          <p:nvPr/>
        </p:nvSpPr>
        <p:spPr>
          <a:xfrm>
            <a:off x="237774" y="1449073"/>
            <a:ext cx="2892316" cy="623359"/>
          </a:xfrm>
          <a:prstGeom prst="rect">
            <a:avLst/>
          </a:prstGeom>
        </p:spPr>
        <p:txBody>
          <a:bodyPr lIns="0" tIns="0" rIns="0" bIns="0" rtlCol="0" anchor="t">
            <a:spAutoFit/>
          </a:bodyPr>
          <a:lstStyle/>
          <a:p>
            <a:pPr algn="ctr">
              <a:lnSpc>
                <a:spcPts val="2492"/>
              </a:lnSpc>
            </a:pPr>
            <a:r>
              <a:rPr lang="en-US" sz="1780" b="1">
                <a:solidFill>
                  <a:srgbClr val="231F20"/>
                </a:solidFill>
                <a:latin typeface="Decalotype Medium"/>
                <a:ea typeface="Decalotype Medium"/>
                <a:cs typeface="Decalotype Medium"/>
                <a:sym typeface="Decalotype Medium"/>
              </a:rPr>
              <a:t>Digital Egypt Pioneers Initiative</a:t>
            </a:r>
          </a:p>
          <a:p>
            <a:pPr marL="0" lvl="0" indent="0" algn="l">
              <a:lnSpc>
                <a:spcPts val="2492"/>
              </a:lnSpc>
            </a:pPr>
            <a:endParaRPr lang="en-US" sz="1780" b="1">
              <a:solidFill>
                <a:srgbClr val="231F20"/>
              </a:solidFill>
              <a:latin typeface="Decalotype Medium"/>
              <a:ea typeface="Decalotype Medium"/>
              <a:cs typeface="Decalotype Medium"/>
              <a:sym typeface="Decalotype Medium"/>
            </a:endParaRPr>
          </a:p>
        </p:txBody>
      </p:sp>
      <p:sp>
        <p:nvSpPr>
          <p:cNvPr id="7" name="Freeform 7"/>
          <p:cNvSpPr/>
          <p:nvPr/>
        </p:nvSpPr>
        <p:spPr>
          <a:xfrm>
            <a:off x="826851" y="140754"/>
            <a:ext cx="1464526" cy="1346419"/>
          </a:xfrm>
          <a:custGeom>
            <a:avLst/>
            <a:gdLst/>
            <a:ahLst/>
            <a:cxnLst/>
            <a:rect l="l" t="t" r="r" b="b"/>
            <a:pathLst>
              <a:path w="1464526" h="1346419">
                <a:moveTo>
                  <a:pt x="0" y="0"/>
                </a:moveTo>
                <a:lnTo>
                  <a:pt x="1464526" y="0"/>
                </a:lnTo>
                <a:lnTo>
                  <a:pt x="1464526" y="1346419"/>
                </a:lnTo>
                <a:lnTo>
                  <a:pt x="0" y="1346419"/>
                </a:lnTo>
                <a:lnTo>
                  <a:pt x="0" y="0"/>
                </a:lnTo>
                <a:close/>
              </a:path>
            </a:pathLst>
          </a:custGeom>
          <a:blipFill>
            <a:blip r:embed="rId5"/>
            <a:stretch>
              <a:fillRect/>
            </a:stretch>
          </a:blipFill>
        </p:spPr>
        <p:txBody>
          <a:bodyPr/>
          <a:lstStyle/>
          <a:p>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webextension1.xml><?xml version="1.0" encoding="utf-8"?>
<we:webextension xmlns:we="http://schemas.microsoft.com/office/webextensions/webextension/2010/11" id="{16F9614F-9461-4CE3-BEFD-D5F886503C5A}">
  <we:reference id="wa200003233" version="2.0.0.3" store="en-US" storeType="OMEX"/>
  <we:alternateReferences>
    <we:reference id="WA200003233" version="2.0.0.3" store="" storeType="OMEX"/>
  </we:alternateReferences>
  <we:properties>
    <we:property name="artifactViewState" value="&quot;live&quot;"/>
    <we:property name="backgroundColor" value="&quot;#12239E&quot;"/>
    <we:property name="bookmark" value="&quot;H4sIAAAAAAAAA+1Z23LbNhD9FQ+fNR0SIEEyb74k03Rix41c56Hj0SwulJBQpAqSalSP/r0LgpJjWbEt35VYT+RisXv27IWwce5JXU1ymB3BWHlvvL2y/DoG83Un8Hpe4WRpyCDyGSOhYDEVCU1SgavlpNZlUXlvzr0azFDVp7pqILeGUPj3Wc+DPD+GoX3LIK9Uz5soU5UF5Po/5ZRxqTaNmvc89W2SlwasyX4NtbJmp6iO7wgh+I2iRxC1nqq+ErWTEip8GQCPIhaCCNKAEAu7cgotsrUq1nTrfr8satAFurGyWCrJA4hlFFPKKKGcRlae6bzuVPjs7beJwegw5tnEknNSTo7Qp9OxKqcL0KTnvTPluFXu2K0a/k+jzAw3WDuqcprnXn+xgM9/Lh6us1RaE0Wt65l9QV6hLs1ASxv/SYvMn2MG+ipHMtqN+2XejFtnK67Lxgj1SWUXL639OSbl2FjTrY+PnQ8PxR2GTKtcetbNRyOV2Zu1fg60WSSIrIa5OxwaNYS6e728+GAAUf6uKToMdD63CDFN3pt0btccPWTe25TMzyNlVMdlIfUiivcrmKuHpbtFDzxXP969LKu5/Z25btqU2fUEXEfyqPx33yjsVWkJ6i1bYldOoRAoXcVx//QvQR4qnDir6N5iJw9nA8xO1Yzb6bRSDP5V2JatShfDvJtIF8PBZd4TeVNhayu5B2Z/BKa2o49/wRq3EwF3l09W/PeP3haTm6K48ct3c3If+RiWZnb72t20Xs7a5ktJwuOIiTgAkRBFpR+oG2dsB04LTM/9anstcQ4k7hu0Kf91SluWRVO/1vSd66QraUh4In1OiRKJSkkaUHJjSf+wkH7X6MSI0eyDmqr8Kt7l+tWlBdRTMNodpLoPxKYxd5/FpR3vEg0H9nRm1b6D0gp3LgR2uQsAl2a/UE8B6m7SUsFqS/2sBXC7Nv1Zo3ejgocBz0JOhcpkptLA53HwOiq2YFQcIhaMMB/8VaH31ynxOiUec0pkgR+SwGckAx7g4cIH/txn5EMQI12onfcHL7NBH/dPPwfw9aR8p2pxRZ2EsRR+wkNKg5iBTyFmd//0vQQ2Ny8nMHK7y8eKohACSlnC8BCThGmWERLePZGHCqrG3Hr87ub5TrelWg3hpKzxA70MpKrXTKpHzdEjx+LoD5mgeG4MfD/xY05CEcXwIujfnQ4Hu1PQOXCdW/XtZX9NKI58DlLwkEMCQUQYYyDYzV/mpyC/qxR8HexBLUZbTP6aUBz5MhKURoykguAEYhGX8ubrmacgv98Igft3Pi3OfNtJ/EoYjnRBhAQJLGOJVEQmkfTlc59F/yj5wN4RNtVd2IauIvq5Fsp0SpfYt0aD1PdDiCMm/YT5QvA0evYz+I3/p36g2CMSEj9NoxQSEXHKOY/oi2i0z4DH8cGxwm1FDcNtbrY1obiGy+IEj8aKhUHIuPCpELGwVq8NaoIWjmCqh+1dy0pC25xeSLxxW1v4UDZ1NQGhjqFw15oTh0+rVg/TCIVUsntuL7c/aKwAB+AU8qa9BbZX+4ubR/z9D5WryUtSIAAA&quot;"/>
    <we:property name="creatorSessionId" value="&quot;94462b92-3dab-4bac-a547-559696315631&quot;"/>
    <we:property name="creatorTenantId" value="&quot;0280a459-0521-4ae1-86ac-586968ee5f02&quot;"/>
    <we:property name="creatorUserId" value="&quot;10032001BF9C8129&quot;"/>
    <we:property name="datasetId" value="&quot;4a3266de-f1a4-4fac-b2de-f342cf04f04d&quot;"/>
    <we:property name="embedUrl" value="&quot;/reportEmbed?reportId=9bc3ef2b-ad37-4797-b3c7-c486b795c3d2&amp;config=eyJjbHVzdGVyVXJsIjoiaHR0cHM6Ly9XQUJJLVNPVVRILUFGUklDQS1OT1JUSC1BLVBSSU1BUlktcmVkaXJlY3QuYW5hbHlzaXMud2luZG93cy5uZXQiLCJlbWJlZEZlYXR1cmVzIjp7InVzYWdlTWV0cmljc1ZOZXh0Ijp0cnVlfX0%3D&amp;disableSensitivityBanner=true&amp;storytellingChangeViewModeShortcutKeys=true&quot;"/>
    <we:property name="initialStateBookmark" value="&quot;H4sIAAAAAAAAA+1ZbW/bNhD+K4aAoRtgDKIkimK/uXkBui5NkBTZhyEw+HKy1cqSQUlZ3MD/fUdKWRInjl0vcZxh3yTqeLx77h4ej7r2dFZNczH7LCbgvfc+lOW3iTDfesTre0U3dnz86Whw+mn4eXB0gMPltM7KovLeX3u1MCOoz7OqEbnVgIN/XvQ9kecnYmTfUpFX0PemYKqyEHn2HVph/FSbBuZ9D66meWmEVXlWixqs2ksUx3dcm/wa4opC1dklnIGq29EEAs2VZkksKVEaYiY0ilWtgLPsURGr2i2/Vxa1yApcxo4RyaSSPI0FT0OiExqFsR1Ps7zuROTs4Gpq0Dv0eTa1qOyhraPSZErknvPCQNUafe3tlXkzcU8H98bPysYoOIXUfSrqrJ6hpvFMmkwPJ6JoUvS0MVkxGqpb9b2fg1+8OUJ1YkoE0s35rZRDC1dTuS/j8q89AzgFffTn/X+MHOhLUSjQDywcjEYGRqLuXg9e1/zDpuhCSx96c4EjFerMu9S5jeKX1kldFk29Nxamtskpv2IW2JjhtNJoMB9mLmz7mbnJn6C/4NgOozG/uEl/nPD1ToJ3+dc6t2UbL+b2KychVTJkUaK5jlXMVUJ2nDZHQo2R9sOP+2+SNmdqDLrJQQ8PCr2aOdt16AiwFixaPEDPRL6euSuJrvKmwswC3Rr2lim/IpK7wvp7fGlZDyADxiBNYp+J1OdcB9tk/aNZtkPVcKl93ZazJmFfGLBjfHDuDh21NuCiFGZX+PdDkL8Es9aDuKWPFKDShJJI4PlU+wmVTK+kz/+J+4NMfz4rShfG0gwzTR4PcWk24Y/aqRL26hRaE+aWQ5EPWsc++EKkEAepTJJgOYe6LlYFUZgABZ/SSGK7FwGjiPxrM+yO46toRmyCd95wxiI/lBEhNNACXaKpf+vN/fRvYbGmnN/01ZhLh6acOHy6zn+Ckgum9r02WX0b8T/GePLqIlvo7AaQjwvuV+sHv31xSz/ZbPS9c5E37m4BVf+eoTMtodwwir87FBkepd5ZYZshF/Pt7jx3A0Ok4DTWScRUyliQppKmywLzIjYua206+xIsOYRh04YsoIorJjnfqn1rYCgZ0JQwxXWKIPqJihXZmo1Ptogrt/VayBwOrtbc0snilv6cOWA3S9yo4ySMUhXFXGs8ctCYMbkT541N2hF8VFYvSn7JJrCwYZJNyrAwegfq74uA0SZAFNFY0oAEMgqCSAVxmDxx4OwYmIZSJMoXEQ81Z1wpppfuEuuVl/Hd8rKWu9uqPuNnrD79JSJ75WSaQ/2MNeqZL43JG7j9WrcZ+S+TfvmZ3HFdBzqIEx1EXKRplLAEVjeXO3wjuzKSokvVszxTYDqhe5G1SomAhHLqkyQKGSMBAUmtqidVT8UIPovLbORajwc6qQoBsI2IA64Z5wg4+JvX1SMQVWNgXaAHed7rplQPblwvR719yMWsd5QVG3Wm/4IdL+hHm+EBD4MED65YjygA4TbFdwN2bSsUrtI7RaR7P71l5B+64hpvK3Zrmzdxp098KJu6mgoFJ6JoS/S01ZWBk0PIRaHbjQhcZB6tke5PsecWQVAyPEavmGD/H3vOLGfc3zwv5YPKHgAA&quot;"/>
    <we:property name="isFiltersActionButtonVisible" value="true"/>
    <we:property name="isVisualContainerHeaderHidden" value="false"/>
    <we:property name="pageDisplayName" value="&quot;Energy Consumption &amp; Costing&quot;"/>
    <we:property name="pageName" value="&quot;23c0d1ab5564ac191221&quot;"/>
    <we:property name="reportEmbeddedTime" value="&quot;2026-06-19T09:09:44.581Z&quot;"/>
    <we:property name="reportName" value="&quot;Dashboard &amp; Reborts&quot;"/>
    <we:property name="reportState" value="&quot;CONNECTED&quot;"/>
    <we:property name="reportUrl" value="&quot;/links/HyXwUWyi9a?ctid=0280a459-0521-4ae1-86ac-586968ee5f02&amp;pbi_source=linkShare&amp;fromEntryPoint=share&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390</TotalTime>
  <Words>1037</Words>
  <Application>Microsoft Office PowerPoint</Application>
  <PresentationFormat>Custom</PresentationFormat>
  <Paragraphs>134</Paragraphs>
  <Slides>16</Slides>
  <Notes>6</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16</vt:i4>
      </vt:variant>
    </vt:vector>
  </HeadingPairs>
  <TitlesOfParts>
    <vt:vector size="27" baseType="lpstr">
      <vt:lpstr>Decalotype Medium</vt:lpstr>
      <vt:lpstr>Oswald</vt:lpstr>
      <vt:lpstr>Gagalin</vt:lpstr>
      <vt:lpstr>Aptos</vt:lpstr>
      <vt:lpstr>Decalotype</vt:lpstr>
      <vt:lpstr>Decalotype Bold</vt:lpstr>
      <vt:lpstr>Arial</vt:lpstr>
      <vt:lpstr>Oswald Bold</vt:lpstr>
      <vt:lpstr>Canva Sans Bold</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DEPI PROJECT</dc:title>
  <dc:creator>Mohamed Emad</dc:creator>
  <cp:lastModifiedBy>Mohamed Emad</cp:lastModifiedBy>
  <cp:revision>19</cp:revision>
  <dcterms:created xsi:type="dcterms:W3CDTF">2006-08-16T00:00:00Z</dcterms:created>
  <dcterms:modified xsi:type="dcterms:W3CDTF">2026-06-19T09:25:34Z</dcterms:modified>
  <dc:identifier>DAHGX3mZmzg</dc:identifier>
</cp:coreProperties>
</file>