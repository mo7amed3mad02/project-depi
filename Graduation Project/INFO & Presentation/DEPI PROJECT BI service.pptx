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webextensions/webextension1.xml" ContentType="application/vnd.ms-office.webextension+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6" r:id="rId11"/>
    <p:sldId id="278" r:id="rId12"/>
    <p:sldId id="267" r:id="rId13"/>
    <p:sldId id="268" r:id="rId14"/>
    <p:sldId id="275" r:id="rId15"/>
    <p:sldId id="276" r:id="rId16"/>
    <p:sldId id="277" r:id="rId17"/>
  </p:sldIdLst>
  <p:sldSz cx="18288000" cy="10287000"/>
  <p:notesSz cx="6858000" cy="9144000"/>
  <p:embeddedFontLst>
    <p:embeddedFont>
      <p:font typeface="Canva Sans Bold" panose="020B0604020202020204" charset="0"/>
      <p:regular r:id="rId19"/>
    </p:embeddedFont>
    <p:embeddedFont>
      <p:font typeface="Decalotype" panose="020B0604020202020204" charset="0"/>
      <p:regular r:id="rId20"/>
    </p:embeddedFont>
    <p:embeddedFont>
      <p:font typeface="Decalotype Bold" panose="020B0604020202020204" charset="0"/>
      <p:regular r:id="rId21"/>
    </p:embeddedFont>
    <p:embeddedFont>
      <p:font typeface="Decalotype Medium" panose="020B0604020202020204" charset="0"/>
      <p:regular r:id="rId22"/>
    </p:embeddedFont>
    <p:embeddedFont>
      <p:font typeface="Gagalin" panose="020B0604020202020204" charset="0"/>
      <p:regular r:id="rId23"/>
    </p:embeddedFont>
    <p:embeddedFont>
      <p:font typeface="Oswald" panose="00000500000000000000" pitchFamily="2" charset="0"/>
      <p:regular r:id="rId24"/>
      <p:bold r:id="rId25"/>
    </p:embeddedFont>
    <p:embeddedFont>
      <p:font typeface="Oswald Bold" panose="00000800000000000000" charset="0"/>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94622" autoAdjust="0"/>
  </p:normalViewPr>
  <p:slideViewPr>
    <p:cSldViewPr>
      <p:cViewPr varScale="1">
        <p:scale>
          <a:sx n="70" d="100"/>
          <a:sy n="70" d="100"/>
        </p:scale>
        <p:origin x="768"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6571A4-4622-4E51-8BC7-176ABF8228B2}"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2A005E-BDE4-4A3D-BCA7-A5CB0FF6FD64}" type="slidenum">
              <a:rPr lang="en-US" smtClean="0"/>
              <a:t>‹#›</a:t>
            </a:fld>
            <a:endParaRPr lang="en-US"/>
          </a:p>
        </p:txBody>
      </p:sp>
    </p:spTree>
    <p:extLst>
      <p:ext uri="{BB962C8B-B14F-4D97-AF65-F5344CB8AC3E}">
        <p14:creationId xmlns:p14="http://schemas.microsoft.com/office/powerpoint/2010/main" val="891757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1</a:t>
            </a:fld>
            <a:endParaRPr lang="en-US"/>
          </a:p>
        </p:txBody>
      </p:sp>
    </p:spTree>
    <p:extLst>
      <p:ext uri="{BB962C8B-B14F-4D97-AF65-F5344CB8AC3E}">
        <p14:creationId xmlns:p14="http://schemas.microsoft.com/office/powerpoint/2010/main" val="270053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3</a:t>
            </a:fld>
            <a:endParaRPr lang="en-US"/>
          </a:p>
        </p:txBody>
      </p:sp>
    </p:spTree>
    <p:extLst>
      <p:ext uri="{BB962C8B-B14F-4D97-AF65-F5344CB8AC3E}">
        <p14:creationId xmlns:p14="http://schemas.microsoft.com/office/powerpoint/2010/main" val="2434977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6</a:t>
            </a:fld>
            <a:endParaRPr lang="en-US"/>
          </a:p>
        </p:txBody>
      </p:sp>
    </p:spTree>
    <p:extLst>
      <p:ext uri="{BB962C8B-B14F-4D97-AF65-F5344CB8AC3E}">
        <p14:creationId xmlns:p14="http://schemas.microsoft.com/office/powerpoint/2010/main" val="1390022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10</a:t>
            </a:fld>
            <a:endParaRPr lang="en-US"/>
          </a:p>
        </p:txBody>
      </p:sp>
    </p:spTree>
    <p:extLst>
      <p:ext uri="{BB962C8B-B14F-4D97-AF65-F5344CB8AC3E}">
        <p14:creationId xmlns:p14="http://schemas.microsoft.com/office/powerpoint/2010/main" val="1576093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14</a:t>
            </a:fld>
            <a:endParaRPr lang="en-US"/>
          </a:p>
        </p:txBody>
      </p:sp>
    </p:spTree>
    <p:extLst>
      <p:ext uri="{BB962C8B-B14F-4D97-AF65-F5344CB8AC3E}">
        <p14:creationId xmlns:p14="http://schemas.microsoft.com/office/powerpoint/2010/main" val="3182300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2A005E-BDE4-4A3D-BCA7-A5CB0FF6FD64}" type="slidenum">
              <a:rPr lang="en-US" smtClean="0"/>
              <a:t>16</a:t>
            </a:fld>
            <a:endParaRPr lang="en-US"/>
          </a:p>
        </p:txBody>
      </p:sp>
    </p:spTree>
    <p:extLst>
      <p:ext uri="{BB962C8B-B14F-4D97-AF65-F5344CB8AC3E}">
        <p14:creationId xmlns:p14="http://schemas.microsoft.com/office/powerpoint/2010/main" val="4011445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11.svg"/><Relationship Id="rId10" Type="http://schemas.openxmlformats.org/officeDocument/2006/relationships/image" Target="../media/image20.svg"/><Relationship Id="rId4" Type="http://schemas.openxmlformats.org/officeDocument/2006/relationships/image" Target="../media/image16.svg"/><Relationship Id="rId9" Type="http://schemas.openxmlformats.org/officeDocument/2006/relationships/image" Target="../media/image19.svg"/></Relationships>
</file>

<file path=ppt/slides/_rels/slide7.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0.svg"/><Relationship Id="rId3" Type="http://schemas.openxmlformats.org/officeDocument/2006/relationships/image" Target="../media/image21.svg"/><Relationship Id="rId7" Type="http://schemas.openxmlformats.org/officeDocument/2006/relationships/image" Target="../media/image25.svg"/><Relationship Id="rId12" Type="http://schemas.openxmlformats.org/officeDocument/2006/relationships/image" Target="../media/image29.svg"/><Relationship Id="rId2" Type="http://schemas.openxmlformats.org/officeDocument/2006/relationships/image" Target="../media/image1.jpeg"/><Relationship Id="rId16" Type="http://schemas.openxmlformats.org/officeDocument/2006/relationships/image" Target="../media/image33.svg"/><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28.png"/><Relationship Id="rId5" Type="http://schemas.openxmlformats.org/officeDocument/2006/relationships/image" Target="../media/image23.svg"/><Relationship Id="rId15" Type="http://schemas.openxmlformats.org/officeDocument/2006/relationships/image" Target="../media/image32.svg"/><Relationship Id="rId10" Type="http://schemas.openxmlformats.org/officeDocument/2006/relationships/image" Target="../media/image27.png"/><Relationship Id="rId4" Type="http://schemas.openxmlformats.org/officeDocument/2006/relationships/image" Target="../media/image22.svg"/><Relationship Id="rId9" Type="http://schemas.openxmlformats.org/officeDocument/2006/relationships/image" Target="../media/image10.svg"/><Relationship Id="rId14" Type="http://schemas.openxmlformats.org/officeDocument/2006/relationships/image" Target="../media/image31.svg"/></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4.png"/><Relationship Id="rId7"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10" Type="http://schemas.openxmlformats.org/officeDocument/2006/relationships/image" Target="../media/image10.svg"/><Relationship Id="rId4" Type="http://schemas.openxmlformats.org/officeDocument/2006/relationships/image" Target="../media/image11.svg"/><Relationship Id="rId9"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1.sv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1.jpeg"/><Relationship Id="rId7"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44.sv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10.svg"/></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1.svg"/><Relationship Id="rId5" Type="http://schemas.openxmlformats.org/officeDocument/2006/relationships/image" Target="../media/image11.svg"/><Relationship Id="rId4" Type="http://schemas.openxmlformats.org/officeDocument/2006/relationships/image" Target="../media/image10.svg"/></Relationships>
</file>

<file path=ppt/slides/_rels/slide14.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3.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5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5111" b="-15111"/>
            </a:stretch>
          </a:blipFill>
        </p:spPr>
        <p:txBody>
          <a:bodyPr/>
          <a:lstStyle/>
          <a:p>
            <a:endParaRPr lang="en-US"/>
          </a:p>
        </p:txBody>
      </p:sp>
      <p:sp>
        <p:nvSpPr>
          <p:cNvPr id="3" name="Freeform 3"/>
          <p:cNvSpPr/>
          <p:nvPr/>
        </p:nvSpPr>
        <p:spPr>
          <a:xfrm>
            <a:off x="7255822" y="748263"/>
            <a:ext cx="11684422" cy="9538737"/>
          </a:xfrm>
          <a:custGeom>
            <a:avLst/>
            <a:gdLst/>
            <a:ahLst/>
            <a:cxnLst/>
            <a:rect l="l" t="t" r="r" b="b"/>
            <a:pathLst>
              <a:path w="11684422" h="9538737">
                <a:moveTo>
                  <a:pt x="0" y="0"/>
                </a:moveTo>
                <a:lnTo>
                  <a:pt x="11684422" y="0"/>
                </a:lnTo>
                <a:lnTo>
                  <a:pt x="11684422" y="9538737"/>
                </a:lnTo>
                <a:lnTo>
                  <a:pt x="0" y="953873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AutoShape 4"/>
          <p:cNvSpPr/>
          <p:nvPr/>
        </p:nvSpPr>
        <p:spPr>
          <a:xfrm flipH="1">
            <a:off x="949346" y="2823294"/>
            <a:ext cx="0" cy="5718705"/>
          </a:xfrm>
          <a:prstGeom prst="line">
            <a:avLst/>
          </a:prstGeom>
          <a:ln w="38100" cap="flat">
            <a:solidFill>
              <a:srgbClr val="000000"/>
            </a:solidFill>
            <a:prstDash val="solid"/>
            <a:headEnd type="none" w="sm" len="sm"/>
            <a:tailEnd type="none" w="sm" len="sm"/>
          </a:ln>
        </p:spPr>
        <p:txBody>
          <a:bodyPr/>
          <a:lstStyle/>
          <a:p>
            <a:endParaRPr lang="en-US"/>
          </a:p>
        </p:txBody>
      </p:sp>
      <p:sp>
        <p:nvSpPr>
          <p:cNvPr id="5" name="Freeform 5"/>
          <p:cNvSpPr/>
          <p:nvPr/>
        </p:nvSpPr>
        <p:spPr>
          <a:xfrm>
            <a:off x="722277" y="725994"/>
            <a:ext cx="1302348" cy="1197320"/>
          </a:xfrm>
          <a:custGeom>
            <a:avLst/>
            <a:gdLst/>
            <a:ahLst/>
            <a:cxnLst/>
            <a:rect l="l" t="t" r="r" b="b"/>
            <a:pathLst>
              <a:path w="1302348" h="1197320">
                <a:moveTo>
                  <a:pt x="0" y="0"/>
                </a:moveTo>
                <a:lnTo>
                  <a:pt x="1302347" y="0"/>
                </a:lnTo>
                <a:lnTo>
                  <a:pt x="1302347" y="1197320"/>
                </a:lnTo>
                <a:lnTo>
                  <a:pt x="0" y="1197320"/>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1849525" y="678369"/>
            <a:ext cx="2053161" cy="1847585"/>
          </a:xfrm>
          <a:prstGeom prst="rect">
            <a:avLst/>
          </a:prstGeom>
        </p:spPr>
        <p:txBody>
          <a:bodyPr lIns="0" tIns="0" rIns="0" bIns="0" rtlCol="0" anchor="t">
            <a:spAutoFit/>
          </a:bodyPr>
          <a:lstStyle/>
          <a:p>
            <a:pPr algn="ctr">
              <a:lnSpc>
                <a:spcPts val="3689"/>
              </a:lnSpc>
            </a:pPr>
            <a:r>
              <a:rPr lang="en-US" sz="2635" b="1">
                <a:solidFill>
                  <a:srgbClr val="231F20"/>
                </a:solidFill>
                <a:latin typeface="Decalotype Medium"/>
                <a:ea typeface="Decalotype Medium"/>
                <a:cs typeface="Decalotype Medium"/>
                <a:sym typeface="Decalotype Medium"/>
              </a:rPr>
              <a:t>Digital Egypt Pioneers Initiative</a:t>
            </a:r>
          </a:p>
          <a:p>
            <a:pPr marL="0" lvl="0" indent="0" algn="l">
              <a:lnSpc>
                <a:spcPts val="3689"/>
              </a:lnSpc>
            </a:pPr>
            <a:endParaRPr lang="en-US" sz="2635" b="1">
              <a:solidFill>
                <a:srgbClr val="231F20"/>
              </a:solidFill>
              <a:latin typeface="Decalotype Medium"/>
              <a:ea typeface="Decalotype Medium"/>
              <a:cs typeface="Decalotype Medium"/>
              <a:sym typeface="Decalotype Medium"/>
            </a:endParaRPr>
          </a:p>
        </p:txBody>
      </p:sp>
      <p:sp>
        <p:nvSpPr>
          <p:cNvPr id="7" name="TextBox 7"/>
          <p:cNvSpPr txBox="1"/>
          <p:nvPr/>
        </p:nvSpPr>
        <p:spPr>
          <a:xfrm>
            <a:off x="2876105" y="5497579"/>
            <a:ext cx="7490814" cy="1593723"/>
          </a:xfrm>
          <a:prstGeom prst="rect">
            <a:avLst/>
          </a:prstGeom>
        </p:spPr>
        <p:txBody>
          <a:bodyPr lIns="0" tIns="0" rIns="0" bIns="0" rtlCol="0" anchor="t">
            <a:spAutoFit/>
          </a:bodyPr>
          <a:lstStyle/>
          <a:p>
            <a:pPr marL="0" lvl="0" indent="0" algn="l">
              <a:lnSpc>
                <a:spcPts val="12321"/>
              </a:lnSpc>
            </a:pPr>
            <a:r>
              <a:rPr lang="en-US" sz="11100" dirty="0">
                <a:solidFill>
                  <a:srgbClr val="000000"/>
                </a:solidFill>
                <a:latin typeface="Gagalin" panose="020B0604020202020204" charset="0"/>
                <a:ea typeface="Oswald"/>
                <a:cs typeface="Oswald"/>
                <a:sym typeface="Oswald"/>
              </a:rPr>
              <a:t>Analysis</a:t>
            </a:r>
          </a:p>
        </p:txBody>
      </p:sp>
      <p:sp>
        <p:nvSpPr>
          <p:cNvPr id="8" name="TextBox 8"/>
          <p:cNvSpPr txBox="1"/>
          <p:nvPr/>
        </p:nvSpPr>
        <p:spPr>
          <a:xfrm>
            <a:off x="1373451" y="3719888"/>
            <a:ext cx="9961475" cy="1590179"/>
          </a:xfrm>
          <a:prstGeom prst="rect">
            <a:avLst/>
          </a:prstGeom>
        </p:spPr>
        <p:txBody>
          <a:bodyPr wrap="square" lIns="0" tIns="0" rIns="0" bIns="0" rtlCol="0" anchor="t">
            <a:spAutoFit/>
          </a:bodyPr>
          <a:lstStyle/>
          <a:p>
            <a:pPr marL="0" lvl="0" indent="0" algn="l">
              <a:lnSpc>
                <a:spcPts val="12359"/>
              </a:lnSpc>
              <a:spcBef>
                <a:spcPct val="0"/>
              </a:spcBef>
            </a:pPr>
            <a:r>
              <a:rPr lang="en-US" sz="11134" dirty="0">
                <a:solidFill>
                  <a:srgbClr val="000000"/>
                </a:solidFill>
                <a:latin typeface="Gagalin" panose="020B0604020202020204" charset="0"/>
                <a:ea typeface="Oswald"/>
                <a:cs typeface="Oswald"/>
                <a:sym typeface="Oswald"/>
              </a:rPr>
              <a:t>Manufacturing </a:t>
            </a:r>
          </a:p>
        </p:txBody>
      </p:sp>
      <p:sp>
        <p:nvSpPr>
          <p:cNvPr id="9" name="TextBox 8">
            <a:extLst>
              <a:ext uri="{FF2B5EF4-FFF2-40B4-BE49-F238E27FC236}">
                <a16:creationId xmlns:a16="http://schemas.microsoft.com/office/drawing/2014/main" id="{2697DF2A-FAE5-FDAE-F82B-4E017626A232}"/>
              </a:ext>
            </a:extLst>
          </p:cNvPr>
          <p:cNvSpPr txBox="1"/>
          <p:nvPr/>
        </p:nvSpPr>
        <p:spPr>
          <a:xfrm>
            <a:off x="4302483" y="7278814"/>
            <a:ext cx="2325435" cy="646331"/>
          </a:xfrm>
          <a:prstGeom prst="rect">
            <a:avLst/>
          </a:prstGeom>
          <a:noFill/>
        </p:spPr>
        <p:txBody>
          <a:bodyPr wrap="square" rtlCol="0">
            <a:spAutoFit/>
          </a:bodyPr>
          <a:lstStyle/>
          <a:p>
            <a:pPr algn="ctr"/>
            <a:r>
              <a:rPr lang="en-US" sz="3600" b="1" dirty="0"/>
              <a:t>Team: 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a:p>
        </p:txBody>
      </p:sp>
      <p:sp>
        <p:nvSpPr>
          <p:cNvPr id="3" name="AutoShape 3"/>
          <p:cNvSpPr/>
          <p:nvPr/>
        </p:nvSpPr>
        <p:spPr>
          <a:xfrm flipH="1">
            <a:off x="949346" y="2823294"/>
            <a:ext cx="0" cy="5718705"/>
          </a:xfrm>
          <a:prstGeom prst="line">
            <a:avLst/>
          </a:prstGeom>
          <a:ln w="38100" cap="flat">
            <a:solidFill>
              <a:srgbClr val="000000"/>
            </a:solidFill>
            <a:prstDash val="solid"/>
            <a:headEnd type="none" w="sm" len="sm"/>
            <a:tailEnd type="none" w="sm" len="sm"/>
          </a:ln>
        </p:spPr>
        <p:txBody>
          <a:bodyPr/>
          <a:lstStyle/>
          <a:p>
            <a:endParaRPr lang="en-US"/>
          </a:p>
        </p:txBody>
      </p:sp>
      <p:sp>
        <p:nvSpPr>
          <p:cNvPr id="4" name="Freeform 4"/>
          <p:cNvSpPr/>
          <p:nvPr/>
        </p:nvSpPr>
        <p:spPr>
          <a:xfrm>
            <a:off x="722277" y="725994"/>
            <a:ext cx="1302348" cy="1197320"/>
          </a:xfrm>
          <a:custGeom>
            <a:avLst/>
            <a:gdLst/>
            <a:ahLst/>
            <a:cxnLst/>
            <a:rect l="l" t="t" r="r" b="b"/>
            <a:pathLst>
              <a:path w="1302348" h="1197320">
                <a:moveTo>
                  <a:pt x="0" y="0"/>
                </a:moveTo>
                <a:lnTo>
                  <a:pt x="1302347" y="0"/>
                </a:lnTo>
                <a:lnTo>
                  <a:pt x="1302347" y="1197320"/>
                </a:lnTo>
                <a:lnTo>
                  <a:pt x="0" y="1197320"/>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14157885" y="725994"/>
            <a:ext cx="3101415" cy="310141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US"/>
            </a:p>
          </p:txBody>
        </p:sp>
      </p:grpSp>
      <p:grpSp>
        <p:nvGrpSpPr>
          <p:cNvPr id="7" name="Group 7"/>
          <p:cNvGrpSpPr/>
          <p:nvPr/>
        </p:nvGrpSpPr>
        <p:grpSpPr>
          <a:xfrm>
            <a:off x="8805323" y="75267"/>
            <a:ext cx="3101415" cy="310141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a:stretch>
            </a:blipFill>
          </p:spPr>
          <p:txBody>
            <a:bodyPr/>
            <a:lstStyle/>
            <a:p>
              <a:endParaRPr lang="en-US"/>
            </a:p>
          </p:txBody>
        </p:sp>
      </p:grpSp>
      <p:grpSp>
        <p:nvGrpSpPr>
          <p:cNvPr id="9" name="Group 9"/>
          <p:cNvGrpSpPr/>
          <p:nvPr/>
        </p:nvGrpSpPr>
        <p:grpSpPr>
          <a:xfrm>
            <a:off x="11209827" y="3592023"/>
            <a:ext cx="3101415" cy="310141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a:stretch>
            </a:blipFill>
          </p:spPr>
          <p:txBody>
            <a:bodyPr/>
            <a:lstStyle/>
            <a:p>
              <a:endParaRPr lang="en-US"/>
            </a:p>
          </p:txBody>
        </p:sp>
      </p:grpSp>
      <p:grpSp>
        <p:nvGrpSpPr>
          <p:cNvPr id="11" name="Group 11"/>
          <p:cNvGrpSpPr/>
          <p:nvPr/>
        </p:nvGrpSpPr>
        <p:grpSpPr>
          <a:xfrm>
            <a:off x="8468494" y="6156885"/>
            <a:ext cx="3101415" cy="310141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t="-107" b="-107"/>
              </a:stretch>
            </a:blipFill>
          </p:spPr>
          <p:txBody>
            <a:bodyPr/>
            <a:lstStyle/>
            <a:p>
              <a:endParaRPr lang="en-US"/>
            </a:p>
          </p:txBody>
        </p:sp>
      </p:grpSp>
      <p:grpSp>
        <p:nvGrpSpPr>
          <p:cNvPr id="13" name="Group 13"/>
          <p:cNvGrpSpPr/>
          <p:nvPr/>
        </p:nvGrpSpPr>
        <p:grpSpPr>
          <a:xfrm>
            <a:off x="14966158" y="5282534"/>
            <a:ext cx="3101415" cy="3101415"/>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a:stretch>
            </a:blipFill>
          </p:spPr>
          <p:txBody>
            <a:bodyPr/>
            <a:lstStyle/>
            <a:p>
              <a:endParaRPr lang="en-US"/>
            </a:p>
          </p:txBody>
        </p:sp>
      </p:grpSp>
      <p:sp>
        <p:nvSpPr>
          <p:cNvPr id="15" name="TextBox 15"/>
          <p:cNvSpPr txBox="1"/>
          <p:nvPr/>
        </p:nvSpPr>
        <p:spPr>
          <a:xfrm>
            <a:off x="1849525" y="678369"/>
            <a:ext cx="2053161" cy="1847585"/>
          </a:xfrm>
          <a:prstGeom prst="rect">
            <a:avLst/>
          </a:prstGeom>
        </p:spPr>
        <p:txBody>
          <a:bodyPr lIns="0" tIns="0" rIns="0" bIns="0" rtlCol="0" anchor="t">
            <a:spAutoFit/>
          </a:bodyPr>
          <a:lstStyle/>
          <a:p>
            <a:pPr algn="ctr">
              <a:lnSpc>
                <a:spcPts val="3689"/>
              </a:lnSpc>
            </a:pPr>
            <a:r>
              <a:rPr lang="en-US" sz="2635" b="1">
                <a:solidFill>
                  <a:srgbClr val="231F20"/>
                </a:solidFill>
                <a:latin typeface="Decalotype Medium"/>
                <a:ea typeface="Decalotype Medium"/>
                <a:cs typeface="Decalotype Medium"/>
                <a:sym typeface="Decalotype Medium"/>
              </a:rPr>
              <a:t>Digital Egypt Pioneers Initiative</a:t>
            </a:r>
          </a:p>
          <a:p>
            <a:pPr marL="0" lvl="0" indent="0" algn="l">
              <a:lnSpc>
                <a:spcPts val="3689"/>
              </a:lnSpc>
            </a:pPr>
            <a:endParaRPr lang="en-US" sz="2635" b="1">
              <a:solidFill>
                <a:srgbClr val="231F20"/>
              </a:solidFill>
              <a:latin typeface="Decalotype Medium"/>
              <a:ea typeface="Decalotype Medium"/>
              <a:cs typeface="Decalotype Medium"/>
              <a:sym typeface="Decalotype Medium"/>
            </a:endParaRPr>
          </a:p>
        </p:txBody>
      </p:sp>
      <p:sp>
        <p:nvSpPr>
          <p:cNvPr id="16" name="TextBox 16"/>
          <p:cNvSpPr txBox="1"/>
          <p:nvPr/>
        </p:nvSpPr>
        <p:spPr>
          <a:xfrm>
            <a:off x="949346" y="4496533"/>
            <a:ext cx="8925107" cy="1312026"/>
          </a:xfrm>
          <a:prstGeom prst="rect">
            <a:avLst/>
          </a:prstGeom>
        </p:spPr>
        <p:txBody>
          <a:bodyPr lIns="0" tIns="0" rIns="0" bIns="0" rtlCol="0" anchor="t">
            <a:spAutoFit/>
          </a:bodyPr>
          <a:lstStyle/>
          <a:p>
            <a:pPr algn="ctr">
              <a:lnSpc>
                <a:spcPts val="11529"/>
              </a:lnSpc>
              <a:spcBef>
                <a:spcPct val="0"/>
              </a:spcBef>
            </a:pPr>
            <a:r>
              <a:rPr lang="en-US" sz="8235" b="1" dirty="0">
                <a:solidFill>
                  <a:srgbClr val="231F20"/>
                </a:solidFill>
                <a:latin typeface="Gagalin" panose="020B0604020202020204" charset="0"/>
                <a:ea typeface="Cooper BT Bold"/>
                <a:cs typeface="Cooper BT Bold"/>
                <a:sym typeface="Cooper BT Bold"/>
              </a:rPr>
              <a:t>Team Members</a:t>
            </a:r>
          </a:p>
        </p:txBody>
      </p:sp>
      <p:sp>
        <p:nvSpPr>
          <p:cNvPr id="17" name="TextBox 17"/>
          <p:cNvSpPr txBox="1"/>
          <p:nvPr/>
        </p:nvSpPr>
        <p:spPr>
          <a:xfrm>
            <a:off x="9304649" y="3343352"/>
            <a:ext cx="2102763" cy="447410"/>
          </a:xfrm>
          <a:prstGeom prst="rect">
            <a:avLst/>
          </a:prstGeom>
        </p:spPr>
        <p:txBody>
          <a:bodyPr lIns="0" tIns="0" rIns="0" bIns="0" rtlCol="0" anchor="t">
            <a:spAutoFit/>
          </a:bodyPr>
          <a:lstStyle/>
          <a:p>
            <a:pPr algn="ctr">
              <a:lnSpc>
                <a:spcPts val="3689"/>
              </a:lnSpc>
              <a:spcBef>
                <a:spcPct val="0"/>
              </a:spcBef>
            </a:pPr>
            <a:r>
              <a:rPr lang="en-US" sz="2635" b="1" dirty="0">
                <a:solidFill>
                  <a:srgbClr val="231F20"/>
                </a:solidFill>
                <a:latin typeface="Decalotype Bold"/>
                <a:ea typeface="Decalotype Bold"/>
                <a:cs typeface="Decalotype Bold"/>
                <a:sym typeface="Decalotype Bold"/>
              </a:rPr>
              <a:t>Mohamed Emad</a:t>
            </a:r>
          </a:p>
        </p:txBody>
      </p:sp>
      <p:sp>
        <p:nvSpPr>
          <p:cNvPr id="18" name="TextBox 18"/>
          <p:cNvSpPr txBox="1"/>
          <p:nvPr/>
        </p:nvSpPr>
        <p:spPr>
          <a:xfrm>
            <a:off x="15006757" y="3942542"/>
            <a:ext cx="1843445" cy="447410"/>
          </a:xfrm>
          <a:prstGeom prst="rect">
            <a:avLst/>
          </a:prstGeom>
        </p:spPr>
        <p:txBody>
          <a:bodyPr lIns="0" tIns="0" rIns="0" bIns="0" rtlCol="0" anchor="t">
            <a:spAutoFit/>
          </a:bodyPr>
          <a:lstStyle/>
          <a:p>
            <a:pPr algn="ctr">
              <a:lnSpc>
                <a:spcPts val="3689"/>
              </a:lnSpc>
              <a:spcBef>
                <a:spcPct val="0"/>
              </a:spcBef>
            </a:pPr>
            <a:r>
              <a:rPr lang="en-US" sz="2635" b="1" dirty="0">
                <a:solidFill>
                  <a:srgbClr val="231F20"/>
                </a:solidFill>
                <a:latin typeface="Decalotype Bold"/>
                <a:ea typeface="Decalotype Bold"/>
                <a:cs typeface="Decalotype Bold"/>
                <a:sym typeface="Decalotype Bold"/>
              </a:rPr>
              <a:t>Menna Younis</a:t>
            </a:r>
          </a:p>
        </p:txBody>
      </p:sp>
      <p:sp>
        <p:nvSpPr>
          <p:cNvPr id="19" name="TextBox 19"/>
          <p:cNvSpPr txBox="1"/>
          <p:nvPr/>
        </p:nvSpPr>
        <p:spPr>
          <a:xfrm>
            <a:off x="11569909" y="6741063"/>
            <a:ext cx="2381250" cy="447410"/>
          </a:xfrm>
          <a:prstGeom prst="rect">
            <a:avLst/>
          </a:prstGeom>
        </p:spPr>
        <p:txBody>
          <a:bodyPr lIns="0" tIns="0" rIns="0" bIns="0" rtlCol="0" anchor="t">
            <a:spAutoFit/>
          </a:bodyPr>
          <a:lstStyle/>
          <a:p>
            <a:pPr algn="ctr">
              <a:lnSpc>
                <a:spcPts val="3689"/>
              </a:lnSpc>
              <a:spcBef>
                <a:spcPct val="0"/>
              </a:spcBef>
            </a:pPr>
            <a:r>
              <a:rPr lang="en-US" sz="2635" b="1" dirty="0">
                <a:solidFill>
                  <a:srgbClr val="231F20"/>
                </a:solidFill>
                <a:latin typeface="Decalotype Bold"/>
                <a:ea typeface="Decalotype Bold"/>
                <a:cs typeface="Decalotype Bold"/>
                <a:sym typeface="Decalotype Bold"/>
              </a:rPr>
              <a:t>Mohamed Elsayed</a:t>
            </a:r>
          </a:p>
        </p:txBody>
      </p:sp>
      <p:sp>
        <p:nvSpPr>
          <p:cNvPr id="20" name="TextBox 20"/>
          <p:cNvSpPr txBox="1"/>
          <p:nvPr/>
        </p:nvSpPr>
        <p:spPr>
          <a:xfrm>
            <a:off x="15928480" y="8494374"/>
            <a:ext cx="1699855" cy="447410"/>
          </a:xfrm>
          <a:prstGeom prst="rect">
            <a:avLst/>
          </a:prstGeom>
        </p:spPr>
        <p:txBody>
          <a:bodyPr lIns="0" tIns="0" rIns="0" bIns="0" rtlCol="0" anchor="t">
            <a:spAutoFit/>
          </a:bodyPr>
          <a:lstStyle/>
          <a:p>
            <a:pPr algn="ctr">
              <a:lnSpc>
                <a:spcPts val="3689"/>
              </a:lnSpc>
              <a:spcBef>
                <a:spcPct val="0"/>
              </a:spcBef>
            </a:pPr>
            <a:r>
              <a:rPr lang="en-US" sz="2635" b="1" dirty="0">
                <a:solidFill>
                  <a:srgbClr val="231F20"/>
                </a:solidFill>
                <a:latin typeface="Decalotype Bold"/>
                <a:ea typeface="Decalotype Bold"/>
                <a:cs typeface="Decalotype Bold"/>
                <a:sym typeface="Decalotype Bold"/>
              </a:rPr>
              <a:t>Farah Magdy</a:t>
            </a:r>
          </a:p>
        </p:txBody>
      </p:sp>
      <p:sp>
        <p:nvSpPr>
          <p:cNvPr id="21" name="TextBox 21"/>
          <p:cNvSpPr txBox="1"/>
          <p:nvPr/>
        </p:nvSpPr>
        <p:spPr>
          <a:xfrm>
            <a:off x="8837805" y="9420225"/>
            <a:ext cx="2569607" cy="447410"/>
          </a:xfrm>
          <a:prstGeom prst="rect">
            <a:avLst/>
          </a:prstGeom>
        </p:spPr>
        <p:txBody>
          <a:bodyPr lIns="0" tIns="0" rIns="0" bIns="0" rtlCol="0" anchor="t">
            <a:spAutoFit/>
          </a:bodyPr>
          <a:lstStyle/>
          <a:p>
            <a:pPr algn="ctr">
              <a:lnSpc>
                <a:spcPts val="3689"/>
              </a:lnSpc>
              <a:spcBef>
                <a:spcPct val="0"/>
              </a:spcBef>
            </a:pPr>
            <a:r>
              <a:rPr lang="en-US" sz="2635" b="1" dirty="0">
                <a:solidFill>
                  <a:srgbClr val="231F20"/>
                </a:solidFill>
                <a:latin typeface="Decalotype Bold"/>
                <a:ea typeface="Decalotype Bold"/>
                <a:cs typeface="Decalotype Bold"/>
                <a:sym typeface="Decalotype Bold"/>
              </a:rPr>
              <a:t>Mohamed Abo Bakr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xEl>
                                              <p:pRg st="0" end="0"/>
                                            </p:txEl>
                                          </p:spTgt>
                                        </p:tgtEl>
                                        <p:attrNameLst>
                                          <p:attrName>style.visibility</p:attrName>
                                        </p:attrNameLst>
                                      </p:cBhvr>
                                      <p:to>
                                        <p:strVal val="visible"/>
                                      </p:to>
                                    </p:set>
                                    <p:animEffect transition="in" filter="fade">
                                      <p:cBhvr>
                                        <p:cTn id="18" dur="500"/>
                                        <p:tgtEl>
                                          <p:spTgt spid="20">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xEl>
                                              <p:pRg st="0" end="0"/>
                                            </p:txEl>
                                          </p:spTgt>
                                        </p:tgtEl>
                                        <p:attrNameLst>
                                          <p:attrName>style.visibility</p:attrName>
                                        </p:attrNameLst>
                                      </p:cBhvr>
                                      <p:to>
                                        <p:strVal val="visible"/>
                                      </p:to>
                                    </p:set>
                                    <p:animEffect transition="in" filter="fade">
                                      <p:cBhvr>
                                        <p:cTn id="26" dur="500"/>
                                        <p:tgtEl>
                                          <p:spTgt spid="18">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xEl>
                                              <p:pRg st="0" end="0"/>
                                            </p:txEl>
                                          </p:spTgt>
                                        </p:tgtEl>
                                        <p:attrNameLst>
                                          <p:attrName>style.visibility</p:attrName>
                                        </p:attrNameLst>
                                      </p:cBhvr>
                                      <p:to>
                                        <p:strVal val="visible"/>
                                      </p:to>
                                    </p:set>
                                    <p:animEffect transition="in" filter="fade">
                                      <p:cBhvr>
                                        <p:cTn id="42" dur="500"/>
                                        <p:tgtEl>
                                          <p:spTgt spid="17">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par>
                                <p:cTn id="48" presetID="10" presetClass="entr" presetSubtype="0" fill="hold" nodeType="withEffect">
                                  <p:stCondLst>
                                    <p:cond delay="0"/>
                                  </p:stCondLst>
                                  <p:childTnLst>
                                    <p:set>
                                      <p:cBhvr>
                                        <p:cTn id="49" dur="1" fill="hold">
                                          <p:stCondLst>
                                            <p:cond delay="0"/>
                                          </p:stCondLst>
                                        </p:cTn>
                                        <p:tgtEl>
                                          <p:spTgt spid="19">
                                            <p:txEl>
                                              <p:pRg st="0" end="0"/>
                                            </p:txEl>
                                          </p:spTgt>
                                        </p:tgtEl>
                                        <p:attrNameLst>
                                          <p:attrName>style.visibility</p:attrName>
                                        </p:attrNameLst>
                                      </p:cBhvr>
                                      <p:to>
                                        <p:strVal val="visible"/>
                                      </p:to>
                                    </p:set>
                                    <p:animEffect transition="in" filter="fade">
                                      <p:cBhvr>
                                        <p:cTn id="50"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6"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p:cNvGrpSpPr/>
        <p:nvPr/>
      </p:nvGrpSpPr>
      <p:grpSpPr>
        <a:xfrm>
          <a:off x="0" y="0"/>
          <a:ext cx="0" cy="0"/>
          <a:chOff x="0" y="0"/>
          <a:chExt cx="0" cy="0"/>
        </a:xfrm>
      </p:grpSpPr>
      <p:sp>
        <p:nvSpPr>
          <p:cNvPr id="4" name="Freeform 4"/>
          <p:cNvSpPr/>
          <p:nvPr/>
        </p:nvSpPr>
        <p:spPr>
          <a:xfrm>
            <a:off x="12649200" y="419100"/>
            <a:ext cx="1068236" cy="1068236"/>
          </a:xfrm>
          <a:custGeom>
            <a:avLst/>
            <a:gdLst/>
            <a:ahLst/>
            <a:cxnLst/>
            <a:rect l="l" t="t" r="r" b="b"/>
            <a:pathLst>
              <a:path w="1068236" h="1068236">
                <a:moveTo>
                  <a:pt x="0" y="0"/>
                </a:moveTo>
                <a:lnTo>
                  <a:pt x="1068236" y="0"/>
                </a:lnTo>
                <a:lnTo>
                  <a:pt x="1068236" y="1068236"/>
                </a:lnTo>
                <a:lnTo>
                  <a:pt x="0" y="106823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TextBox 5"/>
          <p:cNvSpPr txBox="1"/>
          <p:nvPr/>
        </p:nvSpPr>
        <p:spPr>
          <a:xfrm>
            <a:off x="2209800" y="690626"/>
            <a:ext cx="12142840" cy="1821011"/>
          </a:xfrm>
          <a:prstGeom prst="rect">
            <a:avLst/>
          </a:prstGeom>
        </p:spPr>
        <p:txBody>
          <a:bodyPr wrap="square" lIns="0" tIns="0" rIns="0" bIns="0" rtlCol="0" anchor="t">
            <a:spAutoFit/>
          </a:bodyPr>
          <a:lstStyle/>
          <a:p>
            <a:pPr algn="ctr" rtl="1">
              <a:lnSpc>
                <a:spcPts val="7139"/>
              </a:lnSpc>
            </a:pPr>
            <a:r>
              <a:rPr lang="ar-EG" sz="8800" b="1" dirty="0">
                <a:solidFill>
                  <a:srgbClr val="000000"/>
                </a:solidFill>
                <a:latin typeface="Gagalin" panose="020B0604020202020204" charset="0"/>
                <a:ea typeface="Oswald Bold"/>
                <a:cs typeface="Oswald Bold"/>
                <a:sym typeface="Oswald Bold"/>
                <a:rtl/>
              </a:rPr>
              <a:t> </a:t>
            </a:r>
            <a:r>
              <a:rPr lang="en-US" sz="8800" b="1" dirty="0">
                <a:solidFill>
                  <a:srgbClr val="000000"/>
                </a:solidFill>
                <a:latin typeface="Gagalin" panose="020B0604020202020204" charset="0"/>
                <a:ea typeface="Oswald Bold"/>
                <a:cs typeface="Oswald Bold"/>
                <a:sym typeface="Oswald Bold"/>
                <a:rtl/>
              </a:rPr>
              <a:t>Project Overview </a:t>
            </a:r>
            <a:endParaRPr lang="en-US" sz="8800" b="1" dirty="0">
              <a:solidFill>
                <a:srgbClr val="000000"/>
              </a:solidFill>
              <a:latin typeface="Gagalin" panose="020B0604020202020204" charset="0"/>
              <a:ea typeface="Oswald Bold"/>
              <a:cs typeface="Oswald Bold"/>
              <a:sym typeface="Oswald Bold"/>
            </a:endParaRPr>
          </a:p>
          <a:p>
            <a:pPr algn="ctr" rtl="1">
              <a:lnSpc>
                <a:spcPts val="7139"/>
              </a:lnSpc>
              <a:spcBef>
                <a:spcPct val="0"/>
              </a:spcBef>
            </a:pPr>
            <a:endParaRPr lang="en-US" sz="7200" b="1" dirty="0">
              <a:solidFill>
                <a:srgbClr val="000000"/>
              </a:solidFill>
              <a:latin typeface="Oswald Bold"/>
              <a:ea typeface="Oswald Bold"/>
              <a:cs typeface="Oswald Bold"/>
              <a:sym typeface="Oswald Bold"/>
            </a:endParaRPr>
          </a:p>
        </p:txBody>
      </p:sp>
      <p:sp>
        <p:nvSpPr>
          <p:cNvPr id="8" name="TextBox 7">
            <a:extLst>
              <a:ext uri="{FF2B5EF4-FFF2-40B4-BE49-F238E27FC236}">
                <a16:creationId xmlns:a16="http://schemas.microsoft.com/office/drawing/2014/main" id="{0F07D21A-8D4D-69BE-0A88-8E120B0BB8C8}"/>
              </a:ext>
            </a:extLst>
          </p:cNvPr>
          <p:cNvSpPr txBox="1"/>
          <p:nvPr/>
        </p:nvSpPr>
        <p:spPr>
          <a:xfrm>
            <a:off x="1737851" y="2191228"/>
            <a:ext cx="13868400" cy="4031873"/>
          </a:xfrm>
          <a:prstGeom prst="rect">
            <a:avLst/>
          </a:prstGeom>
          <a:noFill/>
        </p:spPr>
        <p:txBody>
          <a:bodyPr wrap="square" rtlCol="0">
            <a:spAutoFit/>
          </a:bodyPr>
          <a:lstStyle/>
          <a:p>
            <a:pPr algn="ctr"/>
            <a:r>
              <a:rPr lang="en-US" sz="3200" b="1" dirty="0">
                <a:latin typeface="Decalotype" panose="020B0604020202020204" charset="0"/>
                <a:cs typeface="Arial" panose="020B0604020202020204" pitchFamily="34" charset="0"/>
              </a:rPr>
              <a:t>The project addresses key challenges in manufacturing operations by identifying inefficiencies in machine performance. It helps reduce downtime by highlighting underperforming machines and production delays. The analysis optimizes material usage, minimizing waste and lowering costs. It provides visibility into processing time variations across machines. The dashboard supports better decision-making by uncovering bottlenecks in the production process. Overall, it improves productivity, reduces operational costs, and enhances overall manufacturing efficiency</a:t>
            </a:r>
            <a:r>
              <a:rPr lang="ar-EG" sz="3200" b="1" dirty="0">
                <a:latin typeface="Decalotype" panose="020B0604020202020204" charset="0"/>
                <a:cs typeface="Arial" panose="020B0604020202020204" pitchFamily="34" charset="0"/>
              </a:rPr>
              <a:t>.</a:t>
            </a:r>
            <a:endParaRPr lang="en-US" sz="3200" b="1" dirty="0">
              <a:latin typeface="Decalotype" panose="020B0604020202020204" charset="0"/>
              <a:cs typeface="Arial" panose="020B0604020202020204" pitchFamily="34" charset="0"/>
            </a:endParaRPr>
          </a:p>
        </p:txBody>
      </p:sp>
      <p:sp>
        <p:nvSpPr>
          <p:cNvPr id="9" name="Freeform 7">
            <a:extLst>
              <a:ext uri="{FF2B5EF4-FFF2-40B4-BE49-F238E27FC236}">
                <a16:creationId xmlns:a16="http://schemas.microsoft.com/office/drawing/2014/main" id="{A6792E3F-91BA-67F5-3111-B9376BC3D5C8}"/>
              </a:ext>
            </a:extLst>
          </p:cNvPr>
          <p:cNvSpPr/>
          <p:nvPr/>
        </p:nvSpPr>
        <p:spPr>
          <a:xfrm>
            <a:off x="14630400" y="-2183219"/>
            <a:ext cx="5214119" cy="5204638"/>
          </a:xfrm>
          <a:custGeom>
            <a:avLst/>
            <a:gdLst/>
            <a:ahLst/>
            <a:cxnLst/>
            <a:rect l="l" t="t" r="r" b="b"/>
            <a:pathLst>
              <a:path w="5214119" h="5204638">
                <a:moveTo>
                  <a:pt x="0" y="0"/>
                </a:moveTo>
                <a:lnTo>
                  <a:pt x="5214118" y="0"/>
                </a:lnTo>
                <a:lnTo>
                  <a:pt x="5214118" y="5204639"/>
                </a:lnTo>
                <a:lnTo>
                  <a:pt x="0" y="520463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5">
            <a:extLst>
              <a:ext uri="{FF2B5EF4-FFF2-40B4-BE49-F238E27FC236}">
                <a16:creationId xmlns:a16="http://schemas.microsoft.com/office/drawing/2014/main" id="{F03AA9D4-08C6-4249-2B8B-F79AA695E65E}"/>
              </a:ext>
            </a:extLst>
          </p:cNvPr>
          <p:cNvSpPr/>
          <p:nvPr/>
        </p:nvSpPr>
        <p:spPr>
          <a:xfrm>
            <a:off x="9775037" y="6964076"/>
            <a:ext cx="8512963" cy="3329069"/>
          </a:xfrm>
          <a:custGeom>
            <a:avLst/>
            <a:gdLst/>
            <a:ahLst/>
            <a:cxnLst/>
            <a:rect l="l" t="t" r="r" b="b"/>
            <a:pathLst>
              <a:path w="5769763" h="2817267">
                <a:moveTo>
                  <a:pt x="0" y="0"/>
                </a:moveTo>
                <a:lnTo>
                  <a:pt x="5769763" y="0"/>
                </a:lnTo>
                <a:lnTo>
                  <a:pt x="5769763" y="2817268"/>
                </a:lnTo>
                <a:lnTo>
                  <a:pt x="0" y="28172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6">
            <a:extLst>
              <a:ext uri="{FF2B5EF4-FFF2-40B4-BE49-F238E27FC236}">
                <a16:creationId xmlns:a16="http://schemas.microsoft.com/office/drawing/2014/main" id="{9A1E7252-E587-2AAF-DBEA-B8A32589C93C}"/>
              </a:ext>
            </a:extLst>
          </p:cNvPr>
          <p:cNvSpPr/>
          <p:nvPr/>
        </p:nvSpPr>
        <p:spPr>
          <a:xfrm>
            <a:off x="1737851" y="6238027"/>
            <a:ext cx="4114800" cy="3602145"/>
          </a:xfrm>
          <a:custGeom>
            <a:avLst/>
            <a:gdLst/>
            <a:ahLst/>
            <a:cxnLst/>
            <a:rect l="l" t="t" r="r" b="b"/>
            <a:pathLst>
              <a:path w="2866125" h="2708489">
                <a:moveTo>
                  <a:pt x="0" y="0"/>
                </a:moveTo>
                <a:lnTo>
                  <a:pt x="2866126" y="0"/>
                </a:lnTo>
                <a:lnTo>
                  <a:pt x="2866126" y="2708489"/>
                </a:lnTo>
                <a:lnTo>
                  <a:pt x="0" y="27084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a:p>
        </p:txBody>
      </p:sp>
      <p:grpSp>
        <p:nvGrpSpPr>
          <p:cNvPr id="3" name="Group 3"/>
          <p:cNvGrpSpPr/>
          <p:nvPr/>
        </p:nvGrpSpPr>
        <p:grpSpPr>
          <a:xfrm>
            <a:off x="10761348" y="0"/>
            <a:ext cx="7526652" cy="10287000"/>
            <a:chOff x="0" y="0"/>
            <a:chExt cx="1149315" cy="1570819"/>
          </a:xfrm>
        </p:grpSpPr>
        <p:sp>
          <p:nvSpPr>
            <p:cNvPr id="4" name="Freeform 4"/>
            <p:cNvSpPr/>
            <p:nvPr/>
          </p:nvSpPr>
          <p:spPr>
            <a:xfrm>
              <a:off x="0" y="0"/>
              <a:ext cx="1149315" cy="1570819"/>
            </a:xfrm>
            <a:custGeom>
              <a:avLst/>
              <a:gdLst/>
              <a:ahLst/>
              <a:cxnLst/>
              <a:rect l="l" t="t" r="r" b="b"/>
              <a:pathLst>
                <a:path w="1149315" h="1570819">
                  <a:moveTo>
                    <a:pt x="0" y="0"/>
                  </a:moveTo>
                  <a:lnTo>
                    <a:pt x="1149315" y="0"/>
                  </a:lnTo>
                  <a:lnTo>
                    <a:pt x="1149315" y="1570819"/>
                  </a:lnTo>
                  <a:lnTo>
                    <a:pt x="0" y="1570819"/>
                  </a:lnTo>
                  <a:close/>
                </a:path>
              </a:pathLst>
            </a:custGeom>
            <a:blipFill>
              <a:blip r:embed="rId3"/>
              <a:stretch>
                <a:fillRect t="-5276" b="-5276"/>
              </a:stretch>
            </a:blipFill>
            <a:ln cap="sq">
              <a:noFill/>
              <a:prstDash val="solid"/>
              <a:miter/>
            </a:ln>
          </p:spPr>
          <p:txBody>
            <a:bodyPr/>
            <a:lstStyle/>
            <a:p>
              <a:endParaRPr lang="en-US"/>
            </a:p>
          </p:txBody>
        </p:sp>
      </p:grpSp>
      <p:sp>
        <p:nvSpPr>
          <p:cNvPr id="5" name="Freeform 5"/>
          <p:cNvSpPr/>
          <p:nvPr/>
        </p:nvSpPr>
        <p:spPr>
          <a:xfrm>
            <a:off x="1028700" y="392316"/>
            <a:ext cx="2571750" cy="2057400"/>
          </a:xfrm>
          <a:custGeom>
            <a:avLst/>
            <a:gdLst/>
            <a:ahLst/>
            <a:cxnLst/>
            <a:rect l="l" t="t" r="r" b="b"/>
            <a:pathLst>
              <a:path w="2571750" h="2057400">
                <a:moveTo>
                  <a:pt x="0" y="0"/>
                </a:moveTo>
                <a:lnTo>
                  <a:pt x="2571750" y="0"/>
                </a:lnTo>
                <a:lnTo>
                  <a:pt x="2571750" y="2057400"/>
                </a:lnTo>
                <a:lnTo>
                  <a:pt x="0" y="20574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381000" y="2568632"/>
            <a:ext cx="9182100" cy="2487861"/>
          </a:xfrm>
          <a:prstGeom prst="rect">
            <a:avLst/>
          </a:prstGeom>
        </p:spPr>
        <p:txBody>
          <a:bodyPr wrap="square" lIns="0" tIns="0" rIns="0" bIns="0" rtlCol="0" anchor="t">
            <a:spAutoFit/>
          </a:bodyPr>
          <a:lstStyle/>
          <a:p>
            <a:pPr algn="l">
              <a:lnSpc>
                <a:spcPts val="9684"/>
              </a:lnSpc>
            </a:pPr>
            <a:r>
              <a:rPr lang="en-US" sz="8724" b="1" dirty="0">
                <a:solidFill>
                  <a:srgbClr val="000000"/>
                </a:solidFill>
                <a:latin typeface="Gagalin" panose="020B0604020202020204" charset="0"/>
                <a:ea typeface="Oswald Bold"/>
                <a:cs typeface="Oswald Bold"/>
                <a:sym typeface="Oswald Bold"/>
              </a:rPr>
              <a:t>Data Acquisition</a:t>
            </a:r>
          </a:p>
          <a:p>
            <a:pPr marL="0" lvl="0" indent="0" algn="l">
              <a:lnSpc>
                <a:spcPts val="9684"/>
              </a:lnSpc>
            </a:pPr>
            <a:endParaRPr lang="en-US" sz="8724" b="1" dirty="0">
              <a:solidFill>
                <a:srgbClr val="000000"/>
              </a:solidFill>
              <a:latin typeface="Oswald Bold"/>
              <a:ea typeface="Oswald Bold"/>
              <a:cs typeface="Oswald Bold"/>
              <a:sym typeface="Oswald Bold"/>
            </a:endParaRPr>
          </a:p>
        </p:txBody>
      </p:sp>
      <p:sp>
        <p:nvSpPr>
          <p:cNvPr id="7" name="TextBox 7"/>
          <p:cNvSpPr txBox="1"/>
          <p:nvPr/>
        </p:nvSpPr>
        <p:spPr>
          <a:xfrm>
            <a:off x="242388" y="3946276"/>
            <a:ext cx="10320122" cy="5558199"/>
          </a:xfrm>
          <a:prstGeom prst="rect">
            <a:avLst/>
          </a:prstGeom>
        </p:spPr>
        <p:txBody>
          <a:bodyPr lIns="0" tIns="0" rIns="0" bIns="0" rtlCol="0" anchor="t">
            <a:spAutoFit/>
          </a:bodyPr>
          <a:lstStyle/>
          <a:p>
            <a:pPr algn="l">
              <a:lnSpc>
                <a:spcPts val="3392"/>
              </a:lnSpc>
            </a:pPr>
            <a:r>
              <a:rPr lang="en-US" sz="2423" b="1" dirty="0">
                <a:solidFill>
                  <a:srgbClr val="000000"/>
                </a:solidFill>
                <a:latin typeface="Decalotype Bold"/>
                <a:ea typeface="Decalotype Bold"/>
                <a:cs typeface="Decalotype Bold"/>
                <a:sym typeface="Decalotype Bold"/>
              </a:rPr>
              <a:t> 1.Administrative Data (Internal):</a:t>
            </a:r>
          </a:p>
          <a:p>
            <a:pPr algn="just">
              <a:lnSpc>
                <a:spcPts val="3392"/>
              </a:lnSpc>
            </a:pPr>
            <a:r>
              <a:rPr lang="en-US" sz="2423" dirty="0">
                <a:solidFill>
                  <a:srgbClr val="000000"/>
                </a:solidFill>
                <a:latin typeface="Decalotype"/>
                <a:ea typeface="Decalotype"/>
                <a:cs typeface="Decalotype"/>
                <a:sym typeface="Decalotype"/>
              </a:rPr>
              <a:t>• Consists of organizational data from the initiative, including production    </a:t>
            </a:r>
          </a:p>
          <a:p>
            <a:pPr algn="just">
              <a:lnSpc>
                <a:spcPts val="3392"/>
              </a:lnSpc>
            </a:pPr>
            <a:r>
              <a:rPr lang="en-US" sz="2423" dirty="0">
                <a:solidFill>
                  <a:srgbClr val="000000"/>
                </a:solidFill>
                <a:latin typeface="Decalotype"/>
                <a:ea typeface="Decalotype"/>
                <a:cs typeface="Decalotype"/>
                <a:sym typeface="Decalotype"/>
              </a:rPr>
              <a:t>targets, employee shifts, and resource schedules.</a:t>
            </a:r>
          </a:p>
          <a:p>
            <a:pPr algn="just">
              <a:lnSpc>
                <a:spcPts val="3392"/>
              </a:lnSpc>
            </a:pPr>
            <a:endParaRPr lang="en-US" sz="2423" dirty="0">
              <a:solidFill>
                <a:srgbClr val="000000"/>
              </a:solidFill>
              <a:latin typeface="Decalotype"/>
              <a:ea typeface="Decalotype"/>
              <a:cs typeface="Decalotype"/>
              <a:sym typeface="Decalotype"/>
            </a:endParaRPr>
          </a:p>
          <a:p>
            <a:pPr algn="just">
              <a:lnSpc>
                <a:spcPts val="3392"/>
              </a:lnSpc>
            </a:pPr>
            <a:r>
              <a:rPr lang="en-US" sz="2423" b="1" dirty="0">
                <a:solidFill>
                  <a:srgbClr val="000000"/>
                </a:solidFill>
                <a:latin typeface="Decalotype Bold"/>
                <a:ea typeface="Decalotype Bold"/>
                <a:cs typeface="Decalotype Bold"/>
                <a:sym typeface="Decalotype Bold"/>
              </a:rPr>
              <a:t> 2. Operational Data (External):</a:t>
            </a:r>
            <a:r>
              <a:rPr lang="en-US" sz="2423" dirty="0">
                <a:solidFill>
                  <a:srgbClr val="000000"/>
                </a:solidFill>
                <a:latin typeface="Decalotype"/>
                <a:ea typeface="Decalotype"/>
                <a:cs typeface="Decalotype"/>
                <a:sym typeface="Decalotype"/>
              </a:rPr>
              <a:t> </a:t>
            </a:r>
          </a:p>
          <a:p>
            <a:pPr algn="just">
              <a:lnSpc>
                <a:spcPts val="3392"/>
              </a:lnSpc>
            </a:pPr>
            <a:r>
              <a:rPr lang="en-US" sz="2423" dirty="0">
                <a:solidFill>
                  <a:srgbClr val="000000"/>
                </a:solidFill>
                <a:latin typeface="Decalotype"/>
                <a:ea typeface="Decalotype"/>
                <a:cs typeface="Decalotype"/>
                <a:sym typeface="Decalotype"/>
              </a:rPr>
              <a:t>•Sourced from Kaggle, consisting of real-time machine performance, sensor readings (temperature/pressure), and actual production output.</a:t>
            </a:r>
          </a:p>
          <a:p>
            <a:pPr algn="just">
              <a:lnSpc>
                <a:spcPts val="3392"/>
              </a:lnSpc>
            </a:pPr>
            <a:r>
              <a:rPr lang="en-US" sz="2423" dirty="0">
                <a:solidFill>
                  <a:srgbClr val="000000"/>
                </a:solidFill>
                <a:latin typeface="Decalotype"/>
                <a:ea typeface="Decalotype"/>
                <a:cs typeface="Decalotype"/>
                <a:sym typeface="Decalotype"/>
              </a:rPr>
              <a:t>• Data Link:  https://www.kaggle.com/datasets/ziya07/manufacturing-production-data</a:t>
            </a:r>
          </a:p>
          <a:p>
            <a:pPr algn="just">
              <a:lnSpc>
                <a:spcPts val="3392"/>
              </a:lnSpc>
            </a:pPr>
            <a:endParaRPr lang="en-US" sz="2423" dirty="0">
              <a:solidFill>
                <a:srgbClr val="000000"/>
              </a:solidFill>
              <a:latin typeface="Decalotype"/>
              <a:ea typeface="Decalotype"/>
              <a:cs typeface="Decalotype"/>
              <a:sym typeface="Decalotype"/>
            </a:endParaRPr>
          </a:p>
          <a:p>
            <a:pPr algn="just">
              <a:lnSpc>
                <a:spcPts val="3392"/>
              </a:lnSpc>
            </a:pPr>
            <a:r>
              <a:rPr lang="en-US" sz="2423" b="1" dirty="0">
                <a:solidFill>
                  <a:srgbClr val="000000"/>
                </a:solidFill>
                <a:latin typeface="Decalotype Bold"/>
                <a:ea typeface="Decalotype Bold"/>
                <a:cs typeface="Decalotype Bold"/>
                <a:sym typeface="Decalotype Bold"/>
              </a:rPr>
              <a:t>3. Method:</a:t>
            </a:r>
            <a:r>
              <a:rPr lang="en-US" sz="2423" dirty="0">
                <a:solidFill>
                  <a:srgbClr val="000000"/>
                </a:solidFill>
                <a:latin typeface="Decalotype"/>
                <a:ea typeface="Decalotype"/>
                <a:cs typeface="Decalotype"/>
                <a:sym typeface="Decalotype"/>
              </a:rPr>
              <a:t> </a:t>
            </a:r>
          </a:p>
          <a:p>
            <a:pPr algn="just">
              <a:lnSpc>
                <a:spcPts val="3392"/>
              </a:lnSpc>
            </a:pPr>
            <a:r>
              <a:rPr lang="en-US" sz="2423" dirty="0">
                <a:solidFill>
                  <a:srgbClr val="000000"/>
                </a:solidFill>
                <a:latin typeface="Decalotype"/>
                <a:ea typeface="Decalotype"/>
                <a:cs typeface="Decalotype"/>
                <a:sym typeface="Decalotype"/>
              </a:rPr>
              <a:t>• Data was extracted and imported into Power BI using Power Query to integrate internal administrative files with external operational datasets.</a:t>
            </a:r>
          </a:p>
          <a:p>
            <a:pPr algn="ctr">
              <a:lnSpc>
                <a:spcPts val="3392"/>
              </a:lnSpc>
              <a:spcBef>
                <a:spcPct val="0"/>
              </a:spcBef>
            </a:pPr>
            <a:endParaRPr lang="en-US" sz="2423" dirty="0">
              <a:solidFill>
                <a:srgbClr val="000000"/>
              </a:solidFill>
              <a:latin typeface="Decalotype"/>
              <a:ea typeface="Decalotype"/>
              <a:cs typeface="Decalotype"/>
              <a:sym typeface="Decalotype"/>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fade">
                                      <p:cBhvr>
                                        <p:cTn id="15" dur="500"/>
                                        <p:tgtEl>
                                          <p:spTgt spid="7">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xEl>
                                              <p:pRg st="1" end="1"/>
                                            </p:txEl>
                                          </p:spTgt>
                                        </p:tgtEl>
                                        <p:attrNameLst>
                                          <p:attrName>style.visibility</p:attrName>
                                        </p:attrNameLst>
                                      </p:cBhvr>
                                      <p:to>
                                        <p:strVal val="visible"/>
                                      </p:to>
                                    </p:set>
                                    <p:animEffect transition="in" filter="fade">
                                      <p:cBhvr>
                                        <p:cTn id="18" dur="500"/>
                                        <p:tgtEl>
                                          <p:spTgt spid="7">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500"/>
                                        <p:tgtEl>
                                          <p:spTgt spid="7">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
                                            <p:txEl>
                                              <p:pRg st="4" end="4"/>
                                            </p:txEl>
                                          </p:spTgt>
                                        </p:tgtEl>
                                        <p:attrNameLst>
                                          <p:attrName>style.visibility</p:attrName>
                                        </p:attrNameLst>
                                      </p:cBhvr>
                                      <p:to>
                                        <p:strVal val="visible"/>
                                      </p:to>
                                    </p:set>
                                    <p:animEffect transition="in" filter="fade">
                                      <p:cBhvr>
                                        <p:cTn id="26" dur="500"/>
                                        <p:tgtEl>
                                          <p:spTgt spid="7">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7">
                                            <p:txEl>
                                              <p:pRg st="5" end="5"/>
                                            </p:txEl>
                                          </p:spTgt>
                                        </p:tgtEl>
                                        <p:attrNameLst>
                                          <p:attrName>style.visibility</p:attrName>
                                        </p:attrNameLst>
                                      </p:cBhvr>
                                      <p:to>
                                        <p:strVal val="visible"/>
                                      </p:to>
                                    </p:set>
                                    <p:animEffect transition="in" filter="fade">
                                      <p:cBhvr>
                                        <p:cTn id="29" dur="500"/>
                                        <p:tgtEl>
                                          <p:spTgt spid="7">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fade">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8" end="8"/>
                                            </p:txEl>
                                          </p:spTgt>
                                        </p:tgtEl>
                                        <p:attrNameLst>
                                          <p:attrName>style.visibility</p:attrName>
                                        </p:attrNameLst>
                                      </p:cBhvr>
                                      <p:to>
                                        <p:strVal val="visible"/>
                                      </p:to>
                                    </p:set>
                                    <p:animEffect transition="in" filter="fade">
                                      <p:cBhvr>
                                        <p:cTn id="37" dur="500"/>
                                        <p:tgtEl>
                                          <p:spTgt spid="7">
                                            <p:txEl>
                                              <p:pRg st="8" end="8"/>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7">
                                            <p:txEl>
                                              <p:pRg st="9" end="9"/>
                                            </p:txEl>
                                          </p:spTgt>
                                        </p:tgtEl>
                                        <p:attrNameLst>
                                          <p:attrName>style.visibility</p:attrName>
                                        </p:attrNameLst>
                                      </p:cBhvr>
                                      <p:to>
                                        <p:strVal val="visible"/>
                                      </p:to>
                                    </p:set>
                                    <p:animEffect transition="in" filter="fade">
                                      <p:cBhvr>
                                        <p:cTn id="40"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a:p>
        </p:txBody>
      </p:sp>
      <p:sp>
        <p:nvSpPr>
          <p:cNvPr id="3" name="TextBox 3"/>
          <p:cNvSpPr txBox="1"/>
          <p:nvPr/>
        </p:nvSpPr>
        <p:spPr>
          <a:xfrm>
            <a:off x="381000" y="266700"/>
            <a:ext cx="7861306" cy="1949252"/>
          </a:xfrm>
          <a:prstGeom prst="rect">
            <a:avLst/>
          </a:prstGeom>
        </p:spPr>
        <p:txBody>
          <a:bodyPr wrap="square" lIns="0" tIns="0" rIns="0" bIns="0" rtlCol="0" anchor="t">
            <a:spAutoFit/>
          </a:bodyPr>
          <a:lstStyle/>
          <a:p>
            <a:pPr algn="l">
              <a:lnSpc>
                <a:spcPts val="7608"/>
              </a:lnSpc>
            </a:pPr>
            <a:r>
              <a:rPr lang="en-US" sz="6854" b="1" dirty="0">
                <a:solidFill>
                  <a:srgbClr val="000000"/>
                </a:solidFill>
                <a:latin typeface="Gagalin" panose="020B0604020202020204" charset="0"/>
                <a:ea typeface="Oswald Bold"/>
                <a:cs typeface="Oswald Bold"/>
                <a:sym typeface="Oswald Bold"/>
              </a:rPr>
              <a:t>Problem Definition</a:t>
            </a:r>
          </a:p>
          <a:p>
            <a:pPr marL="0" lvl="0" indent="0" algn="l">
              <a:lnSpc>
                <a:spcPts val="7608"/>
              </a:lnSpc>
            </a:pPr>
            <a:endParaRPr lang="en-US" sz="6854" b="1" dirty="0">
              <a:solidFill>
                <a:srgbClr val="000000"/>
              </a:solidFill>
              <a:latin typeface="Oswald Bold"/>
              <a:ea typeface="Oswald Bold"/>
              <a:cs typeface="Oswald Bold"/>
              <a:sym typeface="Oswald Bold"/>
            </a:endParaRPr>
          </a:p>
        </p:txBody>
      </p:sp>
      <p:sp>
        <p:nvSpPr>
          <p:cNvPr id="4" name="TextBox 4"/>
          <p:cNvSpPr txBox="1"/>
          <p:nvPr/>
        </p:nvSpPr>
        <p:spPr>
          <a:xfrm>
            <a:off x="659763" y="1596826"/>
            <a:ext cx="9617619" cy="8524000"/>
          </a:xfrm>
          <a:prstGeom prst="rect">
            <a:avLst/>
          </a:prstGeom>
        </p:spPr>
        <p:txBody>
          <a:bodyPr lIns="0" tIns="0" rIns="0" bIns="0" rtlCol="0" anchor="t">
            <a:spAutoFit/>
          </a:bodyPr>
          <a:lstStyle/>
          <a:p>
            <a:pPr algn="l">
              <a:lnSpc>
                <a:spcPts val="3554"/>
              </a:lnSpc>
            </a:pPr>
            <a:r>
              <a:rPr lang="en-US" sz="2538" b="1" dirty="0">
                <a:solidFill>
                  <a:srgbClr val="000000"/>
                </a:solidFill>
                <a:latin typeface="Decalotype Bold"/>
                <a:ea typeface="Decalotype Bold"/>
                <a:cs typeface="Decalotype Bold"/>
                <a:sym typeface="Decalotype Bold"/>
              </a:rPr>
              <a:t>1.   Project Objective</a:t>
            </a:r>
          </a:p>
          <a:p>
            <a:pPr algn="l">
              <a:lnSpc>
                <a:spcPts val="3274"/>
              </a:lnSpc>
            </a:pPr>
            <a:r>
              <a:rPr lang="en-US" sz="2338" dirty="0">
                <a:solidFill>
                  <a:srgbClr val="000000"/>
                </a:solidFill>
                <a:latin typeface="Decalotype"/>
                <a:ea typeface="Decalotype"/>
                <a:cs typeface="Decalotype"/>
                <a:sym typeface="Decalotype"/>
              </a:rPr>
              <a:t>• To analyze the alignment between administrative planning and shop-floor operations to identify production bottlenecks and optimize resource utilization.</a:t>
            </a:r>
          </a:p>
          <a:p>
            <a:pPr algn="l">
              <a:lnSpc>
                <a:spcPts val="3274"/>
              </a:lnSpc>
            </a:pPr>
            <a:endParaRPr lang="en-US" sz="2338" dirty="0">
              <a:solidFill>
                <a:srgbClr val="000000"/>
              </a:solidFill>
              <a:latin typeface="Decalotype"/>
              <a:ea typeface="Decalotype"/>
              <a:cs typeface="Decalotype"/>
              <a:sym typeface="Decalotype"/>
            </a:endParaRPr>
          </a:p>
          <a:p>
            <a:pPr algn="l">
              <a:lnSpc>
                <a:spcPts val="3414"/>
              </a:lnSpc>
            </a:pPr>
            <a:r>
              <a:rPr lang="en-US" sz="2438" b="1" dirty="0">
                <a:solidFill>
                  <a:srgbClr val="000000"/>
                </a:solidFill>
                <a:latin typeface="Decalotype Bold"/>
                <a:ea typeface="Decalotype Bold"/>
                <a:cs typeface="Decalotype Bold"/>
                <a:sym typeface="Decalotype Bold"/>
              </a:rPr>
              <a:t>2.   Business Questions</a:t>
            </a:r>
          </a:p>
          <a:p>
            <a:pPr algn="l">
              <a:lnSpc>
                <a:spcPts val="3274"/>
              </a:lnSpc>
            </a:pPr>
            <a:r>
              <a:rPr lang="en-US" sz="2338" dirty="0">
                <a:solidFill>
                  <a:srgbClr val="000000"/>
                </a:solidFill>
                <a:latin typeface="Decalotype"/>
                <a:ea typeface="Decalotype"/>
                <a:cs typeface="Decalotype"/>
                <a:sym typeface="Decalotype"/>
              </a:rPr>
              <a:t>•  How does the actual production output compare to the administrative targets?</a:t>
            </a:r>
          </a:p>
          <a:p>
            <a:pPr algn="l">
              <a:lnSpc>
                <a:spcPts val="3274"/>
              </a:lnSpc>
            </a:pPr>
            <a:r>
              <a:rPr lang="en-US" sz="2338" dirty="0">
                <a:solidFill>
                  <a:srgbClr val="000000"/>
                </a:solidFill>
                <a:latin typeface="Decalotype"/>
                <a:ea typeface="Decalotype"/>
                <a:cs typeface="Decalotype"/>
                <a:sym typeface="Decalotype"/>
              </a:rPr>
              <a:t>•  What are the main causes of machine downtime or operational delays? </a:t>
            </a:r>
          </a:p>
          <a:p>
            <a:pPr algn="l">
              <a:lnSpc>
                <a:spcPts val="3274"/>
              </a:lnSpc>
            </a:pPr>
            <a:r>
              <a:rPr lang="en-US" sz="2338" dirty="0">
                <a:solidFill>
                  <a:srgbClr val="000000"/>
                </a:solidFill>
                <a:latin typeface="Decalotype"/>
                <a:ea typeface="Decalotype"/>
                <a:cs typeface="Decalotype"/>
                <a:sym typeface="Decalotype"/>
              </a:rPr>
              <a:t>•  Which production lines show the highest efficiency and which need maintenance?</a:t>
            </a:r>
          </a:p>
          <a:p>
            <a:pPr algn="l">
              <a:lnSpc>
                <a:spcPts val="3274"/>
              </a:lnSpc>
            </a:pPr>
            <a:endParaRPr lang="en-US" sz="2338" dirty="0">
              <a:solidFill>
                <a:srgbClr val="000000"/>
              </a:solidFill>
              <a:latin typeface="Decalotype"/>
              <a:ea typeface="Decalotype"/>
              <a:cs typeface="Decalotype"/>
              <a:sym typeface="Decalotype"/>
            </a:endParaRPr>
          </a:p>
          <a:p>
            <a:pPr algn="l">
              <a:lnSpc>
                <a:spcPts val="3554"/>
              </a:lnSpc>
            </a:pPr>
            <a:r>
              <a:rPr lang="en-US" sz="2538" b="1" dirty="0">
                <a:solidFill>
                  <a:srgbClr val="000000"/>
                </a:solidFill>
                <a:latin typeface="Decalotype Bold"/>
                <a:ea typeface="Decalotype Bold"/>
                <a:cs typeface="Decalotype Bold"/>
                <a:sym typeface="Decalotype Bold"/>
              </a:rPr>
              <a:t>3.   Key Performance Indicators – KPIs</a:t>
            </a:r>
          </a:p>
          <a:p>
            <a:pPr algn="l">
              <a:lnSpc>
                <a:spcPts val="3274"/>
              </a:lnSpc>
            </a:pPr>
            <a:r>
              <a:rPr lang="en-US" sz="2338" dirty="0">
                <a:solidFill>
                  <a:srgbClr val="000000"/>
                </a:solidFill>
                <a:latin typeface="Decalotype"/>
                <a:ea typeface="Decalotype"/>
                <a:cs typeface="Decalotype"/>
                <a:sym typeface="Decalotype"/>
              </a:rPr>
              <a:t>•  OEE (Overall Equipment Effectiveness)</a:t>
            </a:r>
          </a:p>
          <a:p>
            <a:pPr algn="l">
              <a:lnSpc>
                <a:spcPts val="3274"/>
              </a:lnSpc>
            </a:pPr>
            <a:r>
              <a:rPr lang="en-US" sz="2338" dirty="0">
                <a:solidFill>
                  <a:srgbClr val="000000"/>
                </a:solidFill>
                <a:latin typeface="Decalotype"/>
                <a:ea typeface="Decalotype"/>
                <a:cs typeface="Decalotype"/>
                <a:sym typeface="Decalotype"/>
              </a:rPr>
              <a:t>• Production Yield </a:t>
            </a:r>
          </a:p>
          <a:p>
            <a:pPr algn="l">
              <a:lnSpc>
                <a:spcPts val="3274"/>
              </a:lnSpc>
            </a:pPr>
            <a:r>
              <a:rPr lang="en-US" sz="2338" dirty="0">
                <a:solidFill>
                  <a:srgbClr val="000000"/>
                </a:solidFill>
                <a:latin typeface="Decalotype"/>
                <a:ea typeface="Decalotype"/>
                <a:cs typeface="Decalotype"/>
                <a:sym typeface="Decalotype"/>
              </a:rPr>
              <a:t>• Downtime Rate</a:t>
            </a:r>
          </a:p>
          <a:p>
            <a:pPr algn="l">
              <a:lnSpc>
                <a:spcPts val="3274"/>
              </a:lnSpc>
            </a:pPr>
            <a:r>
              <a:rPr lang="en-US" sz="2338" dirty="0">
                <a:solidFill>
                  <a:srgbClr val="000000"/>
                </a:solidFill>
                <a:latin typeface="Decalotype"/>
                <a:ea typeface="Decalotype"/>
                <a:cs typeface="Decalotype"/>
                <a:sym typeface="Decalotype"/>
              </a:rPr>
              <a:t>• Cycle Time</a:t>
            </a:r>
          </a:p>
          <a:p>
            <a:pPr algn="l">
              <a:lnSpc>
                <a:spcPts val="3274"/>
              </a:lnSpc>
            </a:pPr>
            <a:endParaRPr lang="en-US" sz="2338" dirty="0">
              <a:solidFill>
                <a:srgbClr val="000000"/>
              </a:solidFill>
              <a:latin typeface="Decalotype"/>
              <a:ea typeface="Decalotype"/>
              <a:cs typeface="Decalotype"/>
              <a:sym typeface="Decalotype"/>
            </a:endParaRPr>
          </a:p>
          <a:p>
            <a:pPr algn="l">
              <a:lnSpc>
                <a:spcPts val="3554"/>
              </a:lnSpc>
            </a:pPr>
            <a:r>
              <a:rPr lang="en-US" sz="2538" b="1" dirty="0">
                <a:solidFill>
                  <a:srgbClr val="000000"/>
                </a:solidFill>
                <a:latin typeface="Decalotype Bold"/>
                <a:ea typeface="Decalotype Bold"/>
                <a:cs typeface="Decalotype Bold"/>
                <a:sym typeface="Decalotype Bold"/>
              </a:rPr>
              <a:t>4.   Target Audience </a:t>
            </a:r>
          </a:p>
          <a:p>
            <a:pPr algn="l">
              <a:lnSpc>
                <a:spcPts val="3274"/>
              </a:lnSpc>
            </a:pPr>
            <a:r>
              <a:rPr lang="en-US" sz="2338" dirty="0">
                <a:solidFill>
                  <a:srgbClr val="000000"/>
                </a:solidFill>
                <a:latin typeface="Decalotype"/>
                <a:ea typeface="Decalotype"/>
                <a:cs typeface="Decalotype"/>
                <a:sym typeface="Decalotype"/>
              </a:rPr>
              <a:t>• Operations Managers </a:t>
            </a:r>
          </a:p>
          <a:p>
            <a:pPr algn="l">
              <a:lnSpc>
                <a:spcPts val="3274"/>
              </a:lnSpc>
            </a:pPr>
            <a:r>
              <a:rPr lang="en-US" sz="2338" dirty="0">
                <a:solidFill>
                  <a:srgbClr val="000000"/>
                </a:solidFill>
                <a:latin typeface="Decalotype"/>
                <a:ea typeface="Decalotype"/>
                <a:cs typeface="Decalotype"/>
                <a:sym typeface="Decalotype"/>
              </a:rPr>
              <a:t>• Production Supervisors</a:t>
            </a:r>
          </a:p>
          <a:p>
            <a:pPr algn="l">
              <a:lnSpc>
                <a:spcPts val="3274"/>
              </a:lnSpc>
            </a:pPr>
            <a:r>
              <a:rPr lang="en-US" sz="2338" dirty="0">
                <a:solidFill>
                  <a:srgbClr val="000000"/>
                </a:solidFill>
                <a:latin typeface="Decalotype"/>
                <a:ea typeface="Decalotype"/>
                <a:cs typeface="Decalotype"/>
                <a:sym typeface="Decalotype"/>
              </a:rPr>
              <a:t>• Supply Chain &amp; Administrative Planners</a:t>
            </a:r>
          </a:p>
          <a:p>
            <a:pPr algn="just">
              <a:lnSpc>
                <a:spcPts val="3134"/>
              </a:lnSpc>
              <a:spcBef>
                <a:spcPct val="0"/>
              </a:spcBef>
            </a:pPr>
            <a:endParaRPr lang="en-US" sz="2338" dirty="0">
              <a:solidFill>
                <a:srgbClr val="000000"/>
              </a:solidFill>
              <a:latin typeface="Decalotype"/>
              <a:ea typeface="Decalotype"/>
              <a:cs typeface="Decalotype"/>
              <a:sym typeface="Decalotype"/>
            </a:endParaRPr>
          </a:p>
        </p:txBody>
      </p:sp>
      <p:sp>
        <p:nvSpPr>
          <p:cNvPr id="5" name="Freeform 5"/>
          <p:cNvSpPr/>
          <p:nvPr/>
        </p:nvSpPr>
        <p:spPr>
          <a:xfrm>
            <a:off x="10068832" y="2384264"/>
            <a:ext cx="8219168" cy="6784549"/>
          </a:xfrm>
          <a:custGeom>
            <a:avLst/>
            <a:gdLst/>
            <a:ahLst/>
            <a:cxnLst/>
            <a:rect l="l" t="t" r="r" b="b"/>
            <a:pathLst>
              <a:path w="8219168" h="6784549">
                <a:moveTo>
                  <a:pt x="0" y="0"/>
                </a:moveTo>
                <a:lnTo>
                  <a:pt x="8219168" y="0"/>
                </a:lnTo>
                <a:lnTo>
                  <a:pt x="8219168" y="6784549"/>
                </a:lnTo>
                <a:lnTo>
                  <a:pt x="0" y="6784549"/>
                </a:lnTo>
                <a:lnTo>
                  <a:pt x="0" y="0"/>
                </a:lnTo>
                <a:close/>
              </a:path>
            </a:pathLst>
          </a:custGeom>
          <a:blipFill>
            <a:blip r:embed="rId3"/>
            <a:stretch>
              <a:fillRect/>
            </a:stretch>
          </a:blipFill>
          <a:ln cap="sq">
            <a:noFill/>
            <a:prstDash val="solid"/>
            <a:miter/>
          </a:ln>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
                                            <p:txEl>
                                              <p:pRg st="8" end="8"/>
                                            </p:txEl>
                                          </p:spTgt>
                                        </p:tgtEl>
                                        <p:attrNameLst>
                                          <p:attrName>style.visibility</p:attrName>
                                        </p:attrNameLst>
                                      </p:cBhvr>
                                      <p:to>
                                        <p:strVal val="visible"/>
                                      </p:to>
                                    </p:set>
                                    <p:animEffect transition="in" filter="fade">
                                      <p:cBhvr>
                                        <p:cTn id="34" dur="500"/>
                                        <p:tgtEl>
                                          <p:spTgt spid="4">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animEffect transition="in" filter="fade">
                                      <p:cBhvr>
                                        <p:cTn id="37" dur="500"/>
                                        <p:tgtEl>
                                          <p:spTgt spid="4">
                                            <p:txEl>
                                              <p:pRg st="9" end="9"/>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10" end="10"/>
                                            </p:txEl>
                                          </p:spTgt>
                                        </p:tgtEl>
                                        <p:attrNameLst>
                                          <p:attrName>style.visibility</p:attrName>
                                        </p:attrNameLst>
                                      </p:cBhvr>
                                      <p:to>
                                        <p:strVal val="visible"/>
                                      </p:to>
                                    </p:set>
                                    <p:animEffect transition="in" filter="fade">
                                      <p:cBhvr>
                                        <p:cTn id="40" dur="500"/>
                                        <p:tgtEl>
                                          <p:spTgt spid="4">
                                            <p:txEl>
                                              <p:pRg st="10" end="1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animEffect transition="in" filter="fade">
                                      <p:cBhvr>
                                        <p:cTn id="43" dur="500"/>
                                        <p:tgtEl>
                                          <p:spTgt spid="4">
                                            <p:txEl>
                                              <p:pRg st="11" end="11"/>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
                                            <p:txEl>
                                              <p:pRg st="12" end="12"/>
                                            </p:txEl>
                                          </p:spTgt>
                                        </p:tgtEl>
                                        <p:attrNameLst>
                                          <p:attrName>style.visibility</p:attrName>
                                        </p:attrNameLst>
                                      </p:cBhvr>
                                      <p:to>
                                        <p:strVal val="visible"/>
                                      </p:to>
                                    </p:set>
                                    <p:animEffect transition="in" filter="fade">
                                      <p:cBhvr>
                                        <p:cTn id="46" dur="500"/>
                                        <p:tgtEl>
                                          <p:spTgt spid="4">
                                            <p:txEl>
                                              <p:pRg st="12" end="1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4">
                                            <p:txEl>
                                              <p:pRg st="14" end="14"/>
                                            </p:txEl>
                                          </p:spTgt>
                                        </p:tgtEl>
                                        <p:attrNameLst>
                                          <p:attrName>style.visibility</p:attrName>
                                        </p:attrNameLst>
                                      </p:cBhvr>
                                      <p:to>
                                        <p:strVal val="visible"/>
                                      </p:to>
                                    </p:set>
                                    <p:animEffect transition="in" filter="fade">
                                      <p:cBhvr>
                                        <p:cTn id="51" dur="500"/>
                                        <p:tgtEl>
                                          <p:spTgt spid="4">
                                            <p:txEl>
                                              <p:pRg st="14" end="14"/>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4">
                                            <p:txEl>
                                              <p:pRg st="15" end="15"/>
                                            </p:txEl>
                                          </p:spTgt>
                                        </p:tgtEl>
                                        <p:attrNameLst>
                                          <p:attrName>style.visibility</p:attrName>
                                        </p:attrNameLst>
                                      </p:cBhvr>
                                      <p:to>
                                        <p:strVal val="visible"/>
                                      </p:to>
                                    </p:set>
                                    <p:animEffect transition="in" filter="fade">
                                      <p:cBhvr>
                                        <p:cTn id="54" dur="500"/>
                                        <p:tgtEl>
                                          <p:spTgt spid="4">
                                            <p:txEl>
                                              <p:pRg st="15" end="15"/>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4">
                                            <p:txEl>
                                              <p:pRg st="16" end="16"/>
                                            </p:txEl>
                                          </p:spTgt>
                                        </p:tgtEl>
                                        <p:attrNameLst>
                                          <p:attrName>style.visibility</p:attrName>
                                        </p:attrNameLst>
                                      </p:cBhvr>
                                      <p:to>
                                        <p:strVal val="visible"/>
                                      </p:to>
                                    </p:set>
                                    <p:animEffect transition="in" filter="fade">
                                      <p:cBhvr>
                                        <p:cTn id="57" dur="500"/>
                                        <p:tgtEl>
                                          <p:spTgt spid="4">
                                            <p:txEl>
                                              <p:pRg st="16" end="16"/>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4">
                                            <p:txEl>
                                              <p:pRg st="17" end="17"/>
                                            </p:txEl>
                                          </p:spTgt>
                                        </p:tgtEl>
                                        <p:attrNameLst>
                                          <p:attrName>style.visibility</p:attrName>
                                        </p:attrNameLst>
                                      </p:cBhvr>
                                      <p:to>
                                        <p:strVal val="visible"/>
                                      </p:to>
                                    </p:set>
                                    <p:animEffect transition="in" filter="fade">
                                      <p:cBhvr>
                                        <p:cTn id="60" dur="500"/>
                                        <p:tgtEl>
                                          <p:spTgt spid="4">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5111" b="-15111"/>
            </a:stretch>
          </a:blipFill>
        </p:spPr>
        <p:txBody>
          <a:bodyPr/>
          <a:lstStyle/>
          <a:p>
            <a:endParaRPr lang="en-US" dirty="0"/>
          </a:p>
        </p:txBody>
      </p:sp>
      <p:sp>
        <p:nvSpPr>
          <p:cNvPr id="3" name="TextBox 3"/>
          <p:cNvSpPr txBox="1"/>
          <p:nvPr/>
        </p:nvSpPr>
        <p:spPr>
          <a:xfrm>
            <a:off x="4922854" y="239753"/>
            <a:ext cx="6602200" cy="1831544"/>
          </a:xfrm>
          <a:prstGeom prst="rect">
            <a:avLst/>
          </a:prstGeom>
        </p:spPr>
        <p:txBody>
          <a:bodyPr lIns="0" tIns="0" rIns="0" bIns="0" rtlCol="0" anchor="t">
            <a:spAutoFit/>
          </a:bodyPr>
          <a:lstStyle/>
          <a:p>
            <a:pPr algn="l">
              <a:lnSpc>
                <a:spcPts val="7182"/>
              </a:lnSpc>
            </a:pPr>
            <a:r>
              <a:rPr lang="en-US" sz="6470" b="1" dirty="0">
                <a:solidFill>
                  <a:srgbClr val="000000"/>
                </a:solidFill>
                <a:latin typeface="Gagalin" panose="020B0604020202020204" charset="0"/>
                <a:ea typeface="Oswald Bold"/>
                <a:cs typeface="Oswald Bold"/>
                <a:sym typeface="Oswald Bold"/>
              </a:rPr>
              <a:t>Business Question</a:t>
            </a:r>
          </a:p>
          <a:p>
            <a:pPr marL="0" lvl="0" indent="0" algn="l">
              <a:lnSpc>
                <a:spcPts val="7182"/>
              </a:lnSpc>
            </a:pPr>
            <a:endParaRPr lang="en-US" sz="6470" b="1" dirty="0">
              <a:solidFill>
                <a:srgbClr val="000000"/>
              </a:solidFill>
              <a:latin typeface="Oswald Bold"/>
              <a:ea typeface="Oswald Bold"/>
              <a:cs typeface="Oswald Bold"/>
              <a:sym typeface="Oswald Bold"/>
            </a:endParaRPr>
          </a:p>
        </p:txBody>
      </p:sp>
      <p:sp>
        <p:nvSpPr>
          <p:cNvPr id="5" name="Freeform 5"/>
          <p:cNvSpPr/>
          <p:nvPr/>
        </p:nvSpPr>
        <p:spPr>
          <a:xfrm>
            <a:off x="11658600" y="-15977"/>
            <a:ext cx="1034815" cy="1217429"/>
          </a:xfrm>
          <a:custGeom>
            <a:avLst/>
            <a:gdLst/>
            <a:ahLst/>
            <a:cxnLst/>
            <a:rect l="l" t="t" r="r" b="b"/>
            <a:pathLst>
              <a:path w="1034815" h="1217429">
                <a:moveTo>
                  <a:pt x="0" y="0"/>
                </a:moveTo>
                <a:lnTo>
                  <a:pt x="1034815" y="0"/>
                </a:lnTo>
                <a:lnTo>
                  <a:pt x="1034815" y="1217429"/>
                </a:lnTo>
                <a:lnTo>
                  <a:pt x="0" y="12174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dirty="0"/>
          </a:p>
        </p:txBody>
      </p:sp>
      <p:sp>
        <p:nvSpPr>
          <p:cNvPr id="6" name="Freeform 6"/>
          <p:cNvSpPr/>
          <p:nvPr/>
        </p:nvSpPr>
        <p:spPr>
          <a:xfrm>
            <a:off x="11960508" y="7534017"/>
            <a:ext cx="6461038" cy="3154804"/>
          </a:xfrm>
          <a:custGeom>
            <a:avLst/>
            <a:gdLst/>
            <a:ahLst/>
            <a:cxnLst/>
            <a:rect l="l" t="t" r="r" b="b"/>
            <a:pathLst>
              <a:path w="6461038" h="3154804">
                <a:moveTo>
                  <a:pt x="0" y="0"/>
                </a:moveTo>
                <a:lnTo>
                  <a:pt x="6461037" y="0"/>
                </a:lnTo>
                <a:lnTo>
                  <a:pt x="6461037" y="3154804"/>
                </a:lnTo>
                <a:lnTo>
                  <a:pt x="0" y="31548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4652241" y="-2362566"/>
            <a:ext cx="5214119" cy="5204638"/>
          </a:xfrm>
          <a:custGeom>
            <a:avLst/>
            <a:gdLst/>
            <a:ahLst/>
            <a:cxnLst/>
            <a:rect l="l" t="t" r="r" b="b"/>
            <a:pathLst>
              <a:path w="5214119" h="5204638">
                <a:moveTo>
                  <a:pt x="0" y="0"/>
                </a:moveTo>
                <a:lnTo>
                  <a:pt x="5214118" y="0"/>
                </a:lnTo>
                <a:lnTo>
                  <a:pt x="5214118" y="5204639"/>
                </a:lnTo>
                <a:lnTo>
                  <a:pt x="0" y="520463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Rectangle: Rounded Corners 9">
            <a:extLst>
              <a:ext uri="{FF2B5EF4-FFF2-40B4-BE49-F238E27FC236}">
                <a16:creationId xmlns:a16="http://schemas.microsoft.com/office/drawing/2014/main" id="{3988F24D-458A-F249-DD4F-5803D4F5F739}"/>
              </a:ext>
            </a:extLst>
          </p:cNvPr>
          <p:cNvSpPr/>
          <p:nvPr/>
        </p:nvSpPr>
        <p:spPr>
          <a:xfrm>
            <a:off x="685800" y="6286500"/>
            <a:ext cx="7848600" cy="32004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485B7AB3-E204-A672-656B-2A6649173BA7}"/>
              </a:ext>
            </a:extLst>
          </p:cNvPr>
          <p:cNvGrpSpPr/>
          <p:nvPr/>
        </p:nvGrpSpPr>
        <p:grpSpPr>
          <a:xfrm>
            <a:off x="685800" y="1714500"/>
            <a:ext cx="7848600" cy="3429000"/>
            <a:chOff x="685800" y="1714500"/>
            <a:chExt cx="7848600" cy="3429000"/>
          </a:xfrm>
        </p:grpSpPr>
        <p:sp>
          <p:nvSpPr>
            <p:cNvPr id="8" name="Rectangle: Rounded Corners 7">
              <a:extLst>
                <a:ext uri="{FF2B5EF4-FFF2-40B4-BE49-F238E27FC236}">
                  <a16:creationId xmlns:a16="http://schemas.microsoft.com/office/drawing/2014/main" id="{D78287C9-1A72-369D-440F-1CCADB7456FF}"/>
                </a:ext>
              </a:extLst>
            </p:cNvPr>
            <p:cNvSpPr/>
            <p:nvPr/>
          </p:nvSpPr>
          <p:spPr>
            <a:xfrm>
              <a:off x="685800" y="1714500"/>
              <a:ext cx="7848600" cy="3429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effectLst>
                  <a:outerShdw blurRad="60007" dist="200025" dir="15000000" sy="30000" kx="-1800000" algn="bl" rotWithShape="0">
                    <a:prstClr val="black">
                      <a:alpha val="32000"/>
                    </a:prstClr>
                  </a:outerShdw>
                </a:effectLst>
              </a:endParaRPr>
            </a:p>
          </p:txBody>
        </p:sp>
        <p:sp>
          <p:nvSpPr>
            <p:cNvPr id="14" name="TextBox 13">
              <a:extLst>
                <a:ext uri="{FF2B5EF4-FFF2-40B4-BE49-F238E27FC236}">
                  <a16:creationId xmlns:a16="http://schemas.microsoft.com/office/drawing/2014/main" id="{EEB545F1-B497-269D-E084-DFE1311BEAE7}"/>
                </a:ext>
              </a:extLst>
            </p:cNvPr>
            <p:cNvSpPr txBox="1"/>
            <p:nvPr/>
          </p:nvSpPr>
          <p:spPr>
            <a:xfrm>
              <a:off x="738973" y="1831849"/>
              <a:ext cx="7620000" cy="3170099"/>
            </a:xfrm>
            <a:prstGeom prst="rect">
              <a:avLst/>
            </a:prstGeom>
            <a:noFill/>
          </p:spPr>
          <p:txBody>
            <a:bodyPr wrap="square" rtlCol="0">
              <a:spAutoFit/>
            </a:bodyPr>
            <a:lstStyle/>
            <a:p>
              <a:pPr algn="ctr"/>
              <a:r>
                <a:rPr lang="en-US" sz="3200" b="1" dirty="0">
                  <a:solidFill>
                    <a:schemeClr val="bg1"/>
                  </a:solidFill>
                </a:rPr>
                <a:t>Labor Productivity</a:t>
              </a:r>
            </a:p>
            <a:p>
              <a:pPr marL="457200" indent="-457200">
                <a:buFont typeface="Arial" panose="020B0604020202020204" pitchFamily="34" charset="0"/>
                <a:buChar char="•"/>
              </a:pPr>
              <a:r>
                <a:rPr lang="en-US" sz="2800" dirty="0">
                  <a:solidFill>
                    <a:schemeClr val="bg1"/>
                  </a:solidFill>
                </a:rPr>
                <a:t>Who are the most and least productive operators?</a:t>
              </a:r>
            </a:p>
            <a:p>
              <a:pPr marL="457200" indent="-457200">
                <a:buFont typeface="Arial" panose="020B0604020202020204" pitchFamily="34" charset="0"/>
                <a:buChar char="•"/>
              </a:pPr>
              <a:r>
                <a:rPr lang="en-US" sz="2800" dirty="0">
                  <a:solidFill>
                    <a:schemeClr val="bg1"/>
                  </a:solidFill>
                </a:rPr>
                <a:t>Which flavors are driving the most production volume?</a:t>
              </a:r>
            </a:p>
            <a:p>
              <a:pPr marL="457200" indent="-457200">
                <a:buFont typeface="Arial" panose="020B0604020202020204" pitchFamily="34" charset="0"/>
                <a:buChar char="•"/>
              </a:pPr>
              <a:r>
                <a:rPr lang="en-US" sz="2800" dirty="0">
                  <a:solidFill>
                    <a:schemeClr val="bg1"/>
                  </a:solidFill>
                </a:rPr>
                <a:t>How much downtime is caused by human error versus technical issues?</a:t>
              </a:r>
              <a:endParaRPr lang="en-US" sz="2800" b="1" dirty="0">
                <a:solidFill>
                  <a:schemeClr val="bg1"/>
                </a:solidFill>
              </a:endParaRPr>
            </a:p>
          </p:txBody>
        </p:sp>
      </p:grpSp>
      <p:sp>
        <p:nvSpPr>
          <p:cNvPr id="18" name="Freeform 7">
            <a:extLst>
              <a:ext uri="{FF2B5EF4-FFF2-40B4-BE49-F238E27FC236}">
                <a16:creationId xmlns:a16="http://schemas.microsoft.com/office/drawing/2014/main" id="{0AD36CED-DDC1-3B8C-1CFB-8AEE836EB2AE}"/>
              </a:ext>
            </a:extLst>
          </p:cNvPr>
          <p:cNvSpPr/>
          <p:nvPr/>
        </p:nvSpPr>
        <p:spPr>
          <a:xfrm>
            <a:off x="2021151" y="1831848"/>
            <a:ext cx="798250" cy="579149"/>
          </a:xfrm>
          <a:custGeom>
            <a:avLst/>
            <a:gdLst/>
            <a:ahLst/>
            <a:cxnLst/>
            <a:rect l="l" t="t" r="r" b="b"/>
            <a:pathLst>
              <a:path w="4497049" h="4114800">
                <a:moveTo>
                  <a:pt x="0" y="0"/>
                </a:moveTo>
                <a:lnTo>
                  <a:pt x="4497050" y="0"/>
                </a:lnTo>
                <a:lnTo>
                  <a:pt x="4497050"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25" name="Group 24">
            <a:extLst>
              <a:ext uri="{FF2B5EF4-FFF2-40B4-BE49-F238E27FC236}">
                <a16:creationId xmlns:a16="http://schemas.microsoft.com/office/drawing/2014/main" id="{16A7670D-A8D2-C463-1BCE-0F0F055C13B0}"/>
              </a:ext>
            </a:extLst>
          </p:cNvPr>
          <p:cNvGrpSpPr/>
          <p:nvPr/>
        </p:nvGrpSpPr>
        <p:grpSpPr>
          <a:xfrm>
            <a:off x="9714364" y="6286500"/>
            <a:ext cx="7908592" cy="3429000"/>
            <a:chOff x="9714364" y="6286500"/>
            <a:chExt cx="7908592" cy="3429000"/>
          </a:xfrm>
        </p:grpSpPr>
        <p:sp>
          <p:nvSpPr>
            <p:cNvPr id="9" name="Rectangle: Rounded Corners 8">
              <a:extLst>
                <a:ext uri="{FF2B5EF4-FFF2-40B4-BE49-F238E27FC236}">
                  <a16:creationId xmlns:a16="http://schemas.microsoft.com/office/drawing/2014/main" id="{49A159F4-9F78-117D-BFA5-9CA770AECC50}"/>
                </a:ext>
              </a:extLst>
            </p:cNvPr>
            <p:cNvSpPr/>
            <p:nvPr/>
          </p:nvSpPr>
          <p:spPr>
            <a:xfrm>
              <a:off x="9753600" y="6286500"/>
              <a:ext cx="7795427" cy="342900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CC54BC4-59CE-4847-9BA3-D308056D0401}"/>
                </a:ext>
              </a:extLst>
            </p:cNvPr>
            <p:cNvSpPr txBox="1"/>
            <p:nvPr/>
          </p:nvSpPr>
          <p:spPr>
            <a:xfrm>
              <a:off x="9714364" y="6517094"/>
              <a:ext cx="7908592" cy="2739211"/>
            </a:xfrm>
            <a:prstGeom prst="rect">
              <a:avLst/>
            </a:prstGeom>
            <a:noFill/>
          </p:spPr>
          <p:txBody>
            <a:bodyPr wrap="square" rtlCol="0">
              <a:spAutoFit/>
            </a:bodyPr>
            <a:lstStyle/>
            <a:p>
              <a:pPr algn="ctr"/>
              <a:r>
                <a:rPr lang="en-US" sz="3200" b="1" dirty="0">
                  <a:solidFill>
                    <a:schemeClr val="bg1"/>
                  </a:solidFill>
                </a:rPr>
                <a:t>Scheduling &amp; Time Variance</a:t>
              </a:r>
            </a:p>
            <a:p>
              <a:pPr marL="457200" indent="-457200">
                <a:buFont typeface="Arial" panose="020B0604020202020204" pitchFamily="34" charset="0"/>
                <a:buChar char="•"/>
              </a:pPr>
              <a:r>
                <a:rPr lang="en-US" sz="2800" dirty="0">
                  <a:solidFill>
                    <a:schemeClr val="bg1"/>
                  </a:solidFill>
                </a:rPr>
                <a:t>What percentage of our total jobs are currently failing or delayed?</a:t>
              </a:r>
            </a:p>
            <a:p>
              <a:pPr marL="457200" indent="-457200">
                <a:buFont typeface="Arial" panose="020B0604020202020204" pitchFamily="34" charset="0"/>
                <a:buChar char="•"/>
              </a:pPr>
              <a:r>
                <a:rPr lang="en-US" sz="2800" dirty="0">
                  <a:solidFill>
                    <a:schemeClr val="bg1"/>
                  </a:solidFill>
                </a:rPr>
                <a:t>Which operators have the most "Delayed" jobs?</a:t>
              </a:r>
            </a:p>
            <a:p>
              <a:pPr marL="457200" indent="-457200">
                <a:buFont typeface="Arial" panose="020B0604020202020204" pitchFamily="34" charset="0"/>
                <a:buChar char="•"/>
              </a:pPr>
              <a:r>
                <a:rPr lang="en-US" sz="2800" dirty="0">
                  <a:solidFill>
                    <a:schemeClr val="bg1"/>
                  </a:solidFill>
                </a:rPr>
                <a:t>How does our actual production volume compare to what we scheduled?</a:t>
              </a:r>
              <a:endParaRPr lang="en-US" sz="2800" b="1" dirty="0">
                <a:solidFill>
                  <a:schemeClr val="bg1"/>
                </a:solidFill>
              </a:endParaRPr>
            </a:p>
          </p:txBody>
        </p:sp>
        <p:sp>
          <p:nvSpPr>
            <p:cNvPr id="19" name="Freeform 9">
              <a:extLst>
                <a:ext uri="{FF2B5EF4-FFF2-40B4-BE49-F238E27FC236}">
                  <a16:creationId xmlns:a16="http://schemas.microsoft.com/office/drawing/2014/main" id="{8FD2A181-6196-6208-6531-572F2A7F0E06}"/>
                </a:ext>
              </a:extLst>
            </p:cNvPr>
            <p:cNvSpPr/>
            <p:nvPr/>
          </p:nvSpPr>
          <p:spPr>
            <a:xfrm>
              <a:off x="10439400" y="6456538"/>
              <a:ext cx="762000" cy="658138"/>
            </a:xfrm>
            <a:custGeom>
              <a:avLst/>
              <a:gdLst/>
              <a:ahLst/>
              <a:cxnLst/>
              <a:rect l="l" t="t" r="r" b="b"/>
              <a:pathLst>
                <a:path w="4167845" h="4114800">
                  <a:moveTo>
                    <a:pt x="0" y="0"/>
                  </a:moveTo>
                  <a:lnTo>
                    <a:pt x="4167845" y="0"/>
                  </a:lnTo>
                  <a:lnTo>
                    <a:pt x="4167845" y="4114800"/>
                  </a:lnTo>
                  <a:lnTo>
                    <a:pt x="0" y="411480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grpSp>
      <p:grpSp>
        <p:nvGrpSpPr>
          <p:cNvPr id="24" name="Group 23">
            <a:extLst>
              <a:ext uri="{FF2B5EF4-FFF2-40B4-BE49-F238E27FC236}">
                <a16:creationId xmlns:a16="http://schemas.microsoft.com/office/drawing/2014/main" id="{ACED3445-7D1A-5313-B740-CE0F0F65D004}"/>
              </a:ext>
            </a:extLst>
          </p:cNvPr>
          <p:cNvGrpSpPr/>
          <p:nvPr/>
        </p:nvGrpSpPr>
        <p:grpSpPr>
          <a:xfrm>
            <a:off x="731599" y="6373437"/>
            <a:ext cx="7795427" cy="2739211"/>
            <a:chOff x="731599" y="6373437"/>
            <a:chExt cx="7795427" cy="2739211"/>
          </a:xfrm>
        </p:grpSpPr>
        <p:sp>
          <p:nvSpPr>
            <p:cNvPr id="16" name="TextBox 15">
              <a:extLst>
                <a:ext uri="{FF2B5EF4-FFF2-40B4-BE49-F238E27FC236}">
                  <a16:creationId xmlns:a16="http://schemas.microsoft.com/office/drawing/2014/main" id="{0985A8BA-DAEA-88B4-C20C-95370E1DAA04}"/>
                </a:ext>
              </a:extLst>
            </p:cNvPr>
            <p:cNvSpPr txBox="1"/>
            <p:nvPr/>
          </p:nvSpPr>
          <p:spPr>
            <a:xfrm>
              <a:off x="731599" y="6373437"/>
              <a:ext cx="7795427" cy="2739211"/>
            </a:xfrm>
            <a:prstGeom prst="rect">
              <a:avLst/>
            </a:prstGeom>
            <a:noFill/>
          </p:spPr>
          <p:txBody>
            <a:bodyPr wrap="square" rtlCol="0">
              <a:spAutoFit/>
            </a:bodyPr>
            <a:lstStyle/>
            <a:p>
              <a:pPr algn="ctr"/>
              <a:r>
                <a:rPr lang="en-US" sz="3200" b="1" dirty="0">
                  <a:solidFill>
                    <a:schemeClr val="bg1"/>
                  </a:solidFill>
                </a:rPr>
                <a:t>Quality Control &amp; Optimization</a:t>
              </a:r>
            </a:p>
            <a:p>
              <a:pPr marL="457200" indent="-457200">
                <a:buFont typeface="Arial" panose="020B0604020202020204" pitchFamily="34" charset="0"/>
                <a:buChar char="•"/>
              </a:pPr>
              <a:r>
                <a:rPr lang="en-US" sz="2800" dirty="0">
                  <a:solidFill>
                    <a:schemeClr val="bg1"/>
                  </a:solidFill>
                </a:rPr>
                <a:t>Is our quality improving or declining over time?</a:t>
              </a:r>
            </a:p>
            <a:p>
              <a:pPr marL="457200" indent="-457200">
                <a:buFont typeface="Arial" panose="020B0604020202020204" pitchFamily="34" charset="0"/>
                <a:buChar char="•"/>
              </a:pPr>
              <a:r>
                <a:rPr lang="en-US" sz="2800" dirty="0">
                  <a:solidFill>
                    <a:schemeClr val="bg1"/>
                  </a:solidFill>
                </a:rPr>
                <a:t>Which operation type has the highest failure rate?</a:t>
              </a:r>
            </a:p>
            <a:p>
              <a:pPr marL="457200" indent="-457200">
                <a:buFont typeface="Arial" panose="020B0604020202020204" pitchFamily="34" charset="0"/>
                <a:buChar char="•"/>
              </a:pPr>
              <a:r>
                <a:rPr lang="en-US" sz="2800" dirty="0">
                  <a:solidFill>
                    <a:schemeClr val="bg1"/>
                  </a:solidFill>
                </a:rPr>
                <a:t>Does machine identity correlate with higher errors?</a:t>
              </a:r>
              <a:endParaRPr lang="en-US" sz="2800" b="1" dirty="0">
                <a:solidFill>
                  <a:schemeClr val="bg1"/>
                </a:solidFill>
              </a:endParaRPr>
            </a:p>
          </p:txBody>
        </p:sp>
        <p:sp>
          <p:nvSpPr>
            <p:cNvPr id="20" name="Freeform 12">
              <a:extLst>
                <a:ext uri="{FF2B5EF4-FFF2-40B4-BE49-F238E27FC236}">
                  <a16:creationId xmlns:a16="http://schemas.microsoft.com/office/drawing/2014/main" id="{56DC24BB-EBD1-FEBC-8EFB-CF684FE8B755}"/>
                </a:ext>
              </a:extLst>
            </p:cNvPr>
            <p:cNvSpPr/>
            <p:nvPr/>
          </p:nvSpPr>
          <p:spPr>
            <a:xfrm>
              <a:off x="1335351" y="6373437"/>
              <a:ext cx="685800" cy="58265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grpSp>
        <p:nvGrpSpPr>
          <p:cNvPr id="23" name="Group 22">
            <a:extLst>
              <a:ext uri="{FF2B5EF4-FFF2-40B4-BE49-F238E27FC236}">
                <a16:creationId xmlns:a16="http://schemas.microsoft.com/office/drawing/2014/main" id="{84DCD877-CA60-6F3D-C43D-6545CA69C125}"/>
              </a:ext>
            </a:extLst>
          </p:cNvPr>
          <p:cNvGrpSpPr/>
          <p:nvPr/>
        </p:nvGrpSpPr>
        <p:grpSpPr>
          <a:xfrm>
            <a:off x="9753602" y="1714499"/>
            <a:ext cx="8000998" cy="3452039"/>
            <a:chOff x="9753602" y="1714499"/>
            <a:chExt cx="8000998" cy="3452039"/>
          </a:xfrm>
        </p:grpSpPr>
        <p:sp>
          <p:nvSpPr>
            <p:cNvPr id="11" name="Rectangle: Rounded Corners 10">
              <a:extLst>
                <a:ext uri="{FF2B5EF4-FFF2-40B4-BE49-F238E27FC236}">
                  <a16:creationId xmlns:a16="http://schemas.microsoft.com/office/drawing/2014/main" id="{9995F009-11C0-E2DB-9EF8-F4AAF976D7A7}"/>
                </a:ext>
              </a:extLst>
            </p:cNvPr>
            <p:cNvSpPr/>
            <p:nvPr/>
          </p:nvSpPr>
          <p:spPr>
            <a:xfrm>
              <a:off x="9753602" y="1714499"/>
              <a:ext cx="8000998" cy="3452039"/>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55496BF-4802-64D1-C3E1-160CE80E692C}"/>
                </a:ext>
              </a:extLst>
            </p:cNvPr>
            <p:cNvSpPr txBox="1"/>
            <p:nvPr/>
          </p:nvSpPr>
          <p:spPr>
            <a:xfrm>
              <a:off x="10287000" y="2009370"/>
              <a:ext cx="7315200" cy="2739211"/>
            </a:xfrm>
            <a:prstGeom prst="rect">
              <a:avLst/>
            </a:prstGeom>
            <a:noFill/>
          </p:spPr>
          <p:txBody>
            <a:bodyPr wrap="square" rtlCol="0">
              <a:spAutoFit/>
            </a:bodyPr>
            <a:lstStyle/>
            <a:p>
              <a:pPr algn="ctr"/>
              <a:r>
                <a:rPr lang="en-US" sz="3200" b="1" dirty="0">
                  <a:solidFill>
                    <a:schemeClr val="bg1"/>
                  </a:solidFill>
                </a:rPr>
                <a:t>Machine Technical Performance</a:t>
              </a:r>
            </a:p>
            <a:p>
              <a:pPr marL="457200" indent="-457200">
                <a:buFont typeface="Arial" panose="020B0604020202020204" pitchFamily="34" charset="0"/>
                <a:buChar char="•"/>
              </a:pPr>
              <a:r>
                <a:rPr lang="en-US" sz="2800" dirty="0">
                  <a:solidFill>
                    <a:schemeClr val="bg1"/>
                  </a:solidFill>
                </a:rPr>
                <a:t>Which machine is the most reliable?</a:t>
              </a:r>
            </a:p>
            <a:p>
              <a:pPr marL="457200" indent="-457200">
                <a:buFont typeface="Arial" panose="020B0604020202020204" pitchFamily="34" charset="0"/>
                <a:buChar char="•"/>
              </a:pPr>
              <a:r>
                <a:rPr lang="en-US" sz="2800" dirty="0">
                  <a:solidFill>
                    <a:schemeClr val="bg1"/>
                  </a:solidFill>
                </a:rPr>
                <a:t>What is the primary cause of equipment downtime?</a:t>
              </a:r>
            </a:p>
            <a:p>
              <a:pPr marL="457200" indent="-457200">
                <a:buFont typeface="Arial" panose="020B0604020202020204" pitchFamily="34" charset="0"/>
                <a:buChar char="•"/>
              </a:pPr>
              <a:r>
                <a:rPr lang="en-US" sz="2800" dirty="0">
                  <a:solidFill>
                    <a:schemeClr val="bg1"/>
                  </a:solidFill>
                </a:rPr>
                <a:t>Are certain machines consuming more raw materials than others?</a:t>
              </a:r>
              <a:endParaRPr lang="en-US" sz="2800" b="1" dirty="0">
                <a:solidFill>
                  <a:schemeClr val="bg1"/>
                </a:solidFill>
              </a:endParaRPr>
            </a:p>
          </p:txBody>
        </p:sp>
        <p:sp>
          <p:nvSpPr>
            <p:cNvPr id="21" name="Freeform 8">
              <a:extLst>
                <a:ext uri="{FF2B5EF4-FFF2-40B4-BE49-F238E27FC236}">
                  <a16:creationId xmlns:a16="http://schemas.microsoft.com/office/drawing/2014/main" id="{306483EB-BCCF-0FF5-60B1-1EAF8D026AD8}"/>
                </a:ext>
              </a:extLst>
            </p:cNvPr>
            <p:cNvSpPr/>
            <p:nvPr/>
          </p:nvSpPr>
          <p:spPr>
            <a:xfrm>
              <a:off x="10311553" y="1988352"/>
              <a:ext cx="799872" cy="562829"/>
            </a:xfrm>
            <a:custGeom>
              <a:avLst/>
              <a:gdLst/>
              <a:ahLst/>
              <a:cxnLst/>
              <a:rect l="l" t="t" r="r" b="b"/>
              <a:pathLst>
                <a:path w="4137367" h="4114800">
                  <a:moveTo>
                    <a:pt x="0" y="0"/>
                  </a:moveTo>
                  <a:lnTo>
                    <a:pt x="4137368" y="0"/>
                  </a:lnTo>
                  <a:lnTo>
                    <a:pt x="4137368" y="4114800"/>
                  </a:lnTo>
                  <a:lnTo>
                    <a:pt x="0" y="4114800"/>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500"/>
                                        <p:tgtEl>
                                          <p:spTgt spid="2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dirty="0"/>
          </a:p>
        </p:txBody>
      </p:sp>
      <p:grpSp>
        <p:nvGrpSpPr>
          <p:cNvPr id="3" name="Group 3"/>
          <p:cNvGrpSpPr/>
          <p:nvPr/>
        </p:nvGrpSpPr>
        <p:grpSpPr>
          <a:xfrm>
            <a:off x="93425" y="4780552"/>
            <a:ext cx="1601081" cy="1534379"/>
            <a:chOff x="0" y="0"/>
            <a:chExt cx="848134" cy="812800"/>
          </a:xfrm>
        </p:grpSpPr>
        <p:sp>
          <p:nvSpPr>
            <p:cNvPr id="4" name="Freeform 4"/>
            <p:cNvSpPr/>
            <p:nvPr/>
          </p:nvSpPr>
          <p:spPr>
            <a:xfrm>
              <a:off x="0" y="0"/>
              <a:ext cx="848134" cy="812800"/>
            </a:xfrm>
            <a:custGeom>
              <a:avLst/>
              <a:gdLst/>
              <a:ahLst/>
              <a:cxnLst/>
              <a:rect l="l" t="t" r="r" b="b"/>
              <a:pathLst>
                <a:path w="848134" h="812800">
                  <a:moveTo>
                    <a:pt x="424067" y="0"/>
                  </a:moveTo>
                  <a:cubicBezTo>
                    <a:pt x="189861" y="0"/>
                    <a:pt x="0" y="181951"/>
                    <a:pt x="0" y="406400"/>
                  </a:cubicBezTo>
                  <a:cubicBezTo>
                    <a:pt x="0" y="630849"/>
                    <a:pt x="189861" y="812800"/>
                    <a:pt x="424067" y="812800"/>
                  </a:cubicBezTo>
                  <a:cubicBezTo>
                    <a:pt x="658273" y="812800"/>
                    <a:pt x="848134" y="630849"/>
                    <a:pt x="848134" y="406400"/>
                  </a:cubicBezTo>
                  <a:cubicBezTo>
                    <a:pt x="848134" y="181951"/>
                    <a:pt x="658273" y="0"/>
                    <a:pt x="424067" y="0"/>
                  </a:cubicBezTo>
                  <a:close/>
                </a:path>
              </a:pathLst>
            </a:custGeom>
            <a:solidFill>
              <a:srgbClr val="00030A"/>
            </a:solidFill>
          </p:spPr>
          <p:txBody>
            <a:bodyPr/>
            <a:lstStyle/>
            <a:p>
              <a:endParaRPr lang="en-US"/>
            </a:p>
          </p:txBody>
        </p:sp>
        <p:sp>
          <p:nvSpPr>
            <p:cNvPr id="5" name="TextBox 5"/>
            <p:cNvSpPr txBox="1"/>
            <p:nvPr/>
          </p:nvSpPr>
          <p:spPr>
            <a:xfrm>
              <a:off x="79513" y="28575"/>
              <a:ext cx="689109"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01 Dataset</a:t>
              </a:r>
            </a:p>
          </p:txBody>
        </p:sp>
      </p:grpSp>
      <p:sp>
        <p:nvSpPr>
          <p:cNvPr id="6" name="AutoShape 6"/>
          <p:cNvSpPr/>
          <p:nvPr/>
        </p:nvSpPr>
        <p:spPr>
          <a:xfrm flipV="1">
            <a:off x="1694506" y="5536536"/>
            <a:ext cx="14972616" cy="11205"/>
          </a:xfrm>
          <a:prstGeom prst="line">
            <a:avLst/>
          </a:prstGeom>
          <a:ln w="38100" cap="rnd">
            <a:solidFill>
              <a:srgbClr val="00030A"/>
            </a:solidFill>
            <a:prstDash val="solid"/>
            <a:headEnd type="none" w="sm" len="sm"/>
            <a:tailEnd type="none" w="sm" len="sm"/>
          </a:ln>
        </p:spPr>
        <p:txBody>
          <a:bodyPr/>
          <a:lstStyle/>
          <a:p>
            <a:endParaRPr lang="en-US"/>
          </a:p>
        </p:txBody>
      </p:sp>
      <p:grpSp>
        <p:nvGrpSpPr>
          <p:cNvPr id="7" name="Group 7"/>
          <p:cNvGrpSpPr/>
          <p:nvPr/>
        </p:nvGrpSpPr>
        <p:grpSpPr>
          <a:xfrm>
            <a:off x="2907052" y="4769347"/>
            <a:ext cx="1538872" cy="1534379"/>
            <a:chOff x="0" y="0"/>
            <a:chExt cx="815180" cy="812800"/>
          </a:xfrm>
        </p:grpSpPr>
        <p:sp>
          <p:nvSpPr>
            <p:cNvPr id="8" name="Freeform 8"/>
            <p:cNvSpPr/>
            <p:nvPr/>
          </p:nvSpPr>
          <p:spPr>
            <a:xfrm>
              <a:off x="0" y="0"/>
              <a:ext cx="815180" cy="812800"/>
            </a:xfrm>
            <a:custGeom>
              <a:avLst/>
              <a:gdLst/>
              <a:ahLst/>
              <a:cxnLst/>
              <a:rect l="l" t="t" r="r" b="b"/>
              <a:pathLst>
                <a:path w="815180" h="812800">
                  <a:moveTo>
                    <a:pt x="407590" y="0"/>
                  </a:moveTo>
                  <a:cubicBezTo>
                    <a:pt x="182484" y="0"/>
                    <a:pt x="0" y="181951"/>
                    <a:pt x="0" y="406400"/>
                  </a:cubicBezTo>
                  <a:cubicBezTo>
                    <a:pt x="0" y="630849"/>
                    <a:pt x="182484" y="812800"/>
                    <a:pt x="407590" y="812800"/>
                  </a:cubicBezTo>
                  <a:cubicBezTo>
                    <a:pt x="632696" y="812800"/>
                    <a:pt x="815180" y="630849"/>
                    <a:pt x="815180" y="406400"/>
                  </a:cubicBezTo>
                  <a:cubicBezTo>
                    <a:pt x="815180" y="181951"/>
                    <a:pt x="632696" y="0"/>
                    <a:pt x="407590" y="0"/>
                  </a:cubicBezTo>
                  <a:close/>
                </a:path>
              </a:pathLst>
            </a:custGeom>
            <a:solidFill>
              <a:srgbClr val="00030A"/>
            </a:solidFill>
          </p:spPr>
          <p:txBody>
            <a:bodyPr/>
            <a:lstStyle/>
            <a:p>
              <a:endParaRPr lang="en-US"/>
            </a:p>
          </p:txBody>
        </p:sp>
        <p:sp>
          <p:nvSpPr>
            <p:cNvPr id="9" name="TextBox 9"/>
            <p:cNvSpPr txBox="1"/>
            <p:nvPr/>
          </p:nvSpPr>
          <p:spPr>
            <a:xfrm>
              <a:off x="76423" y="28575"/>
              <a:ext cx="662334" cy="708025"/>
            </a:xfrm>
            <a:prstGeom prst="rect">
              <a:avLst/>
            </a:prstGeom>
          </p:spPr>
          <p:txBody>
            <a:bodyPr lIns="50800" tIns="50800" rIns="50800" bIns="50800" rtlCol="0" anchor="ctr"/>
            <a:lstStyle/>
            <a:p>
              <a:pPr marL="0" lvl="0" indent="0" algn="ctr">
                <a:lnSpc>
                  <a:spcPts val="3269"/>
                </a:lnSpc>
              </a:pPr>
              <a:r>
                <a:rPr lang="en-US" sz="2335">
                  <a:solidFill>
                    <a:srgbClr val="EAEAEA"/>
                  </a:solidFill>
                  <a:latin typeface="Decalotype"/>
                  <a:ea typeface="Decalotype"/>
                  <a:cs typeface="Decalotype"/>
                  <a:sym typeface="Decalotype"/>
                </a:rPr>
                <a:t>02 Data Clean</a:t>
              </a:r>
            </a:p>
          </p:txBody>
        </p:sp>
      </p:grpSp>
      <p:grpSp>
        <p:nvGrpSpPr>
          <p:cNvPr id="10" name="Group 10"/>
          <p:cNvGrpSpPr/>
          <p:nvPr/>
        </p:nvGrpSpPr>
        <p:grpSpPr>
          <a:xfrm>
            <a:off x="8464371" y="4769347"/>
            <a:ext cx="1534379" cy="1534379"/>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30A"/>
            </a:solidFill>
          </p:spPr>
          <p:txBody>
            <a:bodyPr/>
            <a:lstStyle/>
            <a:p>
              <a:endParaRPr lang="en-US"/>
            </a:p>
          </p:txBody>
        </p:sp>
        <p:sp>
          <p:nvSpPr>
            <p:cNvPr id="12" name="TextBox 12"/>
            <p:cNvSpPr txBox="1"/>
            <p:nvPr/>
          </p:nvSpPr>
          <p:spPr>
            <a:xfrm>
              <a:off x="76200" y="28575"/>
              <a:ext cx="660400" cy="708025"/>
            </a:xfrm>
            <a:prstGeom prst="rect">
              <a:avLst/>
            </a:prstGeom>
          </p:spPr>
          <p:txBody>
            <a:bodyPr lIns="50800" tIns="50800" rIns="50800" bIns="50800" rtlCol="0" anchor="ctr"/>
            <a:lstStyle/>
            <a:p>
              <a:pPr marL="0" lvl="0" indent="0" algn="ctr">
                <a:lnSpc>
                  <a:spcPts val="3269"/>
                </a:lnSpc>
              </a:pPr>
              <a:r>
                <a:rPr lang="en-US" sz="2335">
                  <a:solidFill>
                    <a:srgbClr val="EAEAEA"/>
                  </a:solidFill>
                  <a:latin typeface="Decalotype"/>
                  <a:ea typeface="Decalotype"/>
                  <a:cs typeface="Decalotype"/>
                  <a:sym typeface="Decalotype"/>
                </a:rPr>
                <a:t>04 Daxs</a:t>
              </a:r>
            </a:p>
          </p:txBody>
        </p:sp>
      </p:grpSp>
      <p:grpSp>
        <p:nvGrpSpPr>
          <p:cNvPr id="13" name="Group 13"/>
          <p:cNvGrpSpPr/>
          <p:nvPr/>
        </p:nvGrpSpPr>
        <p:grpSpPr>
          <a:xfrm>
            <a:off x="5655599" y="4769347"/>
            <a:ext cx="1599098" cy="1534379"/>
            <a:chOff x="0" y="0"/>
            <a:chExt cx="847083" cy="812800"/>
          </a:xfrm>
        </p:grpSpPr>
        <p:sp>
          <p:nvSpPr>
            <p:cNvPr id="14" name="Freeform 14"/>
            <p:cNvSpPr/>
            <p:nvPr/>
          </p:nvSpPr>
          <p:spPr>
            <a:xfrm>
              <a:off x="0" y="0"/>
              <a:ext cx="847083" cy="812800"/>
            </a:xfrm>
            <a:custGeom>
              <a:avLst/>
              <a:gdLst/>
              <a:ahLst/>
              <a:cxnLst/>
              <a:rect l="l" t="t" r="r" b="b"/>
              <a:pathLst>
                <a:path w="847083" h="812800">
                  <a:moveTo>
                    <a:pt x="423542" y="0"/>
                  </a:moveTo>
                  <a:cubicBezTo>
                    <a:pt x="189626" y="0"/>
                    <a:pt x="0" y="181951"/>
                    <a:pt x="0" y="406400"/>
                  </a:cubicBezTo>
                  <a:cubicBezTo>
                    <a:pt x="0" y="630849"/>
                    <a:pt x="189626" y="812800"/>
                    <a:pt x="423542" y="812800"/>
                  </a:cubicBezTo>
                  <a:cubicBezTo>
                    <a:pt x="657457" y="812800"/>
                    <a:pt x="847083" y="630849"/>
                    <a:pt x="847083" y="406400"/>
                  </a:cubicBezTo>
                  <a:cubicBezTo>
                    <a:pt x="847083" y="181951"/>
                    <a:pt x="657457" y="0"/>
                    <a:pt x="423542" y="0"/>
                  </a:cubicBezTo>
                  <a:close/>
                </a:path>
              </a:pathLst>
            </a:custGeom>
            <a:solidFill>
              <a:srgbClr val="00030A"/>
            </a:solidFill>
          </p:spPr>
          <p:txBody>
            <a:bodyPr/>
            <a:lstStyle/>
            <a:p>
              <a:endParaRPr lang="en-US"/>
            </a:p>
          </p:txBody>
        </p:sp>
        <p:sp>
          <p:nvSpPr>
            <p:cNvPr id="15" name="TextBox 15"/>
            <p:cNvSpPr txBox="1"/>
            <p:nvPr/>
          </p:nvSpPr>
          <p:spPr>
            <a:xfrm>
              <a:off x="79414" y="28575"/>
              <a:ext cx="688255"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03 Data Model</a:t>
              </a:r>
            </a:p>
          </p:txBody>
        </p:sp>
      </p:grpSp>
      <p:grpSp>
        <p:nvGrpSpPr>
          <p:cNvPr id="16" name="Group 16"/>
          <p:cNvGrpSpPr/>
          <p:nvPr/>
        </p:nvGrpSpPr>
        <p:grpSpPr>
          <a:xfrm>
            <a:off x="11208425" y="4769347"/>
            <a:ext cx="1594644" cy="1534379"/>
            <a:chOff x="0" y="0"/>
            <a:chExt cx="844724" cy="812800"/>
          </a:xfrm>
        </p:grpSpPr>
        <p:sp>
          <p:nvSpPr>
            <p:cNvPr id="17" name="Freeform 17"/>
            <p:cNvSpPr/>
            <p:nvPr/>
          </p:nvSpPr>
          <p:spPr>
            <a:xfrm>
              <a:off x="0" y="0"/>
              <a:ext cx="844724" cy="812800"/>
            </a:xfrm>
            <a:custGeom>
              <a:avLst/>
              <a:gdLst/>
              <a:ahLst/>
              <a:cxnLst/>
              <a:rect l="l" t="t" r="r" b="b"/>
              <a:pathLst>
                <a:path w="844724" h="812800">
                  <a:moveTo>
                    <a:pt x="422362" y="0"/>
                  </a:moveTo>
                  <a:cubicBezTo>
                    <a:pt x="189098" y="0"/>
                    <a:pt x="0" y="181951"/>
                    <a:pt x="0" y="406400"/>
                  </a:cubicBezTo>
                  <a:cubicBezTo>
                    <a:pt x="0" y="630849"/>
                    <a:pt x="189098" y="812800"/>
                    <a:pt x="422362" y="812800"/>
                  </a:cubicBezTo>
                  <a:cubicBezTo>
                    <a:pt x="655626" y="812800"/>
                    <a:pt x="844724" y="630849"/>
                    <a:pt x="844724" y="406400"/>
                  </a:cubicBezTo>
                  <a:cubicBezTo>
                    <a:pt x="844724" y="181951"/>
                    <a:pt x="655626" y="0"/>
                    <a:pt x="422362" y="0"/>
                  </a:cubicBezTo>
                  <a:close/>
                </a:path>
              </a:pathLst>
            </a:custGeom>
            <a:solidFill>
              <a:srgbClr val="00030A"/>
            </a:solidFill>
          </p:spPr>
          <p:txBody>
            <a:bodyPr/>
            <a:lstStyle/>
            <a:p>
              <a:endParaRPr lang="en-US"/>
            </a:p>
          </p:txBody>
        </p:sp>
        <p:sp>
          <p:nvSpPr>
            <p:cNvPr id="18" name="TextBox 18"/>
            <p:cNvSpPr txBox="1"/>
            <p:nvPr/>
          </p:nvSpPr>
          <p:spPr>
            <a:xfrm>
              <a:off x="79193" y="28575"/>
              <a:ext cx="686338"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05 Sample Visual</a:t>
              </a:r>
            </a:p>
          </p:txBody>
        </p:sp>
      </p:grpSp>
      <p:grpSp>
        <p:nvGrpSpPr>
          <p:cNvPr id="19" name="Group 19"/>
          <p:cNvGrpSpPr/>
          <p:nvPr/>
        </p:nvGrpSpPr>
        <p:grpSpPr>
          <a:xfrm>
            <a:off x="14012743" y="4749830"/>
            <a:ext cx="1534379" cy="1534379"/>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30A"/>
            </a:solidFill>
          </p:spPr>
          <p:txBody>
            <a:bodyPr/>
            <a:lstStyle/>
            <a:p>
              <a:endParaRPr lang="en-US"/>
            </a:p>
          </p:txBody>
        </p:sp>
        <p:sp>
          <p:nvSpPr>
            <p:cNvPr id="21" name="TextBox 21"/>
            <p:cNvSpPr txBox="1"/>
            <p:nvPr/>
          </p:nvSpPr>
          <p:spPr>
            <a:xfrm>
              <a:off x="76200" y="28575"/>
              <a:ext cx="660400"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06 Reports</a:t>
              </a:r>
            </a:p>
          </p:txBody>
        </p:sp>
      </p:grpSp>
      <p:sp>
        <p:nvSpPr>
          <p:cNvPr id="22" name="Freeform 22"/>
          <p:cNvSpPr/>
          <p:nvPr/>
        </p:nvSpPr>
        <p:spPr>
          <a:xfrm>
            <a:off x="8136333" y="9585221"/>
            <a:ext cx="917711" cy="701779"/>
          </a:xfrm>
          <a:custGeom>
            <a:avLst/>
            <a:gdLst/>
            <a:ahLst/>
            <a:cxnLst/>
            <a:rect l="l" t="t" r="r" b="b"/>
            <a:pathLst>
              <a:path w="917711" h="701779">
                <a:moveTo>
                  <a:pt x="0" y="0"/>
                </a:moveTo>
                <a:lnTo>
                  <a:pt x="917711" y="0"/>
                </a:lnTo>
                <a:lnTo>
                  <a:pt x="917711" y="701779"/>
                </a:lnTo>
                <a:lnTo>
                  <a:pt x="0" y="70177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3" name="Freeform 23"/>
          <p:cNvSpPr/>
          <p:nvPr/>
        </p:nvSpPr>
        <p:spPr>
          <a:xfrm>
            <a:off x="9254069" y="9567706"/>
            <a:ext cx="744681" cy="719294"/>
          </a:xfrm>
          <a:custGeom>
            <a:avLst/>
            <a:gdLst/>
            <a:ahLst/>
            <a:cxnLst/>
            <a:rect l="l" t="t" r="r" b="b"/>
            <a:pathLst>
              <a:path w="744681" h="719294">
                <a:moveTo>
                  <a:pt x="0" y="0"/>
                </a:moveTo>
                <a:lnTo>
                  <a:pt x="744681" y="0"/>
                </a:lnTo>
                <a:lnTo>
                  <a:pt x="744681" y="719294"/>
                </a:lnTo>
                <a:lnTo>
                  <a:pt x="0" y="71929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4" name="Freeform 24"/>
          <p:cNvSpPr/>
          <p:nvPr/>
        </p:nvSpPr>
        <p:spPr>
          <a:xfrm>
            <a:off x="10198775" y="9567706"/>
            <a:ext cx="785696" cy="688555"/>
          </a:xfrm>
          <a:custGeom>
            <a:avLst/>
            <a:gdLst/>
            <a:ahLst/>
            <a:cxnLst/>
            <a:rect l="l" t="t" r="r" b="b"/>
            <a:pathLst>
              <a:path w="785696" h="688555">
                <a:moveTo>
                  <a:pt x="0" y="0"/>
                </a:moveTo>
                <a:lnTo>
                  <a:pt x="785696" y="0"/>
                </a:lnTo>
                <a:lnTo>
                  <a:pt x="785696" y="688555"/>
                </a:lnTo>
                <a:lnTo>
                  <a:pt x="0" y="68855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5" name="Freeform 25"/>
          <p:cNvSpPr/>
          <p:nvPr/>
        </p:nvSpPr>
        <p:spPr>
          <a:xfrm>
            <a:off x="7241864" y="9663811"/>
            <a:ext cx="831908" cy="623189"/>
          </a:xfrm>
          <a:custGeom>
            <a:avLst/>
            <a:gdLst/>
            <a:ahLst/>
            <a:cxnLst/>
            <a:rect l="l" t="t" r="r" b="b"/>
            <a:pathLst>
              <a:path w="831908" h="623189">
                <a:moveTo>
                  <a:pt x="0" y="0"/>
                </a:moveTo>
                <a:lnTo>
                  <a:pt x="831909" y="0"/>
                </a:lnTo>
                <a:lnTo>
                  <a:pt x="831909" y="623189"/>
                </a:lnTo>
                <a:lnTo>
                  <a:pt x="0" y="623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6" name="Freeform 26"/>
          <p:cNvSpPr/>
          <p:nvPr/>
        </p:nvSpPr>
        <p:spPr>
          <a:xfrm>
            <a:off x="6452856" y="9663811"/>
            <a:ext cx="592596" cy="623189"/>
          </a:xfrm>
          <a:custGeom>
            <a:avLst/>
            <a:gdLst/>
            <a:ahLst/>
            <a:cxnLst/>
            <a:rect l="l" t="t" r="r" b="b"/>
            <a:pathLst>
              <a:path w="592596" h="623189">
                <a:moveTo>
                  <a:pt x="0" y="0"/>
                </a:moveTo>
                <a:lnTo>
                  <a:pt x="592596" y="0"/>
                </a:lnTo>
                <a:lnTo>
                  <a:pt x="592596" y="623189"/>
                </a:lnTo>
                <a:lnTo>
                  <a:pt x="0" y="623189"/>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7" name="Freeform 27"/>
          <p:cNvSpPr/>
          <p:nvPr/>
        </p:nvSpPr>
        <p:spPr>
          <a:xfrm>
            <a:off x="5663220" y="9663811"/>
            <a:ext cx="589611" cy="675596"/>
          </a:xfrm>
          <a:custGeom>
            <a:avLst/>
            <a:gdLst/>
            <a:ahLst/>
            <a:cxnLst/>
            <a:rect l="l" t="t" r="r" b="b"/>
            <a:pathLst>
              <a:path w="589611" h="675596">
                <a:moveTo>
                  <a:pt x="0" y="0"/>
                </a:moveTo>
                <a:lnTo>
                  <a:pt x="589611" y="0"/>
                </a:lnTo>
                <a:lnTo>
                  <a:pt x="589611" y="675595"/>
                </a:lnTo>
                <a:lnTo>
                  <a:pt x="0" y="675595"/>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8" name="Freeform 28"/>
          <p:cNvSpPr/>
          <p:nvPr/>
        </p:nvSpPr>
        <p:spPr>
          <a:xfrm>
            <a:off x="15788825" y="-1909200"/>
            <a:ext cx="4513046" cy="4504840"/>
          </a:xfrm>
          <a:custGeom>
            <a:avLst/>
            <a:gdLst/>
            <a:ahLst/>
            <a:cxnLst/>
            <a:rect l="l" t="t" r="r" b="b"/>
            <a:pathLst>
              <a:path w="4513046" h="4504840">
                <a:moveTo>
                  <a:pt x="0" y="0"/>
                </a:moveTo>
                <a:lnTo>
                  <a:pt x="4513046" y="0"/>
                </a:lnTo>
                <a:lnTo>
                  <a:pt x="4513046" y="4504840"/>
                </a:lnTo>
                <a:lnTo>
                  <a:pt x="0" y="4504840"/>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9" name="Freeform 29"/>
          <p:cNvSpPr/>
          <p:nvPr/>
        </p:nvSpPr>
        <p:spPr>
          <a:xfrm>
            <a:off x="-1344004" y="8609054"/>
            <a:ext cx="3038510" cy="3032986"/>
          </a:xfrm>
          <a:custGeom>
            <a:avLst/>
            <a:gdLst/>
            <a:ahLst/>
            <a:cxnLst/>
            <a:rect l="l" t="t" r="r" b="b"/>
            <a:pathLst>
              <a:path w="3038510" h="3032986">
                <a:moveTo>
                  <a:pt x="0" y="0"/>
                </a:moveTo>
                <a:lnTo>
                  <a:pt x="3038510" y="0"/>
                </a:lnTo>
                <a:lnTo>
                  <a:pt x="3038510" y="3032985"/>
                </a:lnTo>
                <a:lnTo>
                  <a:pt x="0" y="3032985"/>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a:p>
        </p:txBody>
      </p:sp>
      <p:grpSp>
        <p:nvGrpSpPr>
          <p:cNvPr id="30" name="Group 30"/>
          <p:cNvGrpSpPr/>
          <p:nvPr/>
        </p:nvGrpSpPr>
        <p:grpSpPr>
          <a:xfrm>
            <a:off x="16667121" y="4769347"/>
            <a:ext cx="1624054" cy="1534379"/>
            <a:chOff x="0" y="0"/>
            <a:chExt cx="860303" cy="812800"/>
          </a:xfrm>
        </p:grpSpPr>
        <p:sp>
          <p:nvSpPr>
            <p:cNvPr id="31" name="Freeform 31"/>
            <p:cNvSpPr/>
            <p:nvPr/>
          </p:nvSpPr>
          <p:spPr>
            <a:xfrm>
              <a:off x="0" y="0"/>
              <a:ext cx="860303" cy="812800"/>
            </a:xfrm>
            <a:custGeom>
              <a:avLst/>
              <a:gdLst/>
              <a:ahLst/>
              <a:cxnLst/>
              <a:rect l="l" t="t" r="r" b="b"/>
              <a:pathLst>
                <a:path w="860303" h="812800">
                  <a:moveTo>
                    <a:pt x="430152" y="0"/>
                  </a:moveTo>
                  <a:cubicBezTo>
                    <a:pt x="192585" y="0"/>
                    <a:pt x="0" y="181951"/>
                    <a:pt x="0" y="406400"/>
                  </a:cubicBezTo>
                  <a:cubicBezTo>
                    <a:pt x="0" y="630849"/>
                    <a:pt x="192585" y="812800"/>
                    <a:pt x="430152" y="812800"/>
                  </a:cubicBezTo>
                  <a:cubicBezTo>
                    <a:pt x="667718" y="812800"/>
                    <a:pt x="860303" y="630849"/>
                    <a:pt x="860303" y="406400"/>
                  </a:cubicBezTo>
                  <a:cubicBezTo>
                    <a:pt x="860303" y="181951"/>
                    <a:pt x="667718" y="0"/>
                    <a:pt x="430152" y="0"/>
                  </a:cubicBezTo>
                  <a:close/>
                </a:path>
              </a:pathLst>
            </a:custGeom>
            <a:solidFill>
              <a:srgbClr val="00030A"/>
            </a:solidFill>
          </p:spPr>
          <p:txBody>
            <a:bodyPr/>
            <a:lstStyle/>
            <a:p>
              <a:endParaRPr lang="en-US"/>
            </a:p>
          </p:txBody>
        </p:sp>
        <p:sp>
          <p:nvSpPr>
            <p:cNvPr id="32" name="TextBox 32"/>
            <p:cNvSpPr txBox="1"/>
            <p:nvPr/>
          </p:nvSpPr>
          <p:spPr>
            <a:xfrm>
              <a:off x="80653" y="28575"/>
              <a:ext cx="698997"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07 Dashboard</a:t>
              </a:r>
            </a:p>
          </p:txBody>
        </p:sp>
      </p:grpSp>
      <p:sp>
        <p:nvSpPr>
          <p:cNvPr id="33" name="Freeform 33"/>
          <p:cNvSpPr/>
          <p:nvPr/>
        </p:nvSpPr>
        <p:spPr>
          <a:xfrm>
            <a:off x="3828049" y="6314931"/>
            <a:ext cx="1897827" cy="1582978"/>
          </a:xfrm>
          <a:custGeom>
            <a:avLst/>
            <a:gdLst/>
            <a:ahLst/>
            <a:cxnLst/>
            <a:rect l="l" t="t" r="r" b="b"/>
            <a:pathLst>
              <a:path w="1060157" h="1003173">
                <a:moveTo>
                  <a:pt x="0" y="0"/>
                </a:moveTo>
                <a:lnTo>
                  <a:pt x="1060157" y="0"/>
                </a:lnTo>
                <a:lnTo>
                  <a:pt x="1060157" y="1003173"/>
                </a:lnTo>
                <a:lnTo>
                  <a:pt x="0" y="1003173"/>
                </a:lnTo>
                <a:lnTo>
                  <a:pt x="0" y="0"/>
                </a:lnTo>
                <a:close/>
              </a:path>
            </a:pathLst>
          </a:custGeom>
          <a:blipFill>
            <a:blip r:embed="rId10"/>
            <a:stretch>
              <a:fillRect/>
            </a:stretch>
          </a:blipFill>
          <a:ln cap="sq">
            <a:noFill/>
            <a:prstDash val="solid"/>
            <a:miter/>
          </a:ln>
        </p:spPr>
        <p:txBody>
          <a:bodyPr/>
          <a:lstStyle/>
          <a:p>
            <a:endParaRPr lang="en-US"/>
          </a:p>
        </p:txBody>
      </p:sp>
      <p:sp>
        <p:nvSpPr>
          <p:cNvPr id="34" name="Freeform 34"/>
          <p:cNvSpPr/>
          <p:nvPr/>
        </p:nvSpPr>
        <p:spPr>
          <a:xfrm>
            <a:off x="6711679" y="3324399"/>
            <a:ext cx="1620177" cy="1282485"/>
          </a:xfrm>
          <a:custGeom>
            <a:avLst/>
            <a:gdLst/>
            <a:ahLst/>
            <a:cxnLst/>
            <a:rect l="l" t="t" r="r" b="b"/>
            <a:pathLst>
              <a:path w="1324618" h="1208714">
                <a:moveTo>
                  <a:pt x="0" y="0"/>
                </a:moveTo>
                <a:lnTo>
                  <a:pt x="1324619" y="0"/>
                </a:lnTo>
                <a:lnTo>
                  <a:pt x="1324619" y="1208714"/>
                </a:lnTo>
                <a:lnTo>
                  <a:pt x="0" y="1208714"/>
                </a:lnTo>
                <a:lnTo>
                  <a:pt x="0" y="0"/>
                </a:lnTo>
                <a:close/>
              </a:path>
            </a:pathLst>
          </a:custGeom>
          <a:blipFill>
            <a:blip r:embed="rId11"/>
            <a:stretch>
              <a:fillRect/>
            </a:stretch>
          </a:blipFill>
          <a:ln cap="sq">
            <a:noFill/>
            <a:prstDash val="solid"/>
            <a:miter/>
          </a:ln>
        </p:spPr>
        <p:txBody>
          <a:bodyPr/>
          <a:lstStyle/>
          <a:p>
            <a:endParaRPr lang="en-US"/>
          </a:p>
        </p:txBody>
      </p:sp>
      <p:sp>
        <p:nvSpPr>
          <p:cNvPr id="35" name="Freeform 35"/>
          <p:cNvSpPr/>
          <p:nvPr/>
        </p:nvSpPr>
        <p:spPr>
          <a:xfrm>
            <a:off x="9688992" y="6249109"/>
            <a:ext cx="1653761" cy="1648800"/>
          </a:xfrm>
          <a:custGeom>
            <a:avLst/>
            <a:gdLst/>
            <a:ahLst/>
            <a:cxnLst/>
            <a:rect l="l" t="t" r="r" b="b"/>
            <a:pathLst>
              <a:path w="1199892" h="1068995">
                <a:moveTo>
                  <a:pt x="0" y="0"/>
                </a:moveTo>
                <a:lnTo>
                  <a:pt x="1199892" y="0"/>
                </a:lnTo>
                <a:lnTo>
                  <a:pt x="1199892" y="1068995"/>
                </a:lnTo>
                <a:lnTo>
                  <a:pt x="0" y="1068995"/>
                </a:lnTo>
                <a:lnTo>
                  <a:pt x="0" y="0"/>
                </a:lnTo>
                <a:close/>
              </a:path>
            </a:pathLst>
          </a:custGeom>
          <a:blipFill>
            <a:blip>
              <a:extLst>
                <a:ext uri="{96DAC541-7B7A-43D3-8B79-37D633B846F1}">
                  <asvg:svgBlip xmlns:asvg="http://schemas.microsoft.com/office/drawing/2016/SVG/main" r:embed="rId12"/>
                </a:ext>
              </a:extLst>
            </a:blip>
            <a:stretch>
              <a:fillRect r="-1347" b="-1347"/>
            </a:stretch>
          </a:blipFill>
        </p:spPr>
        <p:txBody>
          <a:bodyPr/>
          <a:lstStyle/>
          <a:p>
            <a:endParaRPr lang="en-US"/>
          </a:p>
        </p:txBody>
      </p:sp>
      <p:sp>
        <p:nvSpPr>
          <p:cNvPr id="36" name="Freeform 36"/>
          <p:cNvSpPr/>
          <p:nvPr/>
        </p:nvSpPr>
        <p:spPr>
          <a:xfrm>
            <a:off x="12496267" y="3188887"/>
            <a:ext cx="1660324" cy="1591665"/>
          </a:xfrm>
          <a:custGeom>
            <a:avLst/>
            <a:gdLst/>
            <a:ahLst/>
            <a:cxnLst/>
            <a:rect l="l" t="t" r="r" b="b"/>
            <a:pathLst>
              <a:path w="1342400" h="1276500">
                <a:moveTo>
                  <a:pt x="0" y="0"/>
                </a:moveTo>
                <a:lnTo>
                  <a:pt x="1342399" y="0"/>
                </a:lnTo>
                <a:lnTo>
                  <a:pt x="1342399" y="1276500"/>
                </a:lnTo>
                <a:lnTo>
                  <a:pt x="0" y="1276500"/>
                </a:lnTo>
                <a:lnTo>
                  <a:pt x="0" y="0"/>
                </a:lnTo>
                <a:close/>
              </a:path>
            </a:pathLst>
          </a:custGeom>
          <a:blipFill>
            <a:blip>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37" name="Freeform 37"/>
          <p:cNvSpPr/>
          <p:nvPr/>
        </p:nvSpPr>
        <p:spPr>
          <a:xfrm>
            <a:off x="15547122" y="6249109"/>
            <a:ext cx="1318267" cy="1068995"/>
          </a:xfrm>
          <a:custGeom>
            <a:avLst/>
            <a:gdLst/>
            <a:ahLst/>
            <a:cxnLst/>
            <a:rect l="l" t="t" r="r" b="b"/>
            <a:pathLst>
              <a:path w="1318267" h="1068995">
                <a:moveTo>
                  <a:pt x="0" y="0"/>
                </a:moveTo>
                <a:lnTo>
                  <a:pt x="1318267" y="0"/>
                </a:lnTo>
                <a:lnTo>
                  <a:pt x="1318267" y="1068995"/>
                </a:lnTo>
                <a:lnTo>
                  <a:pt x="0" y="1068995"/>
                </a:lnTo>
                <a:lnTo>
                  <a:pt x="0" y="0"/>
                </a:lnTo>
                <a:close/>
              </a:path>
            </a:pathLst>
          </a:custGeom>
          <a:blipFill>
            <a:blip>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38" name="Freeform 38"/>
          <p:cNvSpPr/>
          <p:nvPr/>
        </p:nvSpPr>
        <p:spPr>
          <a:xfrm>
            <a:off x="1231337" y="3560633"/>
            <a:ext cx="1186649" cy="1219920"/>
          </a:xfrm>
          <a:custGeom>
            <a:avLst/>
            <a:gdLst/>
            <a:ahLst/>
            <a:cxnLst/>
            <a:rect l="l" t="t" r="r" b="b"/>
            <a:pathLst>
              <a:path w="1186649" h="1219920">
                <a:moveTo>
                  <a:pt x="0" y="0"/>
                </a:moveTo>
                <a:lnTo>
                  <a:pt x="1186649" y="0"/>
                </a:lnTo>
                <a:lnTo>
                  <a:pt x="1186649" y="1219919"/>
                </a:lnTo>
                <a:lnTo>
                  <a:pt x="0" y="1219919"/>
                </a:lnTo>
                <a:lnTo>
                  <a:pt x="0" y="0"/>
                </a:lnTo>
                <a:close/>
              </a:path>
            </a:pathLst>
          </a:custGeom>
          <a:blipFill>
            <a:blip>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9" name="Freeform 39"/>
          <p:cNvSpPr/>
          <p:nvPr/>
        </p:nvSpPr>
        <p:spPr>
          <a:xfrm>
            <a:off x="10355944" y="844036"/>
            <a:ext cx="1211945" cy="1211945"/>
          </a:xfrm>
          <a:custGeom>
            <a:avLst/>
            <a:gdLst/>
            <a:ahLst/>
            <a:cxnLst/>
            <a:rect l="l" t="t" r="r" b="b"/>
            <a:pathLst>
              <a:path w="1211945" h="1211945">
                <a:moveTo>
                  <a:pt x="0" y="0"/>
                </a:moveTo>
                <a:lnTo>
                  <a:pt x="1211944" y="0"/>
                </a:lnTo>
                <a:lnTo>
                  <a:pt x="1211944" y="1211944"/>
                </a:lnTo>
                <a:lnTo>
                  <a:pt x="0" y="1211944"/>
                </a:lnTo>
                <a:lnTo>
                  <a:pt x="0" y="0"/>
                </a:lnTo>
                <a:close/>
              </a:path>
            </a:pathLst>
          </a:custGeom>
          <a:blipFill>
            <a:blip>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40" name="TextBox 40"/>
          <p:cNvSpPr txBox="1"/>
          <p:nvPr/>
        </p:nvSpPr>
        <p:spPr>
          <a:xfrm>
            <a:off x="418331" y="6448781"/>
            <a:ext cx="2552350" cy="1795363"/>
          </a:xfrm>
          <a:prstGeom prst="rect">
            <a:avLst/>
          </a:prstGeom>
        </p:spPr>
        <p:txBody>
          <a:bodyPr lIns="0" tIns="0" rIns="0" bIns="0" rtlCol="0" anchor="t">
            <a:spAutoFit/>
          </a:bodyPr>
          <a:lstStyle/>
          <a:p>
            <a:pPr marL="0" lvl="0" indent="0" algn="ctr">
              <a:lnSpc>
                <a:spcPts val="2029"/>
              </a:lnSpc>
            </a:pPr>
            <a:r>
              <a:rPr lang="en-US" dirty="0">
                <a:solidFill>
                  <a:srgbClr val="231F20"/>
                </a:solidFill>
                <a:latin typeface="Decalotype"/>
                <a:ea typeface="Decalotype"/>
                <a:cs typeface="Decalotype"/>
                <a:sym typeface="Decalotype"/>
              </a:rPr>
              <a:t>A Data Set is a structured collection of related information, typically organized in rows and columns, used for statistical analysis or training machine learning models.</a:t>
            </a:r>
          </a:p>
        </p:txBody>
      </p:sp>
      <p:sp>
        <p:nvSpPr>
          <p:cNvPr id="41" name="TextBox 41"/>
          <p:cNvSpPr txBox="1"/>
          <p:nvPr/>
        </p:nvSpPr>
        <p:spPr>
          <a:xfrm>
            <a:off x="6384386" y="6359714"/>
            <a:ext cx="2546864" cy="2051844"/>
          </a:xfrm>
          <a:prstGeom prst="rect">
            <a:avLst/>
          </a:prstGeom>
        </p:spPr>
        <p:txBody>
          <a:bodyPr lIns="0" tIns="0" rIns="0" bIns="0" rtlCol="0" anchor="t">
            <a:spAutoFit/>
          </a:bodyPr>
          <a:lstStyle/>
          <a:p>
            <a:pPr marL="0" lvl="0" indent="0" algn="ctr">
              <a:lnSpc>
                <a:spcPts val="2024"/>
              </a:lnSpc>
            </a:pPr>
            <a:r>
              <a:rPr lang="en-US" dirty="0">
                <a:solidFill>
                  <a:srgbClr val="231F20"/>
                </a:solidFill>
                <a:latin typeface="Decalotype"/>
                <a:ea typeface="Decalotype"/>
                <a:cs typeface="Decalotype"/>
                <a:sym typeface="Decalotype"/>
              </a:rPr>
              <a:t>Data Modeling is the process of creating a visual representation or "blueprint" that defines how data is structured, stored, and the relationships between different data elements in a system</a:t>
            </a:r>
          </a:p>
        </p:txBody>
      </p:sp>
      <p:sp>
        <p:nvSpPr>
          <p:cNvPr id="42" name="TextBox 42"/>
          <p:cNvSpPr txBox="1"/>
          <p:nvPr/>
        </p:nvSpPr>
        <p:spPr>
          <a:xfrm>
            <a:off x="3357108" y="3083358"/>
            <a:ext cx="2756350" cy="1660391"/>
          </a:xfrm>
          <a:prstGeom prst="rect">
            <a:avLst/>
          </a:prstGeom>
        </p:spPr>
        <p:txBody>
          <a:bodyPr lIns="0" tIns="0" rIns="0" bIns="0" rtlCol="0" anchor="t">
            <a:spAutoFit/>
          </a:bodyPr>
          <a:lstStyle/>
          <a:p>
            <a:pPr marL="0" lvl="0" indent="0" algn="ctr">
              <a:lnSpc>
                <a:spcPts val="2191"/>
              </a:lnSpc>
            </a:pPr>
            <a:r>
              <a:rPr lang="en-US" dirty="0">
                <a:solidFill>
                  <a:srgbClr val="231F20"/>
                </a:solidFill>
                <a:latin typeface="Decalotype"/>
                <a:ea typeface="Decalotype"/>
                <a:cs typeface="Decalotype"/>
                <a:sym typeface="Decalotype"/>
              </a:rPr>
              <a:t>Data Cleaning is the </a:t>
            </a:r>
            <a:r>
              <a:rPr lang="en-US" sz="2000" dirty="0">
                <a:solidFill>
                  <a:srgbClr val="231F20"/>
                </a:solidFill>
                <a:latin typeface="Decalotype"/>
                <a:ea typeface="Decalotype"/>
                <a:cs typeface="Decalotype"/>
                <a:sym typeface="Decalotype"/>
              </a:rPr>
              <a:t>process</a:t>
            </a:r>
            <a:r>
              <a:rPr lang="en-US" dirty="0">
                <a:solidFill>
                  <a:srgbClr val="231F20"/>
                </a:solidFill>
                <a:latin typeface="Decalotype"/>
                <a:ea typeface="Decalotype"/>
                <a:cs typeface="Decalotype"/>
                <a:sym typeface="Decalotype"/>
              </a:rPr>
              <a:t> of fixing or removing incorrect, corrupted, duplicate, or incomplete data within a dataset to ensure accuracy and improve the quality of analysis</a:t>
            </a:r>
          </a:p>
        </p:txBody>
      </p:sp>
      <p:sp>
        <p:nvSpPr>
          <p:cNvPr id="43" name="TextBox 43"/>
          <p:cNvSpPr txBox="1"/>
          <p:nvPr/>
        </p:nvSpPr>
        <p:spPr>
          <a:xfrm>
            <a:off x="9140826" y="2999404"/>
            <a:ext cx="2557517" cy="2051844"/>
          </a:xfrm>
          <a:prstGeom prst="rect">
            <a:avLst/>
          </a:prstGeom>
        </p:spPr>
        <p:txBody>
          <a:bodyPr lIns="0" tIns="0" rIns="0" bIns="0" rtlCol="0" anchor="t">
            <a:spAutoFit/>
          </a:bodyPr>
          <a:lstStyle/>
          <a:p>
            <a:pPr marL="0" lvl="0" indent="0" algn="ctr">
              <a:lnSpc>
                <a:spcPts val="2033"/>
              </a:lnSpc>
            </a:pPr>
            <a:r>
              <a:rPr lang="en-US" dirty="0">
                <a:solidFill>
                  <a:srgbClr val="231F20"/>
                </a:solidFill>
                <a:latin typeface="Decalotype"/>
                <a:ea typeface="Decalotype"/>
                <a:cs typeface="Decalotype"/>
                <a:sym typeface="Decalotype"/>
              </a:rPr>
              <a:t>DAX (Data Analysis Expressions) is a formula language used in Power BI and Excel to create custom calculations and perform advanced data analysis through functions and operators</a:t>
            </a:r>
            <a:r>
              <a:rPr lang="en-US" sz="1452" dirty="0">
                <a:solidFill>
                  <a:srgbClr val="231F20"/>
                </a:solidFill>
                <a:latin typeface="Decalotype"/>
                <a:ea typeface="Decalotype"/>
                <a:cs typeface="Decalotype"/>
                <a:sym typeface="Decalotype"/>
              </a:rPr>
              <a:t>.</a:t>
            </a:r>
          </a:p>
        </p:txBody>
      </p:sp>
      <p:sp>
        <p:nvSpPr>
          <p:cNvPr id="44" name="TextBox 44"/>
          <p:cNvSpPr txBox="1"/>
          <p:nvPr/>
        </p:nvSpPr>
        <p:spPr>
          <a:xfrm>
            <a:off x="4888206" y="723900"/>
            <a:ext cx="7805135" cy="1236830"/>
          </a:xfrm>
          <a:prstGeom prst="rect">
            <a:avLst/>
          </a:prstGeom>
        </p:spPr>
        <p:txBody>
          <a:bodyPr lIns="0" tIns="0" rIns="0" bIns="0" rtlCol="0" anchor="t">
            <a:spAutoFit/>
          </a:bodyPr>
          <a:lstStyle/>
          <a:p>
            <a:pPr marL="0" lvl="0" indent="0" algn="ctr">
              <a:lnSpc>
                <a:spcPts val="9598"/>
              </a:lnSpc>
            </a:pPr>
            <a:r>
              <a:rPr lang="en-US" sz="8800" b="1" dirty="0">
                <a:solidFill>
                  <a:srgbClr val="000000"/>
                </a:solidFill>
                <a:latin typeface="Gagalin" panose="020B0604020202020204" charset="0"/>
                <a:ea typeface="Oswald Bold"/>
                <a:cs typeface="Oswald Bold"/>
                <a:sym typeface="Oswald Bold"/>
              </a:rPr>
              <a:t>Steps</a:t>
            </a:r>
            <a:endParaRPr lang="en-US" sz="8647" b="1" dirty="0">
              <a:solidFill>
                <a:srgbClr val="000000"/>
              </a:solidFill>
              <a:latin typeface="Gagalin" panose="020B0604020202020204" charset="0"/>
              <a:ea typeface="Oswald Bold"/>
              <a:cs typeface="Oswald Bold"/>
              <a:sym typeface="Oswald Bold"/>
            </a:endParaRPr>
          </a:p>
        </p:txBody>
      </p:sp>
      <p:sp>
        <p:nvSpPr>
          <p:cNvPr id="45" name="TextBox 45"/>
          <p:cNvSpPr txBox="1"/>
          <p:nvPr/>
        </p:nvSpPr>
        <p:spPr>
          <a:xfrm>
            <a:off x="12005747" y="6377590"/>
            <a:ext cx="2882865" cy="1739835"/>
          </a:xfrm>
          <a:prstGeom prst="rect">
            <a:avLst/>
          </a:prstGeom>
        </p:spPr>
        <p:txBody>
          <a:bodyPr lIns="0" tIns="0" rIns="0" bIns="0" rtlCol="0" anchor="t">
            <a:spAutoFit/>
          </a:bodyPr>
          <a:lstStyle/>
          <a:p>
            <a:pPr marL="0" lvl="0" indent="0" algn="ctr">
              <a:lnSpc>
                <a:spcPts val="2292"/>
              </a:lnSpc>
            </a:pPr>
            <a:r>
              <a:rPr lang="en-US" dirty="0">
                <a:solidFill>
                  <a:srgbClr val="231F20"/>
                </a:solidFill>
                <a:latin typeface="Decalotype"/>
                <a:ea typeface="Decalotype"/>
                <a:cs typeface="Decalotype"/>
                <a:sym typeface="Decalotype"/>
              </a:rPr>
              <a:t>Sample Visuals are representative charts or graphs (like Bar, Line, or Pie charts) used to display data patterns, making it easier to identify trends and outliers at a glance</a:t>
            </a:r>
            <a:r>
              <a:rPr lang="en-US" sz="1637" dirty="0">
                <a:solidFill>
                  <a:srgbClr val="231F20"/>
                </a:solidFill>
                <a:latin typeface="Decalotype"/>
                <a:ea typeface="Decalotype"/>
                <a:cs typeface="Decalotype"/>
                <a:sym typeface="Decalotype"/>
              </a:rPr>
              <a:t>.</a:t>
            </a:r>
          </a:p>
        </p:txBody>
      </p:sp>
      <p:sp>
        <p:nvSpPr>
          <p:cNvPr id="46" name="TextBox 46"/>
          <p:cNvSpPr txBox="1"/>
          <p:nvPr/>
        </p:nvSpPr>
        <p:spPr>
          <a:xfrm>
            <a:off x="14907603" y="2916491"/>
            <a:ext cx="2585485" cy="1885131"/>
          </a:xfrm>
          <a:prstGeom prst="rect">
            <a:avLst/>
          </a:prstGeom>
        </p:spPr>
        <p:txBody>
          <a:bodyPr lIns="0" tIns="0" rIns="0" bIns="0" rtlCol="0" anchor="t">
            <a:spAutoFit/>
          </a:bodyPr>
          <a:lstStyle/>
          <a:p>
            <a:pPr marL="0" lvl="0" indent="0" algn="ctr">
              <a:lnSpc>
                <a:spcPts val="2055"/>
              </a:lnSpc>
            </a:pPr>
            <a:r>
              <a:rPr lang="en-US" dirty="0">
                <a:solidFill>
                  <a:srgbClr val="231F20"/>
                </a:solidFill>
                <a:latin typeface="Decalotype"/>
                <a:ea typeface="Decalotype"/>
                <a:cs typeface="Decalotype"/>
                <a:sym typeface="Decalotype"/>
              </a:rPr>
              <a:t>Dashboard is a visual interface that consolidates and displays key metrics and data visualizations on a single screen to monitor performance and make quick, data-driven decisions.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500"/>
                                        <p:tgtEl>
                                          <p:spTgt spid="38"/>
                                        </p:tgtEl>
                                      </p:cBhvr>
                                    </p:animEffect>
                                  </p:childTnLst>
                                </p:cTn>
                              </p:par>
                              <p:par>
                                <p:cTn id="16" presetID="22" presetClass="entr" presetSubtype="8"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wipe(left)">
                                      <p:cBhvr>
                                        <p:cTn id="21" dur="500"/>
                                        <p:tgtEl>
                                          <p:spTgt spid="4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wipe(left)">
                                      <p:cBhvr>
                                        <p:cTn id="29" dur="500"/>
                                        <p:tgtEl>
                                          <p:spTgt spid="42"/>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wipe(left)">
                                      <p:cBhvr>
                                        <p:cTn id="40" dur="500"/>
                                        <p:tgtEl>
                                          <p:spTgt spid="34"/>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wipe(left)">
                                      <p:cBhvr>
                                        <p:cTn id="43" dur="500"/>
                                        <p:tgtEl>
                                          <p:spTgt spid="4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left)">
                                      <p:cBhvr>
                                        <p:cTn id="48" dur="500"/>
                                        <p:tgtEl>
                                          <p:spTgt spid="10"/>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left)">
                                      <p:cBhvr>
                                        <p:cTn id="51" dur="500"/>
                                        <p:tgtEl>
                                          <p:spTgt spid="43"/>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wipe(left)">
                                      <p:cBhvr>
                                        <p:cTn id="54" dur="500"/>
                                        <p:tgtEl>
                                          <p:spTgt spid="3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wipe(left)">
                                      <p:cBhvr>
                                        <p:cTn id="59" dur="500"/>
                                        <p:tgtEl>
                                          <p:spTgt spid="16"/>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wipe(left)">
                                      <p:cBhvr>
                                        <p:cTn id="62" dur="500"/>
                                        <p:tgtEl>
                                          <p:spTgt spid="36"/>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wipe(left)">
                                      <p:cBhvr>
                                        <p:cTn id="65" dur="500"/>
                                        <p:tgtEl>
                                          <p:spTgt spid="4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wipe(left)">
                                      <p:cBhvr>
                                        <p:cTn id="70" dur="500"/>
                                        <p:tgtEl>
                                          <p:spTgt spid="19"/>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wipe(left)">
                                      <p:cBhvr>
                                        <p:cTn id="73" dur="500"/>
                                        <p:tgtEl>
                                          <p:spTgt spid="37"/>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wipe(left)">
                                      <p:cBhvr>
                                        <p:cTn id="78" dur="500"/>
                                        <p:tgtEl>
                                          <p:spTgt spid="30"/>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animEffect transition="in" filter="wipe(left)">
                                      <p:cBhvr>
                                        <p:cTn id="8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37" grpId="0" animBg="1"/>
      <p:bldP spid="38" grpId="0" animBg="1"/>
      <p:bldP spid="39" grpId="0" animBg="1"/>
      <p:bldP spid="40" grpId="0"/>
      <p:bldP spid="41" grpId="0"/>
      <p:bldP spid="42" grpId="0"/>
      <p:bldP spid="43" grpId="0"/>
      <p:bldP spid="44" grpId="0"/>
      <p:bldP spid="45" grpId="0"/>
      <p:bldP spid="4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a:p>
        </p:txBody>
      </p:sp>
      <p:sp>
        <p:nvSpPr>
          <p:cNvPr id="3" name="TextBox 3"/>
          <p:cNvSpPr txBox="1"/>
          <p:nvPr/>
        </p:nvSpPr>
        <p:spPr>
          <a:xfrm>
            <a:off x="1593308" y="39731"/>
            <a:ext cx="13851580" cy="2848588"/>
          </a:xfrm>
          <a:prstGeom prst="rect">
            <a:avLst/>
          </a:prstGeom>
        </p:spPr>
        <p:txBody>
          <a:bodyPr lIns="0" tIns="0" rIns="0" bIns="0" rtlCol="0" anchor="t">
            <a:spAutoFit/>
          </a:bodyPr>
          <a:lstStyle/>
          <a:p>
            <a:pPr algn="ctr">
              <a:lnSpc>
                <a:spcPts val="11159"/>
              </a:lnSpc>
            </a:pPr>
            <a:r>
              <a:rPr lang="en-US" sz="9600" b="1" dirty="0">
                <a:solidFill>
                  <a:srgbClr val="000000"/>
                </a:solidFill>
                <a:latin typeface="Gagalin" panose="020B0604020202020204" charset="0"/>
                <a:ea typeface="Oswald Bold"/>
                <a:cs typeface="Oswald Bold"/>
                <a:sym typeface="Oswald Bold"/>
              </a:rPr>
              <a:t>Data Cleaning</a:t>
            </a:r>
          </a:p>
          <a:p>
            <a:pPr marL="0" lvl="0" indent="0" algn="ctr">
              <a:lnSpc>
                <a:spcPts val="11159"/>
              </a:lnSpc>
              <a:spcBef>
                <a:spcPct val="0"/>
              </a:spcBef>
            </a:pPr>
            <a:endParaRPr lang="en-US" sz="9600" b="1" dirty="0">
              <a:solidFill>
                <a:srgbClr val="000000"/>
              </a:solidFill>
              <a:latin typeface="Oswald Bold"/>
              <a:ea typeface="Oswald Bold"/>
              <a:cs typeface="Oswald Bold"/>
              <a:sym typeface="Oswald Bold"/>
            </a:endParaRPr>
          </a:p>
        </p:txBody>
      </p:sp>
      <p:grpSp>
        <p:nvGrpSpPr>
          <p:cNvPr id="4" name="Group 4"/>
          <p:cNvGrpSpPr/>
          <p:nvPr/>
        </p:nvGrpSpPr>
        <p:grpSpPr>
          <a:xfrm>
            <a:off x="605912" y="2156471"/>
            <a:ext cx="845577" cy="845577"/>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30A"/>
            </a:solidFill>
          </p:spPr>
          <p:txBody>
            <a:bodyPr/>
            <a:lstStyle/>
            <a:p>
              <a:endParaRPr lang="en-US"/>
            </a:p>
          </p:txBody>
        </p:sp>
        <p:sp>
          <p:nvSpPr>
            <p:cNvPr id="6" name="TextBox 6"/>
            <p:cNvSpPr txBox="1"/>
            <p:nvPr/>
          </p:nvSpPr>
          <p:spPr>
            <a:xfrm>
              <a:off x="76200" y="28575"/>
              <a:ext cx="660400" cy="708025"/>
            </a:xfrm>
            <a:prstGeom prst="rect">
              <a:avLst/>
            </a:prstGeom>
          </p:spPr>
          <p:txBody>
            <a:bodyPr lIns="50800" tIns="50800" rIns="50800" bIns="50800" rtlCol="0" anchor="ctr"/>
            <a:lstStyle/>
            <a:p>
              <a:pPr marL="0" lvl="0" indent="0" algn="ctr">
                <a:lnSpc>
                  <a:spcPts val="3269"/>
                </a:lnSpc>
              </a:pPr>
              <a:r>
                <a:rPr lang="en-US" sz="2335">
                  <a:solidFill>
                    <a:srgbClr val="EAEAEA"/>
                  </a:solidFill>
                  <a:latin typeface="Decalotype"/>
                  <a:ea typeface="Decalotype"/>
                  <a:cs typeface="Decalotype"/>
                  <a:sym typeface="Decalotype"/>
                </a:rPr>
                <a:t>01</a:t>
              </a:r>
            </a:p>
          </p:txBody>
        </p:sp>
      </p:grpSp>
      <p:grpSp>
        <p:nvGrpSpPr>
          <p:cNvPr id="7" name="Group 7"/>
          <p:cNvGrpSpPr/>
          <p:nvPr/>
        </p:nvGrpSpPr>
        <p:grpSpPr>
          <a:xfrm>
            <a:off x="9405314" y="2190339"/>
            <a:ext cx="777842" cy="777842"/>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30A"/>
            </a:solidFill>
          </p:spPr>
          <p:txBody>
            <a:bodyPr/>
            <a:lstStyle/>
            <a:p>
              <a:endParaRPr lang="en-US"/>
            </a:p>
          </p:txBody>
        </p:sp>
        <p:sp>
          <p:nvSpPr>
            <p:cNvPr id="9" name="TextBox 9"/>
            <p:cNvSpPr txBox="1"/>
            <p:nvPr/>
          </p:nvSpPr>
          <p:spPr>
            <a:xfrm>
              <a:off x="76200" y="28575"/>
              <a:ext cx="660400" cy="708025"/>
            </a:xfrm>
            <a:prstGeom prst="rect">
              <a:avLst/>
            </a:prstGeom>
          </p:spPr>
          <p:txBody>
            <a:bodyPr lIns="50800" tIns="50800" rIns="50800" bIns="50800" rtlCol="0" anchor="ctr"/>
            <a:lstStyle/>
            <a:p>
              <a:pPr marL="0" lvl="0" indent="0" algn="ctr">
                <a:lnSpc>
                  <a:spcPts val="3269"/>
                </a:lnSpc>
              </a:pPr>
              <a:r>
                <a:rPr lang="en-US" sz="2335" dirty="0">
                  <a:solidFill>
                    <a:srgbClr val="EAEAEA"/>
                  </a:solidFill>
                  <a:latin typeface="Decalotype"/>
                  <a:ea typeface="Decalotype"/>
                  <a:cs typeface="Decalotype"/>
                  <a:sym typeface="Decalotype"/>
                </a:rPr>
                <a:t>02</a:t>
              </a:r>
            </a:p>
          </p:txBody>
        </p:sp>
      </p:grpSp>
      <p:sp>
        <p:nvSpPr>
          <p:cNvPr id="10" name="AutoShape 10"/>
          <p:cNvSpPr/>
          <p:nvPr/>
        </p:nvSpPr>
        <p:spPr>
          <a:xfrm>
            <a:off x="9124950" y="3487750"/>
            <a:ext cx="0" cy="6492240"/>
          </a:xfrm>
          <a:prstGeom prst="line">
            <a:avLst/>
          </a:prstGeom>
          <a:ln w="38100" cap="flat">
            <a:solidFill>
              <a:srgbClr val="000000"/>
            </a:solidFill>
            <a:prstDash val="solid"/>
            <a:headEnd type="none" w="sm" len="sm"/>
            <a:tailEnd type="none" w="sm" len="sm"/>
          </a:ln>
        </p:spPr>
        <p:txBody>
          <a:bodyPr/>
          <a:lstStyle/>
          <a:p>
            <a:endParaRPr lang="en-US"/>
          </a:p>
        </p:txBody>
      </p:sp>
      <p:sp>
        <p:nvSpPr>
          <p:cNvPr id="11" name="Freeform 11"/>
          <p:cNvSpPr/>
          <p:nvPr/>
        </p:nvSpPr>
        <p:spPr>
          <a:xfrm>
            <a:off x="780932" y="3679402"/>
            <a:ext cx="7405144" cy="5578898"/>
          </a:xfrm>
          <a:custGeom>
            <a:avLst/>
            <a:gdLst/>
            <a:ahLst/>
            <a:cxnLst/>
            <a:rect l="l" t="t" r="r" b="b"/>
            <a:pathLst>
              <a:path w="7405144" h="5578898">
                <a:moveTo>
                  <a:pt x="0" y="0"/>
                </a:moveTo>
                <a:lnTo>
                  <a:pt x="7405144" y="0"/>
                </a:lnTo>
                <a:lnTo>
                  <a:pt x="7405144" y="5578898"/>
                </a:lnTo>
                <a:lnTo>
                  <a:pt x="0" y="5578898"/>
                </a:lnTo>
                <a:lnTo>
                  <a:pt x="0" y="0"/>
                </a:lnTo>
                <a:close/>
              </a:path>
            </a:pathLst>
          </a:custGeom>
          <a:blipFill>
            <a:blip r:embed="rId3"/>
            <a:stretch>
              <a:fillRect l="-29031" b="-2119"/>
            </a:stretch>
          </a:blipFill>
        </p:spPr>
        <p:txBody>
          <a:bodyPr/>
          <a:lstStyle/>
          <a:p>
            <a:endParaRPr lang="en-US"/>
          </a:p>
        </p:txBody>
      </p:sp>
      <p:sp>
        <p:nvSpPr>
          <p:cNvPr id="12" name="Freeform 12"/>
          <p:cNvSpPr/>
          <p:nvPr/>
        </p:nvSpPr>
        <p:spPr>
          <a:xfrm>
            <a:off x="12442030" y="7511676"/>
            <a:ext cx="6327492" cy="3089596"/>
          </a:xfrm>
          <a:custGeom>
            <a:avLst/>
            <a:gdLst/>
            <a:ahLst/>
            <a:cxnLst/>
            <a:rect l="l" t="t" r="r" b="b"/>
            <a:pathLst>
              <a:path w="6327492" h="3089596">
                <a:moveTo>
                  <a:pt x="0" y="0"/>
                </a:moveTo>
                <a:lnTo>
                  <a:pt x="6327492" y="0"/>
                </a:lnTo>
                <a:lnTo>
                  <a:pt x="6327492" y="3089595"/>
                </a:lnTo>
                <a:lnTo>
                  <a:pt x="0" y="308959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Freeform 13"/>
          <p:cNvSpPr/>
          <p:nvPr/>
        </p:nvSpPr>
        <p:spPr>
          <a:xfrm>
            <a:off x="9794234" y="3621897"/>
            <a:ext cx="7708010" cy="5636403"/>
          </a:xfrm>
          <a:custGeom>
            <a:avLst/>
            <a:gdLst/>
            <a:ahLst/>
            <a:cxnLst/>
            <a:rect l="l" t="t" r="r" b="b"/>
            <a:pathLst>
              <a:path w="7708010" h="5636403">
                <a:moveTo>
                  <a:pt x="0" y="0"/>
                </a:moveTo>
                <a:lnTo>
                  <a:pt x="7708011" y="0"/>
                </a:lnTo>
                <a:lnTo>
                  <a:pt x="7708011" y="5636403"/>
                </a:lnTo>
                <a:lnTo>
                  <a:pt x="0" y="5636403"/>
                </a:lnTo>
                <a:lnTo>
                  <a:pt x="0" y="0"/>
                </a:lnTo>
                <a:close/>
              </a:path>
            </a:pathLst>
          </a:custGeom>
          <a:blipFill>
            <a:blip r:embed="rId5"/>
            <a:stretch>
              <a:fillRect l="-29454" b="-24"/>
            </a:stretch>
          </a:blipFill>
        </p:spPr>
        <p:txBody>
          <a:bodyPr/>
          <a:lstStyle/>
          <a:p>
            <a:endParaRPr lang="en-US"/>
          </a:p>
        </p:txBody>
      </p:sp>
      <p:grpSp>
        <p:nvGrpSpPr>
          <p:cNvPr id="14" name="Group 14"/>
          <p:cNvGrpSpPr/>
          <p:nvPr/>
        </p:nvGrpSpPr>
        <p:grpSpPr>
          <a:xfrm>
            <a:off x="7600950" y="3600450"/>
            <a:ext cx="3086100" cy="3086100"/>
            <a:chOff x="0" y="0"/>
            <a:chExt cx="812800" cy="812800"/>
          </a:xfrm>
        </p:grpSpPr>
        <p:sp>
          <p:nvSpPr>
            <p:cNvPr id="15" name="Freeform 15"/>
            <p:cNvSpPr/>
            <p:nvPr/>
          </p:nvSpPr>
          <p:spPr>
            <a:xfrm>
              <a:off x="0" y="0"/>
              <a:ext cx="812800" cy="812800"/>
            </a:xfrm>
            <a:custGeom>
              <a:avLst/>
              <a:gdLst/>
              <a:ahLst/>
              <a:cxnLst/>
              <a:rect l="l" t="t" r="r" b="b"/>
              <a:pathLst>
                <a:path w="812800" h="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231F20">
                <a:alpha val="0"/>
              </a:srgbClr>
            </a:solidFill>
            <a:ln w="314325" cap="rnd">
              <a:solidFill>
                <a:srgbClr val="000000">
                  <a:alpha val="0"/>
                </a:srgbClr>
              </a:solidFill>
              <a:prstDash val="solid"/>
              <a:round/>
            </a:ln>
          </p:spPr>
          <p:txBody>
            <a:bodyPr/>
            <a:lstStyle/>
            <a:p>
              <a:endParaRPr lang="en-US"/>
            </a:p>
          </p:txBody>
        </p:sp>
        <p:sp>
          <p:nvSpPr>
            <p:cNvPr id="16" name="TextBox 16"/>
            <p:cNvSpPr txBox="1"/>
            <p:nvPr/>
          </p:nvSpPr>
          <p:spPr>
            <a:xfrm>
              <a:off x="0" y="-47625"/>
              <a:ext cx="812800" cy="860425"/>
            </a:xfrm>
            <a:prstGeom prst="rect">
              <a:avLst/>
            </a:prstGeom>
          </p:spPr>
          <p:txBody>
            <a:bodyPr lIns="50800" tIns="50800" rIns="50800" bIns="50800" rtlCol="0" anchor="ctr"/>
            <a:lstStyle/>
            <a:p>
              <a:pPr algn="ctr">
                <a:lnSpc>
                  <a:spcPts val="3269"/>
                </a:lnSpc>
              </a:pPr>
              <a:endParaRPr/>
            </a:p>
          </p:txBody>
        </p:sp>
      </p:grpSp>
      <p:sp>
        <p:nvSpPr>
          <p:cNvPr id="17" name="Freeform 17"/>
          <p:cNvSpPr/>
          <p:nvPr/>
        </p:nvSpPr>
        <p:spPr>
          <a:xfrm>
            <a:off x="5786922" y="3554003"/>
            <a:ext cx="2399154" cy="5829696"/>
          </a:xfrm>
          <a:custGeom>
            <a:avLst/>
            <a:gdLst/>
            <a:ahLst/>
            <a:cxnLst/>
            <a:rect l="l" t="t" r="r" b="b"/>
            <a:pathLst>
              <a:path w="2399154" h="5829696">
                <a:moveTo>
                  <a:pt x="0" y="0"/>
                </a:moveTo>
                <a:lnTo>
                  <a:pt x="2399154" y="0"/>
                </a:lnTo>
                <a:lnTo>
                  <a:pt x="2399154" y="5829696"/>
                </a:lnTo>
                <a:lnTo>
                  <a:pt x="0" y="5829696"/>
                </a:lnTo>
                <a:lnTo>
                  <a:pt x="0" y="0"/>
                </a:lnTo>
                <a:close/>
              </a:path>
            </a:pathLst>
          </a:custGeom>
          <a:blipFill>
            <a:blip r:embed="rId6"/>
            <a:stretch>
              <a:fillRect t="-3592" r="-107413" b="-3592"/>
            </a:stretch>
          </a:blipFill>
        </p:spPr>
        <p:txBody>
          <a:bodyPr/>
          <a:lstStyle/>
          <a:p>
            <a:endParaRPr lang="en-US"/>
          </a:p>
        </p:txBody>
      </p:sp>
      <p:sp>
        <p:nvSpPr>
          <p:cNvPr id="18" name="Freeform 18"/>
          <p:cNvSpPr/>
          <p:nvPr/>
        </p:nvSpPr>
        <p:spPr>
          <a:xfrm>
            <a:off x="14899884" y="3649829"/>
            <a:ext cx="2602361" cy="5733870"/>
          </a:xfrm>
          <a:custGeom>
            <a:avLst/>
            <a:gdLst/>
            <a:ahLst/>
            <a:cxnLst/>
            <a:rect l="l" t="t" r="r" b="b"/>
            <a:pathLst>
              <a:path w="2602361" h="5733870">
                <a:moveTo>
                  <a:pt x="0" y="0"/>
                </a:moveTo>
                <a:lnTo>
                  <a:pt x="2602361" y="0"/>
                </a:lnTo>
                <a:lnTo>
                  <a:pt x="2602361" y="5733870"/>
                </a:lnTo>
                <a:lnTo>
                  <a:pt x="0" y="5733870"/>
                </a:lnTo>
                <a:lnTo>
                  <a:pt x="0" y="0"/>
                </a:lnTo>
                <a:close/>
              </a:path>
            </a:pathLst>
          </a:custGeom>
          <a:blipFill>
            <a:blip r:embed="rId6"/>
            <a:stretch>
              <a:fillRect l="-592" t="-3888" r="-81696"/>
            </a:stretch>
          </a:blipFill>
        </p:spPr>
        <p:txBody>
          <a:bodyPr/>
          <a:lstStyle/>
          <a:p>
            <a:endParaRPr lang="en-US"/>
          </a:p>
        </p:txBody>
      </p:sp>
      <p:sp>
        <p:nvSpPr>
          <p:cNvPr id="19" name="Freeform 19"/>
          <p:cNvSpPr/>
          <p:nvPr/>
        </p:nvSpPr>
        <p:spPr>
          <a:xfrm>
            <a:off x="12767507" y="111780"/>
            <a:ext cx="1761464" cy="1423280"/>
          </a:xfrm>
          <a:custGeom>
            <a:avLst/>
            <a:gdLst/>
            <a:ahLst/>
            <a:cxnLst/>
            <a:rect l="l" t="t" r="r" b="b"/>
            <a:pathLst>
              <a:path w="1390955" h="1316191">
                <a:moveTo>
                  <a:pt x="0" y="0"/>
                </a:moveTo>
                <a:lnTo>
                  <a:pt x="1390955" y="0"/>
                </a:lnTo>
                <a:lnTo>
                  <a:pt x="1390955" y="1316192"/>
                </a:lnTo>
                <a:lnTo>
                  <a:pt x="0" y="1316192"/>
                </a:lnTo>
                <a:lnTo>
                  <a:pt x="0" y="0"/>
                </a:lnTo>
                <a:close/>
              </a:path>
            </a:pathLst>
          </a:custGeom>
          <a:blipFill>
            <a:blip r:embed="rId7"/>
            <a:stretch>
              <a:fillRect/>
            </a:stretch>
          </a:blipFill>
          <a:ln cap="sq">
            <a:noFill/>
            <a:prstDash val="solid"/>
            <a:miter/>
          </a:ln>
        </p:spPr>
        <p:txBody>
          <a:bodyPr/>
          <a:lstStyle/>
          <a:p>
            <a:endParaRPr lang="en-US"/>
          </a:p>
        </p:txBody>
      </p:sp>
      <p:sp>
        <p:nvSpPr>
          <p:cNvPr id="20" name="Freeform 20"/>
          <p:cNvSpPr/>
          <p:nvPr/>
        </p:nvSpPr>
        <p:spPr>
          <a:xfrm>
            <a:off x="10824827" y="1467156"/>
            <a:ext cx="1337317" cy="2182673"/>
          </a:xfrm>
          <a:custGeom>
            <a:avLst/>
            <a:gdLst/>
            <a:ahLst/>
            <a:cxnLst/>
            <a:rect l="l" t="t" r="r" b="b"/>
            <a:pathLst>
              <a:path w="1337317" h="2182673">
                <a:moveTo>
                  <a:pt x="0" y="0"/>
                </a:moveTo>
                <a:lnTo>
                  <a:pt x="1337316" y="0"/>
                </a:lnTo>
                <a:lnTo>
                  <a:pt x="1337316" y="2182673"/>
                </a:lnTo>
                <a:lnTo>
                  <a:pt x="0" y="2182673"/>
                </a:lnTo>
                <a:lnTo>
                  <a:pt x="0" y="0"/>
                </a:lnTo>
                <a:close/>
              </a:path>
            </a:pathLst>
          </a:custGeom>
          <a:blipFill>
            <a:blip r:embed="rId8"/>
            <a:stretch>
              <a:fillRect l="-5594" r="-5594"/>
            </a:stretch>
          </a:blipFill>
          <a:ln cap="sq">
            <a:noFill/>
            <a:prstDash val="solid"/>
            <a:miter/>
          </a:ln>
        </p:spPr>
        <p:txBody>
          <a:bodyPr/>
          <a:lstStyle/>
          <a:p>
            <a:endParaRPr lang="en-US"/>
          </a:p>
        </p:txBody>
      </p:sp>
      <p:sp>
        <p:nvSpPr>
          <p:cNvPr id="21" name="Freeform 21"/>
          <p:cNvSpPr/>
          <p:nvPr/>
        </p:nvSpPr>
        <p:spPr>
          <a:xfrm>
            <a:off x="1241934" y="1467156"/>
            <a:ext cx="2660732" cy="1800954"/>
          </a:xfrm>
          <a:custGeom>
            <a:avLst/>
            <a:gdLst/>
            <a:ahLst/>
            <a:cxnLst/>
            <a:rect l="l" t="t" r="r" b="b"/>
            <a:pathLst>
              <a:path w="2660732" h="1800954">
                <a:moveTo>
                  <a:pt x="0" y="0"/>
                </a:moveTo>
                <a:lnTo>
                  <a:pt x="2660732" y="0"/>
                </a:lnTo>
                <a:lnTo>
                  <a:pt x="2660732" y="1800954"/>
                </a:lnTo>
                <a:lnTo>
                  <a:pt x="0" y="1800954"/>
                </a:lnTo>
                <a:lnTo>
                  <a:pt x="0" y="0"/>
                </a:lnTo>
                <a:close/>
              </a:path>
            </a:pathLst>
          </a:custGeom>
          <a:blipFill>
            <a:blip r:embed="rId9"/>
            <a:stretch>
              <a:fillRect t="-1306" b="-1306"/>
            </a:stretch>
          </a:blipFill>
          <a:ln cap="sq">
            <a:noFill/>
            <a:prstDash val="solid"/>
            <a:miter/>
          </a:ln>
        </p:spPr>
        <p:txBody>
          <a:bodyPr/>
          <a:lstStyle/>
          <a:p>
            <a:endParaRPr lang="en-US"/>
          </a:p>
        </p:txBody>
      </p:sp>
      <p:sp>
        <p:nvSpPr>
          <p:cNvPr id="22" name="TextBox 22"/>
          <p:cNvSpPr txBox="1"/>
          <p:nvPr/>
        </p:nvSpPr>
        <p:spPr>
          <a:xfrm>
            <a:off x="1383753" y="2131931"/>
            <a:ext cx="2814107" cy="802382"/>
          </a:xfrm>
          <a:prstGeom prst="rect">
            <a:avLst/>
          </a:prstGeom>
        </p:spPr>
        <p:txBody>
          <a:bodyPr lIns="0" tIns="0" rIns="0" bIns="0" rtlCol="0" anchor="t">
            <a:spAutoFit/>
          </a:bodyPr>
          <a:lstStyle/>
          <a:p>
            <a:pPr algn="ctr">
              <a:lnSpc>
                <a:spcPts val="6221"/>
              </a:lnSpc>
              <a:spcBef>
                <a:spcPct val="0"/>
              </a:spcBef>
            </a:pPr>
            <a:r>
              <a:rPr lang="en-US" sz="5605">
                <a:solidFill>
                  <a:srgbClr val="000000"/>
                </a:solidFill>
                <a:latin typeface="Oswald"/>
                <a:ea typeface="Oswald"/>
                <a:cs typeface="Oswald"/>
                <a:sym typeface="Oswald"/>
              </a:rPr>
              <a:t>Before</a:t>
            </a:r>
          </a:p>
        </p:txBody>
      </p:sp>
      <p:sp>
        <p:nvSpPr>
          <p:cNvPr id="23" name="TextBox 23"/>
          <p:cNvSpPr txBox="1"/>
          <p:nvPr/>
        </p:nvSpPr>
        <p:spPr>
          <a:xfrm>
            <a:off x="9794234" y="2036746"/>
            <a:ext cx="3398501" cy="992751"/>
          </a:xfrm>
          <a:prstGeom prst="rect">
            <a:avLst/>
          </a:prstGeom>
        </p:spPr>
        <p:txBody>
          <a:bodyPr lIns="0" tIns="0" rIns="0" bIns="0" rtlCol="0" anchor="t">
            <a:spAutoFit/>
          </a:bodyPr>
          <a:lstStyle/>
          <a:p>
            <a:pPr algn="ctr">
              <a:lnSpc>
                <a:spcPts val="7608"/>
              </a:lnSpc>
              <a:spcBef>
                <a:spcPct val="0"/>
              </a:spcBef>
            </a:pPr>
            <a:r>
              <a:rPr lang="en-US" sz="6854" dirty="0">
                <a:solidFill>
                  <a:srgbClr val="000000"/>
                </a:solidFill>
                <a:latin typeface="Oswald"/>
                <a:ea typeface="Oswald"/>
                <a:cs typeface="Oswald"/>
                <a:sym typeface="Oswald"/>
              </a:rPr>
              <a:t>After</a:t>
            </a:r>
          </a:p>
        </p:txBody>
      </p:sp>
      <p:sp>
        <p:nvSpPr>
          <p:cNvPr id="24" name="Freeform 24"/>
          <p:cNvSpPr/>
          <p:nvPr/>
        </p:nvSpPr>
        <p:spPr>
          <a:xfrm>
            <a:off x="-1721079" y="-2478272"/>
            <a:ext cx="3952615" cy="3945428"/>
          </a:xfrm>
          <a:custGeom>
            <a:avLst/>
            <a:gdLst/>
            <a:ahLst/>
            <a:cxnLst/>
            <a:rect l="l" t="t" r="r" b="b"/>
            <a:pathLst>
              <a:path w="3952615" h="3945428">
                <a:moveTo>
                  <a:pt x="0" y="0"/>
                </a:moveTo>
                <a:lnTo>
                  <a:pt x="3952615" y="0"/>
                </a:lnTo>
                <a:lnTo>
                  <a:pt x="3952615" y="3945428"/>
                </a:lnTo>
                <a:lnTo>
                  <a:pt x="0" y="3945428"/>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animBg="1"/>
      <p:bldP spid="13" grpId="0" animBg="1"/>
      <p:bldP spid="17" grpId="0" animBg="1"/>
      <p:bldP spid="18" grpId="0" animBg="1"/>
      <p:bldP spid="19" grpId="0" animBg="1"/>
      <p:bldP spid="20" grpId="0" animBg="1"/>
      <p:bldP spid="21" grpId="0" animBg="1"/>
      <p:bldP spid="22"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p:cNvGrpSpPr/>
        <p:nvPr/>
      </p:nvGrpSpPr>
      <p:grpSpPr>
        <a:xfrm>
          <a:off x="0" y="0"/>
          <a:ext cx="0" cy="0"/>
          <a:chOff x="0" y="0"/>
          <a:chExt cx="0" cy="0"/>
        </a:xfrm>
      </p:grpSpPr>
      <p:sp>
        <p:nvSpPr>
          <p:cNvPr id="2" name="Freeform 2"/>
          <p:cNvSpPr/>
          <p:nvPr/>
        </p:nvSpPr>
        <p:spPr>
          <a:xfrm>
            <a:off x="11960508" y="7534017"/>
            <a:ext cx="6461038" cy="3154804"/>
          </a:xfrm>
          <a:custGeom>
            <a:avLst/>
            <a:gdLst/>
            <a:ahLst/>
            <a:cxnLst/>
            <a:rect l="l" t="t" r="r" b="b"/>
            <a:pathLst>
              <a:path w="6461038" h="3154804">
                <a:moveTo>
                  <a:pt x="0" y="0"/>
                </a:moveTo>
                <a:lnTo>
                  <a:pt x="6461037" y="0"/>
                </a:lnTo>
                <a:lnTo>
                  <a:pt x="6461037" y="3154804"/>
                </a:lnTo>
                <a:lnTo>
                  <a:pt x="0" y="315480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12091075" y="186380"/>
            <a:ext cx="1574958" cy="1437149"/>
          </a:xfrm>
          <a:custGeom>
            <a:avLst/>
            <a:gdLst/>
            <a:ahLst/>
            <a:cxnLst/>
            <a:rect l="l" t="t" r="r" b="b"/>
            <a:pathLst>
              <a:path w="1574958" h="1437149">
                <a:moveTo>
                  <a:pt x="0" y="0"/>
                </a:moveTo>
                <a:lnTo>
                  <a:pt x="1574958" y="0"/>
                </a:lnTo>
                <a:lnTo>
                  <a:pt x="1574958" y="1437149"/>
                </a:lnTo>
                <a:lnTo>
                  <a:pt x="0" y="1437149"/>
                </a:lnTo>
                <a:lnTo>
                  <a:pt x="0" y="0"/>
                </a:lnTo>
                <a:close/>
              </a:path>
            </a:pathLst>
          </a:custGeom>
          <a:blipFill>
            <a:blip r:embed="rId3"/>
            <a:stretch>
              <a:fillRect/>
            </a:stretch>
          </a:blipFill>
          <a:ln cap="sq">
            <a:noFill/>
            <a:prstDash val="solid"/>
            <a:miter/>
          </a:ln>
        </p:spPr>
        <p:txBody>
          <a:bodyPr/>
          <a:lstStyle/>
          <a:p>
            <a:endParaRPr lang="en-US"/>
          </a:p>
        </p:txBody>
      </p:sp>
      <p:sp>
        <p:nvSpPr>
          <p:cNvPr id="5" name="TextBox 5"/>
          <p:cNvSpPr txBox="1"/>
          <p:nvPr/>
        </p:nvSpPr>
        <p:spPr>
          <a:xfrm>
            <a:off x="3871117" y="186380"/>
            <a:ext cx="8970566" cy="1209947"/>
          </a:xfrm>
          <a:prstGeom prst="rect">
            <a:avLst/>
          </a:prstGeom>
        </p:spPr>
        <p:txBody>
          <a:bodyPr lIns="0" tIns="0" rIns="0" bIns="0" rtlCol="0" anchor="t">
            <a:spAutoFit/>
          </a:bodyPr>
          <a:lstStyle/>
          <a:p>
            <a:pPr algn="ctr">
              <a:lnSpc>
                <a:spcPts val="10466"/>
              </a:lnSpc>
              <a:spcBef>
                <a:spcPct val="0"/>
              </a:spcBef>
            </a:pPr>
            <a:r>
              <a:rPr lang="en-US" sz="8000" b="1" dirty="0">
                <a:solidFill>
                  <a:srgbClr val="000000"/>
                </a:solidFill>
                <a:latin typeface="Gagalin" panose="020B0604020202020204" charset="0"/>
                <a:ea typeface="Barbra"/>
                <a:cs typeface="Barbra"/>
                <a:sym typeface="Barbra"/>
              </a:rPr>
              <a:t>Data</a:t>
            </a:r>
            <a:r>
              <a:rPr lang="en-US" sz="8000" dirty="0">
                <a:solidFill>
                  <a:srgbClr val="000000"/>
                </a:solidFill>
                <a:latin typeface="Gagalin" panose="020B0604020202020204" charset="0"/>
                <a:ea typeface="Barbra"/>
                <a:cs typeface="Barbra"/>
                <a:sym typeface="Barbra"/>
              </a:rPr>
              <a:t> Modeling</a:t>
            </a:r>
          </a:p>
        </p:txBody>
      </p:sp>
      <p:sp>
        <p:nvSpPr>
          <p:cNvPr id="6" name="Freeform 6"/>
          <p:cNvSpPr/>
          <p:nvPr/>
        </p:nvSpPr>
        <p:spPr>
          <a:xfrm>
            <a:off x="-2179154" y="-2887863"/>
            <a:ext cx="5214119" cy="5204638"/>
          </a:xfrm>
          <a:custGeom>
            <a:avLst/>
            <a:gdLst/>
            <a:ahLst/>
            <a:cxnLst/>
            <a:rect l="l" t="t" r="r" b="b"/>
            <a:pathLst>
              <a:path w="5214119" h="5204638">
                <a:moveTo>
                  <a:pt x="0" y="0"/>
                </a:moveTo>
                <a:lnTo>
                  <a:pt x="5214118" y="0"/>
                </a:lnTo>
                <a:lnTo>
                  <a:pt x="5214118" y="5204639"/>
                </a:lnTo>
                <a:lnTo>
                  <a:pt x="0" y="520463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10" name="Picture 9">
            <a:extLst>
              <a:ext uri="{FF2B5EF4-FFF2-40B4-BE49-F238E27FC236}">
                <a16:creationId xmlns:a16="http://schemas.microsoft.com/office/drawing/2014/main" id="{0092F68A-8BAD-4B82-3278-DAB6AF83CF52}"/>
              </a:ext>
            </a:extLst>
          </p:cNvPr>
          <p:cNvPicPr>
            <a:picLocks noChangeAspect="1"/>
          </p:cNvPicPr>
          <p:nvPr/>
        </p:nvPicPr>
        <p:blipFill>
          <a:blip r:embed="rId5"/>
          <a:stretch>
            <a:fillRect/>
          </a:stretch>
        </p:blipFill>
        <p:spPr>
          <a:xfrm>
            <a:off x="2057400" y="2476500"/>
            <a:ext cx="13924231" cy="625391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5111" b="-15111"/>
            </a:stretch>
          </a:blipFill>
        </p:spPr>
        <p:txBody>
          <a:bodyPr/>
          <a:lstStyle/>
          <a:p>
            <a:endParaRPr lang="en-US"/>
          </a:p>
        </p:txBody>
      </p:sp>
      <p:sp>
        <p:nvSpPr>
          <p:cNvPr id="3" name="Freeform 3"/>
          <p:cNvSpPr/>
          <p:nvPr/>
        </p:nvSpPr>
        <p:spPr>
          <a:xfrm>
            <a:off x="14547881" y="8220113"/>
            <a:ext cx="4232984" cy="2066887"/>
          </a:xfrm>
          <a:custGeom>
            <a:avLst/>
            <a:gdLst/>
            <a:ahLst/>
            <a:cxnLst/>
            <a:rect l="l" t="t" r="r" b="b"/>
            <a:pathLst>
              <a:path w="4232984" h="2066887">
                <a:moveTo>
                  <a:pt x="0" y="0"/>
                </a:moveTo>
                <a:lnTo>
                  <a:pt x="4232984" y="0"/>
                </a:lnTo>
                <a:lnTo>
                  <a:pt x="4232984" y="2066887"/>
                </a:lnTo>
                <a:lnTo>
                  <a:pt x="0" y="206688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aphicFrame>
        <p:nvGraphicFramePr>
          <p:cNvPr id="4" name="Table 4"/>
          <p:cNvGraphicFramePr>
            <a:graphicFrameLocks noGrp="1"/>
          </p:cNvGraphicFramePr>
          <p:nvPr>
            <p:extLst>
              <p:ext uri="{D42A27DB-BD31-4B8C-83A1-F6EECF244321}">
                <p14:modId xmlns:p14="http://schemas.microsoft.com/office/powerpoint/2010/main" val="3467354012"/>
              </p:ext>
            </p:extLst>
          </p:nvPr>
        </p:nvGraphicFramePr>
        <p:xfrm>
          <a:off x="195999" y="1506904"/>
          <a:ext cx="17863401" cy="7827596"/>
        </p:xfrm>
        <a:graphic>
          <a:graphicData uri="http://schemas.openxmlformats.org/drawingml/2006/table">
            <a:tbl>
              <a:tblPr/>
              <a:tblGrid>
                <a:gridCol w="3025925">
                  <a:extLst>
                    <a:ext uri="{9D8B030D-6E8A-4147-A177-3AD203B41FA5}">
                      <a16:colId xmlns:a16="http://schemas.microsoft.com/office/drawing/2014/main" val="20000"/>
                    </a:ext>
                  </a:extLst>
                </a:gridCol>
                <a:gridCol w="2784760">
                  <a:extLst>
                    <a:ext uri="{9D8B030D-6E8A-4147-A177-3AD203B41FA5}">
                      <a16:colId xmlns:a16="http://schemas.microsoft.com/office/drawing/2014/main" val="20001"/>
                    </a:ext>
                  </a:extLst>
                </a:gridCol>
                <a:gridCol w="12052716">
                  <a:extLst>
                    <a:ext uri="{9D8B030D-6E8A-4147-A177-3AD203B41FA5}">
                      <a16:colId xmlns:a16="http://schemas.microsoft.com/office/drawing/2014/main" val="20002"/>
                    </a:ext>
                  </a:extLst>
                </a:gridCol>
              </a:tblGrid>
              <a:tr h="0">
                <a:tc>
                  <a:txBody>
                    <a:bodyPr/>
                    <a:lstStyle/>
                    <a:p>
                      <a:pPr algn="just">
                        <a:lnSpc>
                          <a:spcPts val="2799"/>
                        </a:lnSpc>
                        <a:defRPr/>
                      </a:pPr>
                      <a:r>
                        <a:rPr lang="en-US" sz="1999" b="1" dirty="0">
                          <a:solidFill>
                            <a:srgbClr val="000000"/>
                          </a:solidFill>
                          <a:latin typeface="Canva Sans Bold"/>
                          <a:ea typeface="Canva Sans Bold"/>
                          <a:cs typeface="Canva Sans Bold"/>
                          <a:sym typeface="Canva Sans Bold"/>
                        </a:rPr>
                        <a:t>     </a:t>
                      </a:r>
                      <a:r>
                        <a:rPr lang="en-US" sz="2400" b="1" u="sng" dirty="0">
                          <a:solidFill>
                            <a:srgbClr val="000000"/>
                          </a:solidFill>
                          <a:latin typeface="Canva Sans Bold"/>
                          <a:ea typeface="Canva Sans Bold"/>
                          <a:cs typeface="Canva Sans Bold"/>
                          <a:sym typeface="Canva Sans Bold"/>
                        </a:rPr>
                        <a:t>Measure Name</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rtl="0">
                        <a:lnSpc>
                          <a:spcPct val="100000"/>
                        </a:lnSpc>
                        <a:defRPr/>
                      </a:pPr>
                      <a:r>
                        <a:rPr lang="en-US" sz="2400" b="1" dirty="0">
                          <a:solidFill>
                            <a:srgbClr val="000000"/>
                          </a:solidFill>
                          <a:latin typeface="Canva Sans Bold"/>
                          <a:ea typeface="Canva Sans Bold"/>
                          <a:cs typeface="Canva Sans Bold"/>
                          <a:sym typeface="Canva Sans Bold"/>
                        </a:rPr>
                        <a:t>                                              </a:t>
                      </a:r>
                      <a:r>
                        <a:rPr lang="en-US" sz="2400" b="1" u="sng" dirty="0">
                          <a:solidFill>
                            <a:srgbClr val="000000"/>
                          </a:solidFill>
                          <a:latin typeface="Canva Sans Bold"/>
                          <a:ea typeface="Canva Sans Bold"/>
                          <a:cs typeface="Canva Sans Bold"/>
                          <a:sym typeface="Canva Sans Bold"/>
                        </a:rPr>
                        <a:t>DAX Formula</a:t>
                      </a:r>
                      <a:endParaRPr lang="en-US" sz="14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19"/>
                        </a:lnSpc>
                        <a:defRPr/>
                      </a:pPr>
                      <a:r>
                        <a:rPr lang="en-US" sz="2800" b="1" u="sng" dirty="0">
                          <a:solidFill>
                            <a:srgbClr val="000000"/>
                          </a:solidFill>
                          <a:latin typeface="Canva Sans Bold"/>
                          <a:ea typeface="Canva Sans Bold"/>
                          <a:cs typeface="Canva Sans Bold"/>
                          <a:sym typeface="Canva Sans Bold"/>
                        </a:rPr>
                        <a:t>Component Analysis</a:t>
                      </a:r>
                      <a:endParaRPr lang="en-US" sz="18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762076">
                <a:tc>
                  <a:txBody>
                    <a:bodyPr/>
                    <a:lstStyle/>
                    <a:p>
                      <a:pPr marL="480059" lvl="1" indent="-285750" algn="l">
                        <a:lnSpc>
                          <a:spcPts val="2519"/>
                        </a:lnSpc>
                        <a:buFont typeface="Arial" panose="020B0604020202020204" pitchFamily="34" charset="0"/>
                        <a:buChar char="•"/>
                        <a:defRPr/>
                      </a:pPr>
                      <a:r>
                        <a:rPr lang="en-US" sz="2000" b="1" dirty="0">
                          <a:solidFill>
                            <a:srgbClr val="000000"/>
                          </a:solidFill>
                          <a:latin typeface="Arial" panose="020B0604020202020204" pitchFamily="34" charset="0"/>
                          <a:cs typeface="Arial" panose="020B0604020202020204" pitchFamily="34" charset="0"/>
                          <a:sym typeface="Canva Sans Bold"/>
                        </a:rPr>
                        <a:t>Mean Time Between Failures</a:t>
                      </a:r>
                      <a:endParaRPr lang="en-US" sz="1400" b="1" dirty="0">
                        <a:latin typeface="Arial" panose="020B0604020202020204" pitchFamily="34" charset="0"/>
                        <a:cs typeface="Arial" panose="020B0604020202020204" pitchFamily="34" charset="0"/>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1959"/>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71627">
                <a:tc>
                  <a:txBody>
                    <a:bodyPr/>
                    <a:lstStyle/>
                    <a:p>
                      <a:pPr marL="365759" lvl="1" indent="-171450" algn="l">
                        <a:lnSpc>
                          <a:spcPts val="2519"/>
                        </a:lnSpc>
                        <a:buFont typeface="Arial" panose="020B0604020202020204" pitchFamily="34" charset="0"/>
                        <a:buChar char="•"/>
                        <a:defRPr/>
                      </a:pPr>
                      <a:endParaRPr lang="en-US" sz="2400" b="1"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41023">
                <a:tc>
                  <a:txBody>
                    <a:bodyPr/>
                    <a:lstStyle/>
                    <a:p>
                      <a:pPr marL="388617" lvl="1" indent="-194308" algn="l">
                        <a:lnSpc>
                          <a:spcPts val="2519"/>
                        </a:lnSpc>
                        <a:buFont typeface="Arial"/>
                        <a:buChar char="•"/>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239"/>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2239"/>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440350">
                <a:tc>
                  <a:txBody>
                    <a:bodyPr/>
                    <a:lstStyle/>
                    <a:p>
                      <a:pPr marL="388617" lvl="1" indent="-194308" algn="l">
                        <a:lnSpc>
                          <a:spcPts val="2519"/>
                        </a:lnSpc>
                        <a:buFont typeface="Arial"/>
                        <a:buChar char="•"/>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1680"/>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520"/>
                        </a:lnSpc>
                        <a:defRPr/>
                      </a:pP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AutoShape 5"/>
          <p:cNvSpPr/>
          <p:nvPr/>
        </p:nvSpPr>
        <p:spPr>
          <a:xfrm>
            <a:off x="3220687" y="3146445"/>
            <a:ext cx="2777377" cy="0"/>
          </a:xfrm>
          <a:prstGeom prst="line">
            <a:avLst/>
          </a:prstGeom>
          <a:ln w="38100" cap="flat">
            <a:solidFill>
              <a:srgbClr val="000000"/>
            </a:solidFill>
            <a:prstDash val="solid"/>
            <a:headEnd type="none" w="sm" len="sm"/>
            <a:tailEnd type="none" w="sm" len="sm"/>
          </a:ln>
        </p:spPr>
        <p:txBody>
          <a:bodyPr/>
          <a:lstStyle/>
          <a:p>
            <a:endParaRPr lang="en-US"/>
          </a:p>
        </p:txBody>
      </p:sp>
      <p:sp>
        <p:nvSpPr>
          <p:cNvPr id="11" name="TextBox 11"/>
          <p:cNvSpPr txBox="1"/>
          <p:nvPr/>
        </p:nvSpPr>
        <p:spPr>
          <a:xfrm>
            <a:off x="1028700" y="205288"/>
            <a:ext cx="7734300" cy="1038746"/>
          </a:xfrm>
          <a:prstGeom prst="rect">
            <a:avLst/>
          </a:prstGeom>
        </p:spPr>
        <p:txBody>
          <a:bodyPr wrap="square" lIns="0" tIns="0" rIns="0" bIns="0" rtlCol="0" anchor="t">
            <a:spAutoFit/>
          </a:bodyPr>
          <a:lstStyle/>
          <a:p>
            <a:pPr marL="0" lvl="0" indent="0" algn="l">
              <a:lnSpc>
                <a:spcPts val="8095"/>
              </a:lnSpc>
            </a:pPr>
            <a:r>
              <a:rPr lang="en-US" sz="7292" dirty="0">
                <a:solidFill>
                  <a:srgbClr val="000000"/>
                </a:solidFill>
                <a:latin typeface="Gagalin" panose="020B0604020202020204" charset="0"/>
                <a:ea typeface="Yellowtail"/>
                <a:cs typeface="Yellowtail"/>
                <a:sym typeface="Yellowtail"/>
              </a:rPr>
              <a:t>DAX Calculation</a:t>
            </a:r>
          </a:p>
        </p:txBody>
      </p:sp>
      <p:sp>
        <p:nvSpPr>
          <p:cNvPr id="14" name="AutoShape 14"/>
          <p:cNvSpPr/>
          <p:nvPr/>
        </p:nvSpPr>
        <p:spPr>
          <a:xfrm>
            <a:off x="3238278" y="3692544"/>
            <a:ext cx="2777377" cy="0"/>
          </a:xfrm>
          <a:prstGeom prst="line">
            <a:avLst/>
          </a:prstGeom>
          <a:ln w="38100" cap="flat">
            <a:solidFill>
              <a:srgbClr val="000000"/>
            </a:solidFill>
            <a:prstDash val="solid"/>
            <a:headEnd type="none" w="sm" len="sm"/>
            <a:tailEnd type="none" w="sm" len="sm"/>
          </a:ln>
        </p:spPr>
        <p:txBody>
          <a:bodyPr/>
          <a:lstStyle/>
          <a:p>
            <a:endParaRPr lang="en-US" dirty="0"/>
          </a:p>
        </p:txBody>
      </p:sp>
      <p:sp>
        <p:nvSpPr>
          <p:cNvPr id="15" name="TextBox 15"/>
          <p:cNvSpPr txBox="1"/>
          <p:nvPr/>
        </p:nvSpPr>
        <p:spPr>
          <a:xfrm>
            <a:off x="4379341" y="3888328"/>
            <a:ext cx="608863" cy="284309"/>
          </a:xfrm>
          <a:prstGeom prst="rect">
            <a:avLst/>
          </a:prstGeom>
        </p:spPr>
        <p:txBody>
          <a:bodyPr lIns="0" tIns="0" rIns="0" bIns="0" rtlCol="0" anchor="t">
            <a:spAutoFit/>
          </a:bodyPr>
          <a:lstStyle/>
          <a:p>
            <a:pPr algn="ctr">
              <a:lnSpc>
                <a:spcPts val="2520"/>
              </a:lnSpc>
              <a:spcBef>
                <a:spcPct val="0"/>
              </a:spcBef>
            </a:pPr>
            <a:r>
              <a:rPr lang="en-US" sz="1800" b="1" dirty="0">
                <a:solidFill>
                  <a:srgbClr val="000000"/>
                </a:solidFill>
                <a:latin typeface="Decalotype Bold"/>
                <a:ea typeface="Decalotype Bold"/>
                <a:cs typeface="Decalotype Bold"/>
                <a:sym typeface="Decalotype Bold"/>
              </a:rPr>
              <a:t> </a:t>
            </a:r>
          </a:p>
        </p:txBody>
      </p:sp>
      <p:sp>
        <p:nvSpPr>
          <p:cNvPr id="18" name="TextBox 18"/>
          <p:cNvSpPr txBox="1"/>
          <p:nvPr/>
        </p:nvSpPr>
        <p:spPr>
          <a:xfrm>
            <a:off x="4121508" y="6197083"/>
            <a:ext cx="1108972" cy="284309"/>
          </a:xfrm>
          <a:prstGeom prst="rect">
            <a:avLst/>
          </a:prstGeom>
        </p:spPr>
        <p:txBody>
          <a:bodyPr wrap="square" lIns="0" tIns="0" rIns="0" bIns="0" rtlCol="0" anchor="t">
            <a:spAutoFit/>
          </a:bodyPr>
          <a:lstStyle/>
          <a:p>
            <a:pPr algn="ctr">
              <a:lnSpc>
                <a:spcPts val="2520"/>
              </a:lnSpc>
              <a:spcBef>
                <a:spcPct val="0"/>
              </a:spcBef>
            </a:pPr>
            <a:r>
              <a:rPr lang="en-US" sz="1800" b="1" dirty="0">
                <a:solidFill>
                  <a:srgbClr val="000000"/>
                </a:solidFill>
                <a:latin typeface="Decalotype Bold"/>
                <a:ea typeface="Decalotype Bold"/>
                <a:cs typeface="Decalotype Bold"/>
                <a:sym typeface="Decalotype Bold"/>
              </a:rPr>
              <a:t>Average</a:t>
            </a:r>
          </a:p>
        </p:txBody>
      </p:sp>
      <p:sp>
        <p:nvSpPr>
          <p:cNvPr id="20" name="TextBox 20"/>
          <p:cNvSpPr txBox="1"/>
          <p:nvPr/>
        </p:nvSpPr>
        <p:spPr>
          <a:xfrm>
            <a:off x="242326" y="6126685"/>
            <a:ext cx="3106908" cy="298864"/>
          </a:xfrm>
          <a:prstGeom prst="rect">
            <a:avLst/>
          </a:prstGeom>
        </p:spPr>
        <p:txBody>
          <a:bodyPr lIns="0" tIns="0" rIns="0" bIns="0" rtlCol="0" anchor="t">
            <a:spAutoFit/>
          </a:bodyPr>
          <a:lstStyle/>
          <a:p>
            <a:pPr marL="388620" lvl="1" indent="-194310" algn="l">
              <a:lnSpc>
                <a:spcPts val="2520"/>
              </a:lnSpc>
              <a:buFont typeface="Arial"/>
              <a:buChar char="•"/>
            </a:pPr>
            <a:r>
              <a:rPr lang="en-US" sz="2000" b="1" dirty="0">
                <a:solidFill>
                  <a:srgbClr val="000000"/>
                </a:solidFill>
                <a:latin typeface="Arial" panose="020B0604020202020204" pitchFamily="34" charset="0"/>
                <a:ea typeface="Decalotype Bold"/>
                <a:cs typeface="Arial" panose="020B0604020202020204" pitchFamily="34" charset="0"/>
                <a:sym typeface="Decalotype Bold"/>
              </a:rPr>
              <a:t>Average processing</a:t>
            </a:r>
          </a:p>
        </p:txBody>
      </p:sp>
      <p:sp>
        <p:nvSpPr>
          <p:cNvPr id="22" name="TextBox 22"/>
          <p:cNvSpPr txBox="1"/>
          <p:nvPr/>
        </p:nvSpPr>
        <p:spPr>
          <a:xfrm>
            <a:off x="381000" y="7892395"/>
            <a:ext cx="2490192" cy="327718"/>
          </a:xfrm>
          <a:prstGeom prst="rect">
            <a:avLst/>
          </a:prstGeom>
        </p:spPr>
        <p:txBody>
          <a:bodyPr lIns="0" tIns="0" rIns="0" bIns="0" rtlCol="0" anchor="t">
            <a:spAutoFit/>
          </a:bodyPr>
          <a:lstStyle/>
          <a:p>
            <a:pPr marL="431799" lvl="1" indent="-215899" algn="l">
              <a:lnSpc>
                <a:spcPts val="2799"/>
              </a:lnSpc>
              <a:buFont typeface="Arial"/>
              <a:buChar char="•"/>
            </a:pPr>
            <a:r>
              <a:rPr lang="en-US" sz="2000" b="1" dirty="0">
                <a:solidFill>
                  <a:srgbClr val="000000"/>
                </a:solidFill>
                <a:latin typeface="Arial" panose="020B0604020202020204" pitchFamily="34" charset="0"/>
                <a:ea typeface="Decalotype Bold"/>
                <a:cs typeface="Arial" panose="020B0604020202020204" pitchFamily="34" charset="0"/>
                <a:sym typeface="Decalotype Bold"/>
              </a:rPr>
              <a:t>Success Rate</a:t>
            </a:r>
          </a:p>
        </p:txBody>
      </p:sp>
      <p:pic>
        <p:nvPicPr>
          <p:cNvPr id="25" name="Picture 24">
            <a:extLst>
              <a:ext uri="{FF2B5EF4-FFF2-40B4-BE49-F238E27FC236}">
                <a16:creationId xmlns:a16="http://schemas.microsoft.com/office/drawing/2014/main" id="{B1764E18-D5B3-BFB1-FABF-7CD951DA3904}"/>
              </a:ext>
            </a:extLst>
          </p:cNvPr>
          <p:cNvPicPr>
            <a:picLocks noChangeAspect="1"/>
          </p:cNvPicPr>
          <p:nvPr/>
        </p:nvPicPr>
        <p:blipFill>
          <a:blip r:embed="rId5"/>
          <a:stretch>
            <a:fillRect/>
          </a:stretch>
        </p:blipFill>
        <p:spPr>
          <a:xfrm>
            <a:off x="6320359" y="2741002"/>
            <a:ext cx="9991725" cy="1514475"/>
          </a:xfrm>
          <a:prstGeom prst="rect">
            <a:avLst/>
          </a:prstGeom>
        </p:spPr>
      </p:pic>
      <p:sp>
        <p:nvSpPr>
          <p:cNvPr id="28" name="TextBox 27">
            <a:extLst>
              <a:ext uri="{FF2B5EF4-FFF2-40B4-BE49-F238E27FC236}">
                <a16:creationId xmlns:a16="http://schemas.microsoft.com/office/drawing/2014/main" id="{49F24D1D-55B3-DCCA-1AC6-4C57700784A2}"/>
              </a:ext>
            </a:extLst>
          </p:cNvPr>
          <p:cNvSpPr txBox="1"/>
          <p:nvPr/>
        </p:nvSpPr>
        <p:spPr>
          <a:xfrm>
            <a:off x="4205171" y="2685515"/>
            <a:ext cx="1289128" cy="400110"/>
          </a:xfrm>
          <a:prstGeom prst="rect">
            <a:avLst/>
          </a:prstGeom>
          <a:noFill/>
        </p:spPr>
        <p:txBody>
          <a:bodyPr wrap="square" rtlCol="0">
            <a:spAutoFit/>
          </a:bodyPr>
          <a:lstStyle/>
          <a:p>
            <a:r>
              <a:rPr lang="en-US" sz="2000" b="1" dirty="0"/>
              <a:t>Divide</a:t>
            </a:r>
            <a:endParaRPr lang="en-US" sz="2400" b="1" dirty="0"/>
          </a:p>
        </p:txBody>
      </p:sp>
      <p:sp>
        <p:nvSpPr>
          <p:cNvPr id="29" name="AutoShape 4">
            <a:extLst>
              <a:ext uri="{FF2B5EF4-FFF2-40B4-BE49-F238E27FC236}">
                <a16:creationId xmlns:a16="http://schemas.microsoft.com/office/drawing/2014/main" id="{A59781F1-C6C0-18A8-DECF-49DB9E5A558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TextBox 29">
            <a:extLst>
              <a:ext uri="{FF2B5EF4-FFF2-40B4-BE49-F238E27FC236}">
                <a16:creationId xmlns:a16="http://schemas.microsoft.com/office/drawing/2014/main" id="{E84E6DE3-EEDD-2800-33E9-CD399DBA262D}"/>
              </a:ext>
            </a:extLst>
          </p:cNvPr>
          <p:cNvSpPr txBox="1"/>
          <p:nvPr/>
        </p:nvSpPr>
        <p:spPr>
          <a:xfrm>
            <a:off x="4271418" y="3237535"/>
            <a:ext cx="1289128" cy="400110"/>
          </a:xfrm>
          <a:prstGeom prst="rect">
            <a:avLst/>
          </a:prstGeom>
          <a:noFill/>
        </p:spPr>
        <p:txBody>
          <a:bodyPr wrap="square" rtlCol="0">
            <a:spAutoFit/>
          </a:bodyPr>
          <a:lstStyle/>
          <a:p>
            <a:r>
              <a:rPr lang="en-US" sz="2000" b="1" dirty="0"/>
              <a:t>Sum</a:t>
            </a:r>
            <a:endParaRPr lang="en-US" sz="2400" b="1" dirty="0"/>
          </a:p>
        </p:txBody>
      </p:sp>
      <p:sp>
        <p:nvSpPr>
          <p:cNvPr id="31" name="AutoShape 4">
            <a:extLst>
              <a:ext uri="{FF2B5EF4-FFF2-40B4-BE49-F238E27FC236}">
                <a16:creationId xmlns:a16="http://schemas.microsoft.com/office/drawing/2014/main" id="{2B72EE14-D649-C1E2-93D4-0C3976D0690F}"/>
              </a:ext>
            </a:extLst>
          </p:cNvPr>
          <p:cNvSpPr>
            <a:spLocks noChangeAspect="1" noChangeArrowheads="1"/>
          </p:cNvSpPr>
          <p:nvPr/>
        </p:nvSpPr>
        <p:spPr bwMode="auto">
          <a:xfrm>
            <a:off x="8920503" y="552438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TextBox 31">
            <a:extLst>
              <a:ext uri="{FF2B5EF4-FFF2-40B4-BE49-F238E27FC236}">
                <a16:creationId xmlns:a16="http://schemas.microsoft.com/office/drawing/2014/main" id="{31D5C9E0-EEDE-BD0D-0A4D-4D7EB11B7FB2}"/>
              </a:ext>
            </a:extLst>
          </p:cNvPr>
          <p:cNvSpPr txBox="1"/>
          <p:nvPr/>
        </p:nvSpPr>
        <p:spPr>
          <a:xfrm>
            <a:off x="4121508" y="3685290"/>
            <a:ext cx="1838325" cy="707886"/>
          </a:xfrm>
          <a:prstGeom prst="rect">
            <a:avLst/>
          </a:prstGeom>
          <a:noFill/>
        </p:spPr>
        <p:txBody>
          <a:bodyPr wrap="square" rtlCol="0">
            <a:spAutoFit/>
          </a:bodyPr>
          <a:lstStyle/>
          <a:p>
            <a:r>
              <a:rPr lang="en-US" sz="2000" b="1" dirty="0"/>
              <a:t>Calculate, Count</a:t>
            </a:r>
          </a:p>
        </p:txBody>
      </p:sp>
      <p:pic>
        <p:nvPicPr>
          <p:cNvPr id="35" name="Picture 34">
            <a:extLst>
              <a:ext uri="{FF2B5EF4-FFF2-40B4-BE49-F238E27FC236}">
                <a16:creationId xmlns:a16="http://schemas.microsoft.com/office/drawing/2014/main" id="{2CC8DCDD-3369-6DA5-F7B4-4C2605B654BA}"/>
              </a:ext>
            </a:extLst>
          </p:cNvPr>
          <p:cNvPicPr>
            <a:picLocks noChangeAspect="1"/>
          </p:cNvPicPr>
          <p:nvPr/>
        </p:nvPicPr>
        <p:blipFill>
          <a:blip r:embed="rId6"/>
          <a:stretch>
            <a:fillRect/>
          </a:stretch>
        </p:blipFill>
        <p:spPr>
          <a:xfrm>
            <a:off x="6324600" y="4781434"/>
            <a:ext cx="11420475" cy="742950"/>
          </a:xfrm>
          <a:prstGeom prst="rect">
            <a:avLst/>
          </a:prstGeom>
        </p:spPr>
      </p:pic>
      <p:sp>
        <p:nvSpPr>
          <p:cNvPr id="36" name="AutoShape 8">
            <a:extLst>
              <a:ext uri="{FF2B5EF4-FFF2-40B4-BE49-F238E27FC236}">
                <a16:creationId xmlns:a16="http://schemas.microsoft.com/office/drawing/2014/main" id="{14BB8D99-CC54-FADF-AE64-5A3730F1715E}"/>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TextBox 36">
            <a:extLst>
              <a:ext uri="{FF2B5EF4-FFF2-40B4-BE49-F238E27FC236}">
                <a16:creationId xmlns:a16="http://schemas.microsoft.com/office/drawing/2014/main" id="{F74EA1F1-10FE-02F6-4D03-E4EA92115C37}"/>
              </a:ext>
            </a:extLst>
          </p:cNvPr>
          <p:cNvSpPr txBox="1"/>
          <p:nvPr/>
        </p:nvSpPr>
        <p:spPr>
          <a:xfrm>
            <a:off x="4139452" y="4621232"/>
            <a:ext cx="1289128" cy="400110"/>
          </a:xfrm>
          <a:prstGeom prst="rect">
            <a:avLst/>
          </a:prstGeom>
          <a:noFill/>
        </p:spPr>
        <p:txBody>
          <a:bodyPr wrap="square" rtlCol="0">
            <a:spAutoFit/>
          </a:bodyPr>
          <a:lstStyle/>
          <a:p>
            <a:r>
              <a:rPr lang="en-US" sz="2000" b="1" dirty="0"/>
              <a:t>Divide</a:t>
            </a:r>
            <a:endParaRPr lang="en-US" sz="2400" b="1" dirty="0"/>
          </a:p>
        </p:txBody>
      </p:sp>
      <p:sp>
        <p:nvSpPr>
          <p:cNvPr id="38" name="AutoShape 8">
            <a:extLst>
              <a:ext uri="{FF2B5EF4-FFF2-40B4-BE49-F238E27FC236}">
                <a16:creationId xmlns:a16="http://schemas.microsoft.com/office/drawing/2014/main" id="{065103A3-9A69-0B40-47C6-645F2AF2F9FF}"/>
              </a:ext>
            </a:extLst>
          </p:cNvPr>
          <p:cNvSpPr>
            <a:spLocks noChangeAspect="1" noChangeArrowheads="1"/>
          </p:cNvSpPr>
          <p:nvPr/>
        </p:nvSpPr>
        <p:spPr bwMode="auto">
          <a:xfrm>
            <a:off x="9075438" y="693154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9" name="TextBox 38">
            <a:extLst>
              <a:ext uri="{FF2B5EF4-FFF2-40B4-BE49-F238E27FC236}">
                <a16:creationId xmlns:a16="http://schemas.microsoft.com/office/drawing/2014/main" id="{21FD8898-0D26-8E8F-3F38-4E35196E8C0C}"/>
              </a:ext>
            </a:extLst>
          </p:cNvPr>
          <p:cNvSpPr txBox="1"/>
          <p:nvPr/>
        </p:nvSpPr>
        <p:spPr>
          <a:xfrm>
            <a:off x="4091262" y="5201033"/>
            <a:ext cx="1289128" cy="400110"/>
          </a:xfrm>
          <a:prstGeom prst="rect">
            <a:avLst/>
          </a:prstGeom>
          <a:noFill/>
        </p:spPr>
        <p:txBody>
          <a:bodyPr wrap="square" rtlCol="0">
            <a:spAutoFit/>
          </a:bodyPr>
          <a:lstStyle/>
          <a:p>
            <a:r>
              <a:rPr lang="en-US" sz="2000" b="1" dirty="0"/>
              <a:t>Average</a:t>
            </a:r>
            <a:endParaRPr lang="en-US" sz="2400" b="1" dirty="0"/>
          </a:p>
        </p:txBody>
      </p:sp>
      <p:sp>
        <p:nvSpPr>
          <p:cNvPr id="40" name="AutoShape 8">
            <a:extLst>
              <a:ext uri="{FF2B5EF4-FFF2-40B4-BE49-F238E27FC236}">
                <a16:creationId xmlns:a16="http://schemas.microsoft.com/office/drawing/2014/main" id="{2657CCF0-4056-FB87-A5D7-E38741B5BF09}"/>
              </a:ext>
            </a:extLst>
          </p:cNvPr>
          <p:cNvSpPr>
            <a:spLocks noChangeAspect="1" noChangeArrowheads="1"/>
          </p:cNvSpPr>
          <p:nvPr/>
        </p:nvSpPr>
        <p:spPr bwMode="auto">
          <a:xfrm>
            <a:off x="9031973" y="748283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AutoShape 14">
            <a:extLst>
              <a:ext uri="{FF2B5EF4-FFF2-40B4-BE49-F238E27FC236}">
                <a16:creationId xmlns:a16="http://schemas.microsoft.com/office/drawing/2014/main" id="{FB750EF5-AB11-A140-134B-B53EF329AD46}"/>
              </a:ext>
            </a:extLst>
          </p:cNvPr>
          <p:cNvSpPr/>
          <p:nvPr/>
        </p:nvSpPr>
        <p:spPr>
          <a:xfrm>
            <a:off x="3220687" y="5143500"/>
            <a:ext cx="2777377" cy="0"/>
          </a:xfrm>
          <a:prstGeom prst="line">
            <a:avLst/>
          </a:prstGeom>
          <a:ln w="38100" cap="flat">
            <a:solidFill>
              <a:srgbClr val="000000"/>
            </a:solidFill>
            <a:prstDash val="solid"/>
            <a:headEnd type="none" w="sm" len="sm"/>
            <a:tailEnd type="none" w="sm" len="sm"/>
          </a:ln>
        </p:spPr>
        <p:txBody>
          <a:bodyPr/>
          <a:lstStyle/>
          <a:p>
            <a:endParaRPr lang="en-US" dirty="0"/>
          </a:p>
        </p:txBody>
      </p:sp>
      <p:pic>
        <p:nvPicPr>
          <p:cNvPr id="46" name="Picture 45">
            <a:extLst>
              <a:ext uri="{FF2B5EF4-FFF2-40B4-BE49-F238E27FC236}">
                <a16:creationId xmlns:a16="http://schemas.microsoft.com/office/drawing/2014/main" id="{98431201-8679-08B4-939E-D24B1D6EA729}"/>
              </a:ext>
            </a:extLst>
          </p:cNvPr>
          <p:cNvPicPr>
            <a:picLocks noChangeAspect="1"/>
          </p:cNvPicPr>
          <p:nvPr/>
        </p:nvPicPr>
        <p:blipFill>
          <a:blip r:embed="rId7"/>
          <a:stretch>
            <a:fillRect/>
          </a:stretch>
        </p:blipFill>
        <p:spPr>
          <a:xfrm>
            <a:off x="6324600" y="5954166"/>
            <a:ext cx="11020425" cy="819150"/>
          </a:xfrm>
          <a:prstGeom prst="rect">
            <a:avLst/>
          </a:prstGeom>
        </p:spPr>
      </p:pic>
      <p:pic>
        <p:nvPicPr>
          <p:cNvPr id="48" name="Picture 47">
            <a:extLst>
              <a:ext uri="{FF2B5EF4-FFF2-40B4-BE49-F238E27FC236}">
                <a16:creationId xmlns:a16="http://schemas.microsoft.com/office/drawing/2014/main" id="{7A91FA01-88B0-7E6B-BA16-B39925611329}"/>
              </a:ext>
            </a:extLst>
          </p:cNvPr>
          <p:cNvPicPr>
            <a:picLocks noChangeAspect="1"/>
          </p:cNvPicPr>
          <p:nvPr/>
        </p:nvPicPr>
        <p:blipFill>
          <a:blip r:embed="rId8"/>
          <a:stretch>
            <a:fillRect/>
          </a:stretch>
        </p:blipFill>
        <p:spPr>
          <a:xfrm>
            <a:off x="6320359" y="7045943"/>
            <a:ext cx="10753725" cy="2181225"/>
          </a:xfrm>
          <a:prstGeom prst="rect">
            <a:avLst/>
          </a:prstGeom>
        </p:spPr>
      </p:pic>
      <p:sp>
        <p:nvSpPr>
          <p:cNvPr id="49" name="AutoShape 6">
            <a:extLst>
              <a:ext uri="{FF2B5EF4-FFF2-40B4-BE49-F238E27FC236}">
                <a16:creationId xmlns:a16="http://schemas.microsoft.com/office/drawing/2014/main" id="{402638DF-61FC-225A-0A9D-12809291547B}"/>
              </a:ext>
            </a:extLst>
          </p:cNvPr>
          <p:cNvSpPr/>
          <p:nvPr/>
        </p:nvSpPr>
        <p:spPr>
          <a:xfrm>
            <a:off x="3182325" y="8496300"/>
            <a:ext cx="2777508" cy="0"/>
          </a:xfrm>
          <a:prstGeom prst="line">
            <a:avLst/>
          </a:prstGeom>
          <a:ln w="38100" cap="flat">
            <a:solidFill>
              <a:srgbClr val="000000"/>
            </a:solidFill>
            <a:prstDash val="solid"/>
            <a:headEnd type="none" w="sm" len="sm"/>
            <a:tailEnd type="none" w="sm" len="sm"/>
          </a:ln>
        </p:spPr>
        <p:txBody>
          <a:bodyPr/>
          <a:lstStyle/>
          <a:p>
            <a:endParaRPr lang="en-US"/>
          </a:p>
        </p:txBody>
      </p:sp>
      <p:sp>
        <p:nvSpPr>
          <p:cNvPr id="53" name="TextBox 52">
            <a:extLst>
              <a:ext uri="{FF2B5EF4-FFF2-40B4-BE49-F238E27FC236}">
                <a16:creationId xmlns:a16="http://schemas.microsoft.com/office/drawing/2014/main" id="{9BA7AB02-2959-6DF3-46A0-95D71AB2B6C5}"/>
              </a:ext>
            </a:extLst>
          </p:cNvPr>
          <p:cNvSpPr txBox="1"/>
          <p:nvPr/>
        </p:nvSpPr>
        <p:spPr>
          <a:xfrm>
            <a:off x="3930573" y="7317951"/>
            <a:ext cx="1652234" cy="707886"/>
          </a:xfrm>
          <a:prstGeom prst="rect">
            <a:avLst/>
          </a:prstGeom>
          <a:noFill/>
        </p:spPr>
        <p:txBody>
          <a:bodyPr wrap="square" rtlCol="0">
            <a:spAutoFit/>
          </a:bodyPr>
          <a:lstStyle/>
          <a:p>
            <a:r>
              <a:rPr lang="en-US" sz="2000" b="1" dirty="0"/>
              <a:t>Calculate, Count</a:t>
            </a:r>
          </a:p>
        </p:txBody>
      </p:sp>
      <p:sp>
        <p:nvSpPr>
          <p:cNvPr id="54" name="TextBox 53">
            <a:extLst>
              <a:ext uri="{FF2B5EF4-FFF2-40B4-BE49-F238E27FC236}">
                <a16:creationId xmlns:a16="http://schemas.microsoft.com/office/drawing/2014/main" id="{096BA9ED-E054-348D-7828-AA8D75E80925}"/>
              </a:ext>
            </a:extLst>
          </p:cNvPr>
          <p:cNvSpPr txBox="1"/>
          <p:nvPr/>
        </p:nvSpPr>
        <p:spPr>
          <a:xfrm>
            <a:off x="4205171" y="8731301"/>
            <a:ext cx="1838325" cy="400110"/>
          </a:xfrm>
          <a:prstGeom prst="rect">
            <a:avLst/>
          </a:prstGeom>
          <a:noFill/>
        </p:spPr>
        <p:txBody>
          <a:bodyPr wrap="square" rtlCol="0">
            <a:spAutoFit/>
          </a:bodyPr>
          <a:lstStyle/>
          <a:p>
            <a:r>
              <a:rPr lang="en-US" sz="2000" b="1" dirty="0"/>
              <a:t>Divide</a:t>
            </a:r>
          </a:p>
        </p:txBody>
      </p:sp>
      <p:sp>
        <p:nvSpPr>
          <p:cNvPr id="6" name="TextBox 5">
            <a:extLst>
              <a:ext uri="{FF2B5EF4-FFF2-40B4-BE49-F238E27FC236}">
                <a16:creationId xmlns:a16="http://schemas.microsoft.com/office/drawing/2014/main" id="{214661E6-056D-E8DF-460C-4D69E3DAD11F}"/>
              </a:ext>
            </a:extLst>
          </p:cNvPr>
          <p:cNvSpPr txBox="1"/>
          <p:nvPr/>
        </p:nvSpPr>
        <p:spPr>
          <a:xfrm>
            <a:off x="329110" y="4911211"/>
            <a:ext cx="2893354" cy="689932"/>
          </a:xfrm>
          <a:prstGeom prst="rect">
            <a:avLst/>
          </a:prstGeom>
          <a:noFill/>
        </p:spPr>
        <p:txBody>
          <a:bodyPr wrap="square" rtlCol="0">
            <a:spAutoFit/>
          </a:bodyPr>
          <a:lstStyle/>
          <a:p>
            <a:pPr marL="365759" marR="0" lvl="1" indent="-171450" algn="l" defTabSz="914400" rtl="0" eaLnBrk="1" fontAlgn="auto" latinLnBrk="0" hangingPunct="1">
              <a:lnSpc>
                <a:spcPts val="2519"/>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Labor Efficiency</a:t>
            </a:r>
          </a:p>
          <a:p>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par>
                                <p:cTn id="28" presetID="10" presetClass="entr" presetSubtype="0" fill="hold"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500"/>
                                        <p:tgtEl>
                                          <p:spTgt spid="2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500"/>
                                        <p:tgtEl>
                                          <p:spTgt spid="4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9"/>
                                        </p:tgtEl>
                                        <p:attrNameLst>
                                          <p:attrName>style.visibility</p:attrName>
                                        </p:attrNameLst>
                                      </p:cBhvr>
                                      <p:to>
                                        <p:strVal val="visible"/>
                                      </p:to>
                                    </p:set>
                                    <p:animEffect transition="in" filter="fade">
                                      <p:cBhvr>
                                        <p:cTn id="44" dur="500"/>
                                        <p:tgtEl>
                                          <p:spTgt spid="39"/>
                                        </p:tgtEl>
                                      </p:cBhvr>
                                    </p:animEffect>
                                  </p:childTnLst>
                                </p:cTn>
                              </p:par>
                              <p:par>
                                <p:cTn id="45" presetID="10"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nodeType="with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fade">
                                      <p:cBhvr>
                                        <p:cTn id="58" dur="500"/>
                                        <p:tgtEl>
                                          <p:spTgt spid="4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fade">
                                      <p:cBhvr>
                                        <p:cTn id="66" dur="500"/>
                                        <p:tgtEl>
                                          <p:spTgt spid="4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3"/>
                                        </p:tgtEl>
                                        <p:attrNameLst>
                                          <p:attrName>style.visibility</p:attrName>
                                        </p:attrNameLst>
                                      </p:cBhvr>
                                      <p:to>
                                        <p:strVal val="visible"/>
                                      </p:to>
                                    </p:set>
                                    <p:animEffect transition="in" filter="fade">
                                      <p:cBhvr>
                                        <p:cTn id="69" dur="500"/>
                                        <p:tgtEl>
                                          <p:spTgt spid="5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4"/>
                                        </p:tgtEl>
                                        <p:attrNameLst>
                                          <p:attrName>style.visibility</p:attrName>
                                        </p:attrNameLst>
                                      </p:cBhvr>
                                      <p:to>
                                        <p:strVal val="visible"/>
                                      </p:to>
                                    </p:set>
                                    <p:animEffect transition="in" filter="fade">
                                      <p:cBhvr>
                                        <p:cTn id="72" dur="500"/>
                                        <p:tgtEl>
                                          <p:spTgt spid="5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9"/>
                                        </p:tgtEl>
                                        <p:attrNameLst>
                                          <p:attrName>style.visibility</p:attrName>
                                        </p:attrNameLst>
                                      </p:cBhvr>
                                      <p:to>
                                        <p:strVal val="visible"/>
                                      </p:to>
                                    </p:set>
                                    <p:animEffect transition="in" filter="fade">
                                      <p:cBhvr>
                                        <p:cTn id="75"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14" grpId="0" animBg="1"/>
      <p:bldP spid="18" grpId="0"/>
      <p:bldP spid="20" grpId="0"/>
      <p:bldP spid="22" grpId="0"/>
      <p:bldP spid="28" grpId="0"/>
      <p:bldP spid="30" grpId="0"/>
      <p:bldP spid="32" grpId="0"/>
      <p:bldP spid="37" grpId="0"/>
      <p:bldP spid="39" grpId="0"/>
      <p:bldP spid="43" grpId="0" animBg="1"/>
      <p:bldP spid="49" grpId="0" animBg="1"/>
      <p:bldP spid="53" grpId="0"/>
      <p:bldP spid="54"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a:extLst>
            <a:ext uri="{FF2B5EF4-FFF2-40B4-BE49-F238E27FC236}">
              <a16:creationId xmlns:a16="http://schemas.microsoft.com/office/drawing/2014/main" id="{692A298F-0C8C-6630-28EB-6C24A3DF1FC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F46EF56-CDE2-50A1-1EB6-C36302F02208}"/>
              </a:ext>
            </a:extLst>
          </p:cNvPr>
          <p:cNvSpPr txBox="1"/>
          <p:nvPr/>
        </p:nvSpPr>
        <p:spPr>
          <a:xfrm>
            <a:off x="175099" y="2157590"/>
            <a:ext cx="11331101" cy="5964197"/>
          </a:xfrm>
          <a:prstGeom prst="rect">
            <a:avLst/>
          </a:prstGeom>
        </p:spPr>
        <p:txBody>
          <a:bodyPr wrap="square" lIns="0" tIns="0" rIns="0" bIns="0" rtlCol="0" anchor="t">
            <a:spAutoFit/>
          </a:bodyPr>
          <a:lstStyle/>
          <a:p>
            <a:pPr algn="l">
              <a:lnSpc>
                <a:spcPts val="3639"/>
              </a:lnSpc>
              <a:spcBef>
                <a:spcPct val="0"/>
              </a:spcBef>
            </a:pPr>
            <a:r>
              <a:rPr lang="en-US" sz="3600" b="1" dirty="0">
                <a:solidFill>
                  <a:srgbClr val="000000"/>
                </a:solidFill>
                <a:latin typeface="Oswald Bold"/>
                <a:ea typeface="Oswald Bold"/>
                <a:cs typeface="Oswald Bold"/>
                <a:sym typeface="Oswald Bold"/>
              </a:rPr>
              <a:t>1. KPI Cards &amp; Gauges: </a:t>
            </a:r>
            <a:r>
              <a:rPr lang="en-US" sz="3600" dirty="0">
                <a:solidFill>
                  <a:srgbClr val="000000"/>
                </a:solidFill>
                <a:latin typeface="Oswald"/>
                <a:ea typeface="Oswald"/>
                <a:cs typeface="Oswald"/>
                <a:sym typeface="Oswald"/>
              </a:rPr>
              <a:t>Used to provide an instant "snapshot" of the most critical metrics, such as Total Energy Cost and Success Rate. They help managers spot deviations from targets in seconds.</a:t>
            </a: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en-US" sz="2599" dirty="0">
              <a:solidFill>
                <a:srgbClr val="000000"/>
              </a:solidFill>
              <a:latin typeface="Oswald"/>
              <a:ea typeface="Oswald"/>
              <a:cs typeface="Oswald"/>
              <a:sym typeface="Oswald"/>
            </a:endParaRPr>
          </a:p>
          <a:p>
            <a:pPr algn="l">
              <a:lnSpc>
                <a:spcPts val="3639"/>
              </a:lnSpc>
              <a:spcBef>
                <a:spcPct val="0"/>
              </a:spcBef>
            </a:pPr>
            <a:r>
              <a:rPr lang="en-US" sz="3600" b="1" dirty="0">
                <a:solidFill>
                  <a:srgbClr val="000000"/>
                </a:solidFill>
                <a:latin typeface="Oswald Bold"/>
                <a:ea typeface="Oswald Bold"/>
                <a:cs typeface="Oswald Bold"/>
                <a:sym typeface="Oswald Bold"/>
              </a:rPr>
              <a:t>2. Donut &amp; Pie Charts: </a:t>
            </a:r>
            <a:r>
              <a:rPr lang="en-US" sz="3600" dirty="0">
                <a:solidFill>
                  <a:srgbClr val="000000"/>
                </a:solidFill>
                <a:latin typeface="Oswald"/>
                <a:ea typeface="Oswald"/>
                <a:cs typeface="Oswald"/>
                <a:sym typeface="Oswald"/>
              </a:rPr>
              <a:t>Best for showing Part-to-Whole relationships. We use them to visualize the distribution of energy across different operations or to see the breakdown of downtime causes.</a:t>
            </a:r>
          </a:p>
          <a:p>
            <a:pPr algn="l">
              <a:lnSpc>
                <a:spcPts val="3639"/>
              </a:lnSpc>
              <a:spcBef>
                <a:spcPct val="0"/>
              </a:spcBef>
            </a:pPr>
            <a:endParaRPr lang="en-US" sz="2599" dirty="0">
              <a:solidFill>
                <a:srgbClr val="000000"/>
              </a:solidFill>
              <a:latin typeface="Oswald"/>
              <a:ea typeface="Oswald"/>
              <a:cs typeface="Oswald"/>
              <a:sym typeface="Oswald"/>
            </a:endParaRPr>
          </a:p>
        </p:txBody>
      </p:sp>
      <p:sp>
        <p:nvSpPr>
          <p:cNvPr id="3" name="Freeform 3">
            <a:extLst>
              <a:ext uri="{FF2B5EF4-FFF2-40B4-BE49-F238E27FC236}">
                <a16:creationId xmlns:a16="http://schemas.microsoft.com/office/drawing/2014/main" id="{EAF30C07-AD0A-609A-C45D-296105A334EB}"/>
              </a:ext>
            </a:extLst>
          </p:cNvPr>
          <p:cNvSpPr/>
          <p:nvPr/>
        </p:nvSpPr>
        <p:spPr>
          <a:xfrm>
            <a:off x="10972800" y="334499"/>
            <a:ext cx="1350498" cy="1270460"/>
          </a:xfrm>
          <a:custGeom>
            <a:avLst/>
            <a:gdLst/>
            <a:ahLst/>
            <a:cxnLst/>
            <a:rect l="l" t="t" r="r" b="b"/>
            <a:pathLst>
              <a:path w="1203778" h="1203778">
                <a:moveTo>
                  <a:pt x="0" y="0"/>
                </a:moveTo>
                <a:lnTo>
                  <a:pt x="1203779" y="0"/>
                </a:lnTo>
                <a:lnTo>
                  <a:pt x="1203779" y="1203779"/>
                </a:lnTo>
                <a:lnTo>
                  <a:pt x="0" y="120377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a:extLst>
              <a:ext uri="{FF2B5EF4-FFF2-40B4-BE49-F238E27FC236}">
                <a16:creationId xmlns:a16="http://schemas.microsoft.com/office/drawing/2014/main" id="{6D35774D-D5E5-4037-5764-170FBA8A7CB1}"/>
              </a:ext>
            </a:extLst>
          </p:cNvPr>
          <p:cNvSpPr txBox="1"/>
          <p:nvPr/>
        </p:nvSpPr>
        <p:spPr>
          <a:xfrm>
            <a:off x="5081603" y="445291"/>
            <a:ext cx="5988500" cy="1048877"/>
          </a:xfrm>
          <a:prstGeom prst="rect">
            <a:avLst/>
          </a:prstGeom>
        </p:spPr>
        <p:txBody>
          <a:bodyPr wrap="square" lIns="0" tIns="0" rIns="0" bIns="0" rtlCol="0" anchor="t">
            <a:spAutoFit/>
          </a:bodyPr>
          <a:lstStyle/>
          <a:p>
            <a:pPr algn="ctr">
              <a:lnSpc>
                <a:spcPts val="9190"/>
              </a:lnSpc>
              <a:spcBef>
                <a:spcPct val="0"/>
              </a:spcBef>
            </a:pPr>
            <a:r>
              <a:rPr lang="en-US" sz="6560" b="1" dirty="0">
                <a:solidFill>
                  <a:srgbClr val="000000"/>
                </a:solidFill>
                <a:latin typeface="Gagalin" panose="020B0604020202020204" charset="0"/>
                <a:ea typeface="Decalotype Bold"/>
                <a:cs typeface="Decalotype Bold"/>
                <a:sym typeface="Decalotype Bold"/>
              </a:rPr>
              <a:t>Sample Visual</a:t>
            </a:r>
          </a:p>
        </p:txBody>
      </p:sp>
      <p:sp>
        <p:nvSpPr>
          <p:cNvPr id="5" name="Freeform 5">
            <a:extLst>
              <a:ext uri="{FF2B5EF4-FFF2-40B4-BE49-F238E27FC236}">
                <a16:creationId xmlns:a16="http://schemas.microsoft.com/office/drawing/2014/main" id="{BC1C21C1-7323-5CC7-329C-5E54F9CFD4A8}"/>
              </a:ext>
            </a:extLst>
          </p:cNvPr>
          <p:cNvSpPr/>
          <p:nvPr/>
        </p:nvSpPr>
        <p:spPr>
          <a:xfrm>
            <a:off x="12945440" y="8013992"/>
            <a:ext cx="5769763" cy="2817267"/>
          </a:xfrm>
          <a:custGeom>
            <a:avLst/>
            <a:gdLst/>
            <a:ahLst/>
            <a:cxnLst/>
            <a:rect l="l" t="t" r="r" b="b"/>
            <a:pathLst>
              <a:path w="5769763" h="2817267">
                <a:moveTo>
                  <a:pt x="0" y="0"/>
                </a:moveTo>
                <a:lnTo>
                  <a:pt x="5769763" y="0"/>
                </a:lnTo>
                <a:lnTo>
                  <a:pt x="5769763" y="2817268"/>
                </a:lnTo>
                <a:lnTo>
                  <a:pt x="0" y="28172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a:extLst>
              <a:ext uri="{FF2B5EF4-FFF2-40B4-BE49-F238E27FC236}">
                <a16:creationId xmlns:a16="http://schemas.microsoft.com/office/drawing/2014/main" id="{1D796799-4D41-12B8-4A85-6A478B0928D0}"/>
              </a:ext>
            </a:extLst>
          </p:cNvPr>
          <p:cNvSpPr/>
          <p:nvPr/>
        </p:nvSpPr>
        <p:spPr>
          <a:xfrm>
            <a:off x="-1721079" y="-2478272"/>
            <a:ext cx="4513046" cy="4504840"/>
          </a:xfrm>
          <a:custGeom>
            <a:avLst/>
            <a:gdLst/>
            <a:ahLst/>
            <a:cxnLst/>
            <a:rect l="l" t="t" r="r" b="b"/>
            <a:pathLst>
              <a:path w="4513046" h="4504840">
                <a:moveTo>
                  <a:pt x="0" y="0"/>
                </a:moveTo>
                <a:lnTo>
                  <a:pt x="4513046" y="0"/>
                </a:lnTo>
                <a:lnTo>
                  <a:pt x="4513046" y="4504841"/>
                </a:lnTo>
                <a:lnTo>
                  <a:pt x="0" y="45048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8" name="Picture 7">
            <a:extLst>
              <a:ext uri="{FF2B5EF4-FFF2-40B4-BE49-F238E27FC236}">
                <a16:creationId xmlns:a16="http://schemas.microsoft.com/office/drawing/2014/main" id="{A0D3F5F9-ECB8-8F4A-C705-ADE7EA25166B}"/>
              </a:ext>
            </a:extLst>
          </p:cNvPr>
          <p:cNvPicPr>
            <a:picLocks noChangeAspect="1"/>
          </p:cNvPicPr>
          <p:nvPr/>
        </p:nvPicPr>
        <p:blipFill>
          <a:blip r:embed="rId5"/>
          <a:srcRect t="3626"/>
          <a:stretch>
            <a:fillRect/>
          </a:stretch>
        </p:blipFill>
        <p:spPr>
          <a:xfrm>
            <a:off x="11887200" y="5008324"/>
            <a:ext cx="4232793" cy="4157817"/>
          </a:xfrm>
          <a:prstGeom prst="rect">
            <a:avLst/>
          </a:prstGeom>
        </p:spPr>
      </p:pic>
      <p:pic>
        <p:nvPicPr>
          <p:cNvPr id="12" name="Picture 11">
            <a:extLst>
              <a:ext uri="{FF2B5EF4-FFF2-40B4-BE49-F238E27FC236}">
                <a16:creationId xmlns:a16="http://schemas.microsoft.com/office/drawing/2014/main" id="{E651B955-D0C1-951A-39CE-794F31008965}"/>
              </a:ext>
            </a:extLst>
          </p:cNvPr>
          <p:cNvPicPr>
            <a:picLocks noChangeAspect="1"/>
          </p:cNvPicPr>
          <p:nvPr/>
        </p:nvPicPr>
        <p:blipFill>
          <a:blip r:embed="rId6"/>
          <a:srcRect l="-172" r="73093"/>
          <a:stretch>
            <a:fillRect/>
          </a:stretch>
        </p:blipFill>
        <p:spPr>
          <a:xfrm>
            <a:off x="13182601" y="1866167"/>
            <a:ext cx="3581400" cy="2182682"/>
          </a:xfrm>
          <a:prstGeom prst="rect">
            <a:avLst/>
          </a:prstGeom>
        </p:spPr>
      </p:pic>
    </p:spTree>
    <p:extLst>
      <p:ext uri="{BB962C8B-B14F-4D97-AF65-F5344CB8AC3E}">
        <p14:creationId xmlns:p14="http://schemas.microsoft.com/office/powerpoint/2010/main" val="2841049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Effect transition="in" filter="fade">
                                      <p:cBhvr>
                                        <p:cTn id="15" dur="500"/>
                                        <p:tgtEl>
                                          <p:spTgt spid="2">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Effect transition="in" filter="fade">
                                      <p:cBhvr>
                                        <p:cTn id="23" dur="500"/>
                                        <p:tgtEl>
                                          <p:spTgt spid="2">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p:cNvGrpSpPr/>
        <p:nvPr/>
      </p:nvGrpSpPr>
      <p:grpSpPr>
        <a:xfrm>
          <a:off x="0" y="0"/>
          <a:ext cx="0" cy="0"/>
          <a:chOff x="0" y="0"/>
          <a:chExt cx="0" cy="0"/>
        </a:xfrm>
      </p:grpSpPr>
      <p:sp>
        <p:nvSpPr>
          <p:cNvPr id="2" name="TextBox 2"/>
          <p:cNvSpPr txBox="1"/>
          <p:nvPr/>
        </p:nvSpPr>
        <p:spPr>
          <a:xfrm>
            <a:off x="175100" y="2157590"/>
            <a:ext cx="10895004" cy="8609152"/>
          </a:xfrm>
          <a:prstGeom prst="rect">
            <a:avLst/>
          </a:prstGeom>
        </p:spPr>
        <p:txBody>
          <a:bodyPr wrap="square" lIns="0" tIns="0" rIns="0" bIns="0" rtlCol="0" anchor="t">
            <a:spAutoFit/>
          </a:bodyPr>
          <a:lstStyle/>
          <a:p>
            <a:pPr algn="l">
              <a:lnSpc>
                <a:spcPts val="3639"/>
              </a:lnSpc>
              <a:spcBef>
                <a:spcPct val="0"/>
              </a:spcBef>
            </a:pPr>
            <a:r>
              <a:rPr lang="en-US" sz="3600" b="1" dirty="0">
                <a:solidFill>
                  <a:srgbClr val="000000"/>
                </a:solidFill>
                <a:latin typeface="Oswald Bold"/>
                <a:ea typeface="Oswald Bold"/>
                <a:cs typeface="Oswald Bold"/>
                <a:sym typeface="Oswald Bold"/>
              </a:rPr>
              <a:t>3. Area &amp; Line Charts:</a:t>
            </a:r>
            <a:r>
              <a:rPr lang="en-US" sz="3600" dirty="0">
                <a:solidFill>
                  <a:srgbClr val="000000"/>
                </a:solidFill>
                <a:latin typeface="Oswald"/>
                <a:ea typeface="Oswald"/>
                <a:cs typeface="Oswald"/>
                <a:sym typeface="Oswald"/>
              </a:rPr>
              <a:t> Ideal for tracking Trends over Time. These visuals highlight peak consumption periods and production fluctuations, helping in forecasting and demand planning.</a:t>
            </a:r>
            <a:endParaRPr lang="ar-EG" sz="3600" dirty="0">
              <a:solidFill>
                <a:srgbClr val="000000"/>
              </a:solidFill>
              <a:latin typeface="Oswald"/>
              <a:ea typeface="Oswald"/>
              <a:cs typeface="Oswald"/>
              <a:sym typeface="Oswald"/>
            </a:endParaRP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en-US" sz="2599" dirty="0">
              <a:solidFill>
                <a:srgbClr val="000000"/>
              </a:solidFill>
              <a:latin typeface="Oswald"/>
              <a:ea typeface="Oswald"/>
              <a:cs typeface="Oswald"/>
              <a:sym typeface="Oswald"/>
            </a:endParaRPr>
          </a:p>
          <a:p>
            <a:pPr algn="l">
              <a:lnSpc>
                <a:spcPts val="3639"/>
              </a:lnSpc>
              <a:spcBef>
                <a:spcPct val="0"/>
              </a:spcBef>
            </a:pPr>
            <a:endParaRPr lang="en-US" sz="2599" dirty="0">
              <a:solidFill>
                <a:srgbClr val="000000"/>
              </a:solidFill>
              <a:latin typeface="Oswald"/>
              <a:ea typeface="Oswald"/>
              <a:cs typeface="Oswald"/>
              <a:sym typeface="Oswald"/>
            </a:endParaRPr>
          </a:p>
          <a:p>
            <a:pPr algn="l">
              <a:lnSpc>
                <a:spcPts val="3639"/>
              </a:lnSpc>
              <a:spcBef>
                <a:spcPct val="0"/>
              </a:spcBef>
            </a:pPr>
            <a:r>
              <a:rPr lang="en-US" sz="3600" b="1" dirty="0">
                <a:solidFill>
                  <a:srgbClr val="000000"/>
                </a:solidFill>
                <a:latin typeface="Oswald Bold"/>
                <a:ea typeface="Oswald Bold"/>
                <a:cs typeface="Oswald Bold"/>
                <a:sym typeface="Oswald Bold"/>
              </a:rPr>
              <a:t>4. Clustered Column &amp; Bar Charts: </a:t>
            </a:r>
            <a:r>
              <a:rPr lang="en-US" sz="3600" dirty="0">
                <a:solidFill>
                  <a:srgbClr val="000000"/>
                </a:solidFill>
                <a:latin typeface="Oswald"/>
                <a:ea typeface="Oswald"/>
                <a:cs typeface="Oswald"/>
                <a:sym typeface="Oswald"/>
              </a:rPr>
              <a:t>Used for Comparative Analysis. They allow us to compare performance metrics—like success vs. failure rates—across different machines, shifts, or operators side-by-side.</a:t>
            </a: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ar-EG" sz="2599" dirty="0">
              <a:solidFill>
                <a:srgbClr val="000000"/>
              </a:solidFill>
              <a:latin typeface="Oswald"/>
              <a:ea typeface="Oswald"/>
              <a:cs typeface="Oswald"/>
              <a:sym typeface="Oswald"/>
            </a:endParaRPr>
          </a:p>
          <a:p>
            <a:pPr algn="l">
              <a:lnSpc>
                <a:spcPts val="3639"/>
              </a:lnSpc>
              <a:spcBef>
                <a:spcPct val="0"/>
              </a:spcBef>
            </a:pPr>
            <a:endParaRPr lang="en-US" sz="2599" dirty="0">
              <a:solidFill>
                <a:srgbClr val="000000"/>
              </a:solidFill>
              <a:latin typeface="Oswald"/>
              <a:ea typeface="Oswald"/>
              <a:cs typeface="Oswald"/>
              <a:sym typeface="Oswald"/>
            </a:endParaRPr>
          </a:p>
          <a:p>
            <a:pPr algn="l">
              <a:lnSpc>
                <a:spcPts val="3639"/>
              </a:lnSpc>
              <a:spcBef>
                <a:spcPct val="0"/>
              </a:spcBef>
            </a:pPr>
            <a:r>
              <a:rPr lang="en-US" sz="3600" b="1" dirty="0">
                <a:solidFill>
                  <a:srgbClr val="000000"/>
                </a:solidFill>
                <a:latin typeface="Oswald Bold"/>
                <a:ea typeface="Oswald Bold"/>
                <a:cs typeface="Oswald Bold"/>
                <a:sym typeface="Oswald Bold"/>
              </a:rPr>
              <a:t>5. Interactive Slicers &amp; Filters:</a:t>
            </a:r>
            <a:r>
              <a:rPr lang="en-US" sz="3600" dirty="0">
                <a:solidFill>
                  <a:srgbClr val="000000"/>
                </a:solidFill>
                <a:latin typeface="Oswald"/>
                <a:ea typeface="Oswald"/>
                <a:cs typeface="Oswald"/>
                <a:sym typeface="Oswald"/>
              </a:rPr>
              <a:t> The core of "Self-Service BI." They enable users to Drill Down into specific data points, such as filtering the entire report for a single Machine ID or a specific production date.</a:t>
            </a:r>
          </a:p>
          <a:p>
            <a:pPr algn="ctr">
              <a:lnSpc>
                <a:spcPts val="7139"/>
              </a:lnSpc>
              <a:spcBef>
                <a:spcPct val="0"/>
              </a:spcBef>
            </a:pPr>
            <a:endParaRPr lang="en-US" sz="2599" dirty="0">
              <a:solidFill>
                <a:srgbClr val="000000"/>
              </a:solidFill>
              <a:latin typeface="Oswald"/>
              <a:ea typeface="Oswald"/>
              <a:cs typeface="Oswald"/>
              <a:sym typeface="Oswald"/>
            </a:endParaRPr>
          </a:p>
        </p:txBody>
      </p:sp>
      <p:sp>
        <p:nvSpPr>
          <p:cNvPr id="3" name="Freeform 3"/>
          <p:cNvSpPr/>
          <p:nvPr/>
        </p:nvSpPr>
        <p:spPr>
          <a:xfrm>
            <a:off x="10972800" y="334499"/>
            <a:ext cx="1350498" cy="1270460"/>
          </a:xfrm>
          <a:custGeom>
            <a:avLst/>
            <a:gdLst/>
            <a:ahLst/>
            <a:cxnLst/>
            <a:rect l="l" t="t" r="r" b="b"/>
            <a:pathLst>
              <a:path w="1203778" h="1203778">
                <a:moveTo>
                  <a:pt x="0" y="0"/>
                </a:moveTo>
                <a:lnTo>
                  <a:pt x="1203779" y="0"/>
                </a:lnTo>
                <a:lnTo>
                  <a:pt x="1203779" y="1203779"/>
                </a:lnTo>
                <a:lnTo>
                  <a:pt x="0" y="120377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5081603" y="445291"/>
            <a:ext cx="5988500" cy="1048877"/>
          </a:xfrm>
          <a:prstGeom prst="rect">
            <a:avLst/>
          </a:prstGeom>
        </p:spPr>
        <p:txBody>
          <a:bodyPr wrap="square" lIns="0" tIns="0" rIns="0" bIns="0" rtlCol="0" anchor="t">
            <a:spAutoFit/>
          </a:bodyPr>
          <a:lstStyle/>
          <a:p>
            <a:pPr algn="ctr">
              <a:lnSpc>
                <a:spcPts val="9190"/>
              </a:lnSpc>
              <a:spcBef>
                <a:spcPct val="0"/>
              </a:spcBef>
            </a:pPr>
            <a:r>
              <a:rPr lang="en-US" sz="6560" b="1" dirty="0">
                <a:solidFill>
                  <a:srgbClr val="000000"/>
                </a:solidFill>
                <a:latin typeface="Gagalin" panose="020B0604020202020204" charset="0"/>
                <a:ea typeface="Decalotype Bold"/>
                <a:cs typeface="Decalotype Bold"/>
                <a:sym typeface="Decalotype Bold"/>
              </a:rPr>
              <a:t>Sample Visual</a:t>
            </a:r>
          </a:p>
        </p:txBody>
      </p:sp>
      <p:sp>
        <p:nvSpPr>
          <p:cNvPr id="5" name="Freeform 5"/>
          <p:cNvSpPr/>
          <p:nvPr/>
        </p:nvSpPr>
        <p:spPr>
          <a:xfrm>
            <a:off x="12945440" y="8013992"/>
            <a:ext cx="5769763" cy="2817267"/>
          </a:xfrm>
          <a:custGeom>
            <a:avLst/>
            <a:gdLst/>
            <a:ahLst/>
            <a:cxnLst/>
            <a:rect l="l" t="t" r="r" b="b"/>
            <a:pathLst>
              <a:path w="5769763" h="2817267">
                <a:moveTo>
                  <a:pt x="0" y="0"/>
                </a:moveTo>
                <a:lnTo>
                  <a:pt x="5769763" y="0"/>
                </a:lnTo>
                <a:lnTo>
                  <a:pt x="5769763" y="2817268"/>
                </a:lnTo>
                <a:lnTo>
                  <a:pt x="0" y="28172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721079" y="-2478272"/>
            <a:ext cx="4513046" cy="4504840"/>
          </a:xfrm>
          <a:custGeom>
            <a:avLst/>
            <a:gdLst/>
            <a:ahLst/>
            <a:cxnLst/>
            <a:rect l="l" t="t" r="r" b="b"/>
            <a:pathLst>
              <a:path w="4513046" h="4504840">
                <a:moveTo>
                  <a:pt x="0" y="0"/>
                </a:moveTo>
                <a:lnTo>
                  <a:pt x="4513046" y="0"/>
                </a:lnTo>
                <a:lnTo>
                  <a:pt x="4513046" y="4504841"/>
                </a:lnTo>
                <a:lnTo>
                  <a:pt x="0" y="45048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8" name="Picture 7">
            <a:extLst>
              <a:ext uri="{FF2B5EF4-FFF2-40B4-BE49-F238E27FC236}">
                <a16:creationId xmlns:a16="http://schemas.microsoft.com/office/drawing/2014/main" id="{C6EE9934-75F4-CD91-0896-24ADC5FD0CF6}"/>
              </a:ext>
            </a:extLst>
          </p:cNvPr>
          <p:cNvPicPr>
            <a:picLocks noChangeAspect="1"/>
          </p:cNvPicPr>
          <p:nvPr/>
        </p:nvPicPr>
        <p:blipFill>
          <a:blip r:embed="rId5"/>
          <a:stretch>
            <a:fillRect/>
          </a:stretch>
        </p:blipFill>
        <p:spPr>
          <a:xfrm>
            <a:off x="11734800" y="8267700"/>
            <a:ext cx="5486400" cy="1334022"/>
          </a:xfrm>
          <a:prstGeom prst="rect">
            <a:avLst/>
          </a:prstGeom>
        </p:spPr>
      </p:pic>
      <p:pic>
        <p:nvPicPr>
          <p:cNvPr id="10" name="Picture 9">
            <a:extLst>
              <a:ext uri="{FF2B5EF4-FFF2-40B4-BE49-F238E27FC236}">
                <a16:creationId xmlns:a16="http://schemas.microsoft.com/office/drawing/2014/main" id="{672DF7BC-8CB3-08E4-C54B-1010146D3ADB}"/>
              </a:ext>
            </a:extLst>
          </p:cNvPr>
          <p:cNvPicPr>
            <a:picLocks noChangeAspect="1"/>
          </p:cNvPicPr>
          <p:nvPr/>
        </p:nvPicPr>
        <p:blipFill>
          <a:blip r:embed="rId6"/>
          <a:stretch>
            <a:fillRect/>
          </a:stretch>
        </p:blipFill>
        <p:spPr>
          <a:xfrm>
            <a:off x="11886549" y="4656858"/>
            <a:ext cx="4166935" cy="2817267"/>
          </a:xfrm>
          <a:prstGeom prst="rect">
            <a:avLst/>
          </a:prstGeom>
        </p:spPr>
      </p:pic>
      <p:pic>
        <p:nvPicPr>
          <p:cNvPr id="12" name="Picture 11">
            <a:extLst>
              <a:ext uri="{FF2B5EF4-FFF2-40B4-BE49-F238E27FC236}">
                <a16:creationId xmlns:a16="http://schemas.microsoft.com/office/drawing/2014/main" id="{95D39E4D-1D55-3619-A5A3-33E663D2CE6E}"/>
              </a:ext>
            </a:extLst>
          </p:cNvPr>
          <p:cNvPicPr>
            <a:picLocks noChangeAspect="1"/>
          </p:cNvPicPr>
          <p:nvPr/>
        </p:nvPicPr>
        <p:blipFill>
          <a:blip r:embed="rId7"/>
          <a:stretch>
            <a:fillRect/>
          </a:stretch>
        </p:blipFill>
        <p:spPr>
          <a:xfrm>
            <a:off x="13106400" y="1604959"/>
            <a:ext cx="4114800" cy="26635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Effect transition="in" filter="fade">
                                      <p:cBhvr>
                                        <p:cTn id="15" dur="500"/>
                                        <p:tgtEl>
                                          <p:spTgt spid="2">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500"/>
                                        <p:tgtEl>
                                          <p:spTgt spid="2">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Effect transition="in" filter="fade">
                                      <p:cBhvr>
                                        <p:cTn id="31" dur="500"/>
                                        <p:tgtEl>
                                          <p:spTgt spid="2">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5111" b="-15111"/>
            </a:stretch>
          </a:blipFill>
        </p:spPr>
        <p:txBody>
          <a:bodyPr/>
          <a:lstStyle/>
          <a:p>
            <a:endParaRPr lang="en-US" dirty="0"/>
          </a:p>
        </p:txBody>
      </p:sp>
      <p:sp>
        <p:nvSpPr>
          <p:cNvPr id="3" name="TextBox 3"/>
          <p:cNvSpPr txBox="1"/>
          <p:nvPr/>
        </p:nvSpPr>
        <p:spPr>
          <a:xfrm>
            <a:off x="1752600" y="2167285"/>
            <a:ext cx="14782800" cy="3509615"/>
          </a:xfrm>
          <a:prstGeom prst="rect">
            <a:avLst/>
          </a:prstGeom>
        </p:spPr>
        <p:txBody>
          <a:bodyPr wrap="square" lIns="0" tIns="0" rIns="0" bIns="0" rtlCol="0" anchor="t">
            <a:spAutoFit/>
          </a:bodyPr>
          <a:lstStyle/>
          <a:p>
            <a:pPr algn="ctr">
              <a:lnSpc>
                <a:spcPts val="33485"/>
              </a:lnSpc>
              <a:spcBef>
                <a:spcPct val="0"/>
              </a:spcBef>
            </a:pPr>
            <a:r>
              <a:rPr lang="en-US" sz="11500" dirty="0">
                <a:solidFill>
                  <a:srgbClr val="000000"/>
                </a:solidFill>
                <a:latin typeface="Gagalin"/>
                <a:ea typeface="Gagalin"/>
                <a:cs typeface="Gagalin"/>
                <a:sym typeface="Gagalin"/>
              </a:rPr>
              <a:t>Reports &amp; Dashboard</a:t>
            </a:r>
          </a:p>
        </p:txBody>
      </p:sp>
      <p:sp>
        <p:nvSpPr>
          <p:cNvPr id="4" name="Freeform 4"/>
          <p:cNvSpPr/>
          <p:nvPr/>
        </p:nvSpPr>
        <p:spPr>
          <a:xfrm>
            <a:off x="1600200" y="5600700"/>
            <a:ext cx="1379029" cy="1447800"/>
          </a:xfrm>
          <a:custGeom>
            <a:avLst/>
            <a:gdLst/>
            <a:ahLst/>
            <a:cxnLst/>
            <a:rect l="l" t="t" r="r" b="b"/>
            <a:pathLst>
              <a:path w="3227021" h="3387949">
                <a:moveTo>
                  <a:pt x="0" y="0"/>
                </a:moveTo>
                <a:lnTo>
                  <a:pt x="3227021" y="0"/>
                </a:lnTo>
                <a:lnTo>
                  <a:pt x="3227021" y="3387948"/>
                </a:lnTo>
                <a:lnTo>
                  <a:pt x="0" y="338794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dirty="0"/>
          </a:p>
        </p:txBody>
      </p:sp>
      <p:sp>
        <p:nvSpPr>
          <p:cNvPr id="5" name="Freeform 5"/>
          <p:cNvSpPr/>
          <p:nvPr/>
        </p:nvSpPr>
        <p:spPr>
          <a:xfrm>
            <a:off x="-1721079" y="-2478272"/>
            <a:ext cx="5214119" cy="5204638"/>
          </a:xfrm>
          <a:custGeom>
            <a:avLst/>
            <a:gdLst/>
            <a:ahLst/>
            <a:cxnLst/>
            <a:rect l="l" t="t" r="r" b="b"/>
            <a:pathLst>
              <a:path w="5214119" h="5204638">
                <a:moveTo>
                  <a:pt x="0" y="0"/>
                </a:moveTo>
                <a:lnTo>
                  <a:pt x="5214119" y="0"/>
                </a:lnTo>
                <a:lnTo>
                  <a:pt x="5214119" y="5204639"/>
                </a:lnTo>
                <a:lnTo>
                  <a:pt x="0" y="520463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2945440" y="7849666"/>
            <a:ext cx="5769763" cy="2817267"/>
          </a:xfrm>
          <a:custGeom>
            <a:avLst/>
            <a:gdLst/>
            <a:ahLst/>
            <a:cxnLst/>
            <a:rect l="l" t="t" r="r" b="b"/>
            <a:pathLst>
              <a:path w="5769763" h="2817267">
                <a:moveTo>
                  <a:pt x="0" y="0"/>
                </a:moveTo>
                <a:lnTo>
                  <a:pt x="5769763" y="0"/>
                </a:lnTo>
                <a:lnTo>
                  <a:pt x="5769763" y="2817268"/>
                </a:lnTo>
                <a:lnTo>
                  <a:pt x="0" y="28172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4">
            <a:extLst>
              <a:ext uri="{FF2B5EF4-FFF2-40B4-BE49-F238E27FC236}">
                <a16:creationId xmlns:a16="http://schemas.microsoft.com/office/drawing/2014/main" id="{08F13CBD-225D-6155-2C1F-B4ED09E56110}"/>
              </a:ext>
            </a:extLst>
          </p:cNvPr>
          <p:cNvSpPr/>
          <p:nvPr/>
        </p:nvSpPr>
        <p:spPr>
          <a:xfrm>
            <a:off x="15316200" y="2650166"/>
            <a:ext cx="1350334" cy="1350334"/>
          </a:xfrm>
          <a:custGeom>
            <a:avLst/>
            <a:gdLst/>
            <a:ahLst/>
            <a:cxnLst/>
            <a:rect l="l" t="t" r="r" b="b"/>
            <a:pathLst>
              <a:path w="3067600" h="3067600">
                <a:moveTo>
                  <a:pt x="0" y="0"/>
                </a:moveTo>
                <a:lnTo>
                  <a:pt x="3067600" y="0"/>
                </a:lnTo>
                <a:lnTo>
                  <a:pt x="3067600" y="3067600"/>
                </a:lnTo>
                <a:lnTo>
                  <a:pt x="0" y="30676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16BB327-7AA9-4EC5-815F-9D8E6BC53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9309" y="172789"/>
            <a:ext cx="17909382" cy="9941421"/>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0" name="Add-in 9">
                <a:extLst>
                  <a:ext uri="{FF2B5EF4-FFF2-40B4-BE49-F238E27FC236}">
                    <a16:creationId xmlns:a16="http://schemas.microsoft.com/office/drawing/2014/main" id="{BB3449A6-393C-0B00-2CF8-409BE6122897}"/>
                  </a:ext>
                </a:extLst>
              </p:cNvPr>
              <p:cNvGraphicFramePr>
                <a:graphicFrameLocks noGrp="1"/>
              </p:cNvGraphicFramePr>
              <p:nvPr>
                <p:extLst>
                  <p:ext uri="{D42A27DB-BD31-4B8C-83A1-F6EECF244321}">
                    <p14:modId xmlns:p14="http://schemas.microsoft.com/office/powerpoint/2010/main" val="1709560649"/>
                  </p:ext>
                </p:extLst>
              </p:nvPr>
            </p:nvGraphicFramePr>
            <p:xfrm>
              <a:off x="1" y="0"/>
              <a:ext cx="18288000" cy="1028700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10" name="Add-in 9">
                <a:extLst>
                  <a:ext uri="{FF2B5EF4-FFF2-40B4-BE49-F238E27FC236}">
                    <a16:creationId xmlns:a16="http://schemas.microsoft.com/office/drawing/2014/main" id="{BB3449A6-393C-0B00-2CF8-409BE6122897}"/>
                  </a:ext>
                </a:extLst>
              </p:cNvPr>
              <p:cNvPicPr>
                <a:picLocks noGrp="1" noRot="1" noChangeAspect="1" noMove="1" noResize="1" noEditPoints="1" noAdjustHandles="1" noChangeArrowheads="1" noChangeShapeType="1"/>
              </p:cNvPicPr>
              <p:nvPr/>
            </p:nvPicPr>
            <p:blipFill>
              <a:blip r:embed="rId4"/>
              <a:stretch>
                <a:fillRect/>
              </a:stretch>
            </p:blipFill>
            <p:spPr>
              <a:xfrm>
                <a:off x="1" y="0"/>
                <a:ext cx="18288000" cy="10287000"/>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7E7E7"/>
        </a:solidFill>
        <a:effectLst/>
      </p:bgPr>
    </p:bg>
    <p:spTree>
      <p:nvGrpSpPr>
        <p:cNvPr id="1" name=""/>
        <p:cNvGrpSpPr/>
        <p:nvPr/>
      </p:nvGrpSpPr>
      <p:grpSpPr>
        <a:xfrm>
          <a:off x="0" y="0"/>
          <a:ext cx="0" cy="0"/>
          <a:chOff x="0" y="0"/>
          <a:chExt cx="0" cy="0"/>
        </a:xfrm>
      </p:grpSpPr>
      <p:sp>
        <p:nvSpPr>
          <p:cNvPr id="2" name="TextBox 2"/>
          <p:cNvSpPr txBox="1"/>
          <p:nvPr/>
        </p:nvSpPr>
        <p:spPr>
          <a:xfrm>
            <a:off x="179351" y="558280"/>
            <a:ext cx="10564849" cy="2618602"/>
          </a:xfrm>
          <a:prstGeom prst="rect">
            <a:avLst/>
          </a:prstGeom>
        </p:spPr>
        <p:txBody>
          <a:bodyPr wrap="square" lIns="0" tIns="0" rIns="0" bIns="0" rtlCol="0" anchor="t">
            <a:spAutoFit/>
          </a:bodyPr>
          <a:lstStyle/>
          <a:p>
            <a:pPr algn="ctr" rtl="1">
              <a:lnSpc>
                <a:spcPts val="6999"/>
              </a:lnSpc>
            </a:pPr>
            <a:r>
              <a:rPr lang="en-US" sz="4999" b="1" dirty="0">
                <a:solidFill>
                  <a:srgbClr val="000000"/>
                </a:solidFill>
                <a:latin typeface="Gagalin" panose="020B0604020202020204" charset="0"/>
                <a:ea typeface="Oswald Bold"/>
                <a:cs typeface="Oswald Bold"/>
                <a:sym typeface="Oswald Bold"/>
              </a:rPr>
              <a:t>Project Benefits &amp; Strategic Value</a:t>
            </a:r>
          </a:p>
          <a:p>
            <a:pPr algn="ctr" rtl="1">
              <a:lnSpc>
                <a:spcPts val="6999"/>
              </a:lnSpc>
            </a:pPr>
            <a:endParaRPr lang="en-US" sz="4999" b="1" dirty="0">
              <a:solidFill>
                <a:srgbClr val="000000"/>
              </a:solidFill>
              <a:latin typeface="Oswald Bold"/>
              <a:ea typeface="Oswald Bold"/>
              <a:cs typeface="Oswald Bold"/>
              <a:sym typeface="Oswald Bold"/>
            </a:endParaRPr>
          </a:p>
          <a:p>
            <a:pPr algn="ctr" rtl="1">
              <a:lnSpc>
                <a:spcPts val="6999"/>
              </a:lnSpc>
              <a:spcBef>
                <a:spcPct val="0"/>
              </a:spcBef>
            </a:pPr>
            <a:endParaRPr lang="en-US" sz="4999" b="1" dirty="0">
              <a:solidFill>
                <a:srgbClr val="000000"/>
              </a:solidFill>
              <a:latin typeface="Oswald Bold"/>
              <a:ea typeface="Oswald Bold"/>
              <a:cs typeface="Oswald Bold"/>
              <a:sym typeface="Oswald Bold"/>
            </a:endParaRPr>
          </a:p>
        </p:txBody>
      </p:sp>
      <p:sp>
        <p:nvSpPr>
          <p:cNvPr id="3" name="TextBox 3"/>
          <p:cNvSpPr txBox="1"/>
          <p:nvPr/>
        </p:nvSpPr>
        <p:spPr>
          <a:xfrm>
            <a:off x="355800" y="2273867"/>
            <a:ext cx="15828084" cy="6671005"/>
          </a:xfrm>
          <a:prstGeom prst="rect">
            <a:avLst/>
          </a:prstGeom>
        </p:spPr>
        <p:txBody>
          <a:bodyPr lIns="0" tIns="0" rIns="0" bIns="0" rtlCol="0" anchor="t">
            <a:spAutoFit/>
          </a:bodyPr>
          <a:lstStyle/>
          <a:p>
            <a:pPr algn="l">
              <a:lnSpc>
                <a:spcPts val="3506"/>
              </a:lnSpc>
            </a:pPr>
            <a:r>
              <a:rPr lang="en-US" sz="2504" b="1" dirty="0">
                <a:solidFill>
                  <a:srgbClr val="000000"/>
                </a:solidFill>
                <a:latin typeface="Oswald Bold"/>
                <a:ea typeface="Oswald Bold"/>
                <a:cs typeface="Oswald Bold"/>
                <a:sym typeface="Oswald Bold"/>
              </a:rPr>
              <a:t>1. Data-Driven Decision Making Empowers management to shift from "intuition-based" to "fact-based" decisions by providing real-time visibility into all factory floor operations.</a:t>
            </a:r>
          </a:p>
          <a:p>
            <a:pPr algn="l">
              <a:lnSpc>
                <a:spcPts val="3506"/>
              </a:lnSpc>
            </a:pPr>
            <a:endParaRPr lang="en-US" sz="2504" b="1" dirty="0">
              <a:solidFill>
                <a:srgbClr val="000000"/>
              </a:solidFill>
              <a:latin typeface="Oswald Bold"/>
              <a:ea typeface="Oswald Bold"/>
              <a:cs typeface="Oswald Bold"/>
              <a:sym typeface="Oswald Bold"/>
            </a:endParaRPr>
          </a:p>
          <a:p>
            <a:pPr algn="l">
              <a:lnSpc>
                <a:spcPts val="3506"/>
              </a:lnSpc>
            </a:pPr>
            <a:r>
              <a:rPr lang="en-US" sz="2504" b="1" dirty="0">
                <a:solidFill>
                  <a:srgbClr val="000000"/>
                </a:solidFill>
                <a:latin typeface="Oswald Bold"/>
                <a:ea typeface="Oswald Bold"/>
                <a:cs typeface="Oswald Bold"/>
                <a:sym typeface="Oswald Bold"/>
              </a:rPr>
              <a:t>2. Cost Reduction &amp; Resource Optimization Identifies high-energy consumption patterns and wasteful processes, leading to a significant reduction in Operational Expenses (OPEX).</a:t>
            </a:r>
          </a:p>
          <a:p>
            <a:pPr algn="l">
              <a:lnSpc>
                <a:spcPts val="3506"/>
              </a:lnSpc>
            </a:pPr>
            <a:endParaRPr lang="en-US" sz="2504" b="1" dirty="0">
              <a:solidFill>
                <a:srgbClr val="000000"/>
              </a:solidFill>
              <a:latin typeface="Oswald Bold"/>
              <a:ea typeface="Oswald Bold"/>
              <a:cs typeface="Oswald Bold"/>
              <a:sym typeface="Oswald Bold"/>
            </a:endParaRPr>
          </a:p>
          <a:p>
            <a:pPr algn="l">
              <a:lnSpc>
                <a:spcPts val="3506"/>
              </a:lnSpc>
              <a:spcBef>
                <a:spcPct val="0"/>
              </a:spcBef>
            </a:pPr>
            <a:r>
              <a:rPr lang="en-US" sz="2504" b="1" dirty="0">
                <a:solidFill>
                  <a:srgbClr val="000000"/>
                </a:solidFill>
                <a:latin typeface="Oswald Bold"/>
                <a:ea typeface="Oswald Bold"/>
                <a:cs typeface="Oswald Bold"/>
                <a:sym typeface="Oswald Bold"/>
              </a:rPr>
              <a:t>3. Enhanced Asset Utilization Maximizes machine uptime by analyzing downtime root causes and improving maintenance schedules through MTBF and MTTR metrics.</a:t>
            </a:r>
          </a:p>
          <a:p>
            <a:pPr algn="l">
              <a:lnSpc>
                <a:spcPts val="3506"/>
              </a:lnSpc>
              <a:spcBef>
                <a:spcPct val="0"/>
              </a:spcBef>
            </a:pPr>
            <a:endParaRPr lang="en-US" sz="2504" b="1" dirty="0">
              <a:solidFill>
                <a:srgbClr val="000000"/>
              </a:solidFill>
              <a:latin typeface="Oswald Bold"/>
              <a:ea typeface="Oswald Bold"/>
              <a:cs typeface="Oswald Bold"/>
              <a:sym typeface="Oswald Bold"/>
            </a:endParaRPr>
          </a:p>
          <a:p>
            <a:pPr algn="l">
              <a:lnSpc>
                <a:spcPts val="3506"/>
              </a:lnSpc>
              <a:spcBef>
                <a:spcPct val="0"/>
              </a:spcBef>
            </a:pPr>
            <a:r>
              <a:rPr lang="en-US" sz="2504" b="1" dirty="0">
                <a:solidFill>
                  <a:srgbClr val="000000"/>
                </a:solidFill>
                <a:latin typeface="Oswald Bold"/>
                <a:ea typeface="Oswald Bold"/>
                <a:cs typeface="Oswald Bold"/>
                <a:sym typeface="Oswald Bold"/>
              </a:rPr>
              <a:t>4. Quality &amp; Waste Management Minimizes production failures by correlating success rates with specific machines and operators, ensuring a higher standard of Quality Control (QC).</a:t>
            </a:r>
          </a:p>
          <a:p>
            <a:pPr algn="l">
              <a:lnSpc>
                <a:spcPts val="3506"/>
              </a:lnSpc>
              <a:spcBef>
                <a:spcPct val="0"/>
              </a:spcBef>
            </a:pPr>
            <a:endParaRPr lang="en-US" sz="2504" b="1" dirty="0">
              <a:solidFill>
                <a:srgbClr val="000000"/>
              </a:solidFill>
              <a:latin typeface="Oswald Bold"/>
              <a:ea typeface="Oswald Bold"/>
              <a:cs typeface="Oswald Bold"/>
              <a:sym typeface="Oswald Bold"/>
            </a:endParaRPr>
          </a:p>
          <a:p>
            <a:pPr algn="l">
              <a:lnSpc>
                <a:spcPts val="3506"/>
              </a:lnSpc>
              <a:spcBef>
                <a:spcPct val="0"/>
              </a:spcBef>
            </a:pPr>
            <a:r>
              <a:rPr lang="en-US" sz="2504" b="1" dirty="0">
                <a:solidFill>
                  <a:srgbClr val="000000"/>
                </a:solidFill>
                <a:latin typeface="Oswald Bold"/>
                <a:ea typeface="Oswald Bold"/>
                <a:cs typeface="Oswald Bold"/>
                <a:sym typeface="Oswald Bold"/>
              </a:rPr>
              <a:t>5. Operational Transparency Creates a "Single Source of Truth" where financial, technical, and labor data are integrated, eliminating communication gaps between departments.</a:t>
            </a:r>
          </a:p>
          <a:p>
            <a:pPr algn="ctr">
              <a:lnSpc>
                <a:spcPts val="3506"/>
              </a:lnSpc>
              <a:spcBef>
                <a:spcPct val="0"/>
              </a:spcBef>
            </a:pPr>
            <a:endParaRPr lang="en-US" sz="2504" b="1" dirty="0">
              <a:solidFill>
                <a:srgbClr val="000000"/>
              </a:solidFill>
              <a:latin typeface="Oswald Bold"/>
              <a:ea typeface="Oswald Bold"/>
              <a:cs typeface="Oswald Bold"/>
              <a:sym typeface="Oswald Bold"/>
            </a:endParaRPr>
          </a:p>
        </p:txBody>
      </p:sp>
      <p:sp>
        <p:nvSpPr>
          <p:cNvPr id="4" name="Freeform 4"/>
          <p:cNvSpPr/>
          <p:nvPr/>
        </p:nvSpPr>
        <p:spPr>
          <a:xfrm>
            <a:off x="14483305" y="7298857"/>
            <a:ext cx="5277936" cy="3292029"/>
          </a:xfrm>
          <a:custGeom>
            <a:avLst/>
            <a:gdLst/>
            <a:ahLst/>
            <a:cxnLst/>
            <a:rect l="l" t="t" r="r" b="b"/>
            <a:pathLst>
              <a:path w="5277936" h="3292029">
                <a:moveTo>
                  <a:pt x="0" y="0"/>
                </a:moveTo>
                <a:lnTo>
                  <a:pt x="5277936" y="0"/>
                </a:lnTo>
                <a:lnTo>
                  <a:pt x="5277936" y="3292029"/>
                </a:lnTo>
                <a:lnTo>
                  <a:pt x="0" y="329202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a:off x="15132204" y="-2020632"/>
            <a:ext cx="5214119" cy="5204638"/>
          </a:xfrm>
          <a:custGeom>
            <a:avLst/>
            <a:gdLst/>
            <a:ahLst/>
            <a:cxnLst/>
            <a:rect l="l" t="t" r="r" b="b"/>
            <a:pathLst>
              <a:path w="5214119" h="5204638">
                <a:moveTo>
                  <a:pt x="0" y="0"/>
                </a:moveTo>
                <a:lnTo>
                  <a:pt x="5214118" y="0"/>
                </a:lnTo>
                <a:lnTo>
                  <a:pt x="5214118" y="5204639"/>
                </a:lnTo>
                <a:lnTo>
                  <a:pt x="0" y="520463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15111" b="-15111"/>
            </a:stretch>
          </a:blipFill>
        </p:spPr>
        <p:txBody>
          <a:bodyPr/>
          <a:lstStyle/>
          <a:p>
            <a:endParaRPr lang="en-US"/>
          </a:p>
        </p:txBody>
      </p:sp>
      <p:sp>
        <p:nvSpPr>
          <p:cNvPr id="3" name="Freeform 3"/>
          <p:cNvSpPr/>
          <p:nvPr/>
        </p:nvSpPr>
        <p:spPr>
          <a:xfrm>
            <a:off x="13945313" y="0"/>
            <a:ext cx="4253113" cy="10287000"/>
          </a:xfrm>
          <a:custGeom>
            <a:avLst/>
            <a:gdLst/>
            <a:ahLst/>
            <a:cxnLst/>
            <a:rect l="l" t="t" r="r" b="b"/>
            <a:pathLst>
              <a:path w="4253113" h="10287000">
                <a:moveTo>
                  <a:pt x="0" y="0"/>
                </a:moveTo>
                <a:lnTo>
                  <a:pt x="4253112" y="0"/>
                </a:lnTo>
                <a:lnTo>
                  <a:pt x="4253112" y="10287000"/>
                </a:lnTo>
                <a:lnTo>
                  <a:pt x="0" y="102870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4531728" y="4183014"/>
            <a:ext cx="8727067" cy="2026196"/>
          </a:xfrm>
          <a:prstGeom prst="rect">
            <a:avLst/>
          </a:prstGeom>
        </p:spPr>
        <p:txBody>
          <a:bodyPr wrap="square" lIns="0" tIns="0" rIns="0" bIns="0" rtlCol="0" anchor="t">
            <a:spAutoFit/>
          </a:bodyPr>
          <a:lstStyle/>
          <a:p>
            <a:pPr marL="0" lvl="0" indent="0" algn="l">
              <a:lnSpc>
                <a:spcPts val="15797"/>
              </a:lnSpc>
              <a:spcBef>
                <a:spcPct val="0"/>
              </a:spcBef>
            </a:pPr>
            <a:r>
              <a:rPr lang="en-US" sz="14230" u="none" strike="noStrike" dirty="0">
                <a:solidFill>
                  <a:srgbClr val="000000"/>
                </a:solidFill>
                <a:latin typeface="Gagalin" panose="020B0604020202020204" charset="0"/>
                <a:ea typeface="Oswald"/>
                <a:cs typeface="Oswald"/>
                <a:sym typeface="Oswald"/>
              </a:rPr>
              <a:t>Thank You</a:t>
            </a:r>
          </a:p>
        </p:txBody>
      </p:sp>
      <p:sp>
        <p:nvSpPr>
          <p:cNvPr id="5" name="AutoShape 5"/>
          <p:cNvSpPr/>
          <p:nvPr/>
        </p:nvSpPr>
        <p:spPr>
          <a:xfrm>
            <a:off x="3583218" y="2503955"/>
            <a:ext cx="0" cy="5279090"/>
          </a:xfrm>
          <a:prstGeom prst="line">
            <a:avLst/>
          </a:prstGeom>
          <a:ln w="38100" cap="flat">
            <a:solidFill>
              <a:srgbClr val="000000"/>
            </a:solidFill>
            <a:prstDash val="solid"/>
            <a:headEnd type="none" w="sm" len="sm"/>
            <a:tailEnd type="none" w="sm" len="sm"/>
          </a:ln>
        </p:spPr>
        <p:txBody>
          <a:bodyPr/>
          <a:lstStyle/>
          <a:p>
            <a:endParaRPr lang="en-US"/>
          </a:p>
        </p:txBody>
      </p:sp>
      <p:sp>
        <p:nvSpPr>
          <p:cNvPr id="6" name="TextBox 6"/>
          <p:cNvSpPr txBox="1"/>
          <p:nvPr/>
        </p:nvSpPr>
        <p:spPr>
          <a:xfrm>
            <a:off x="237774" y="1449073"/>
            <a:ext cx="2892316" cy="623359"/>
          </a:xfrm>
          <a:prstGeom prst="rect">
            <a:avLst/>
          </a:prstGeom>
        </p:spPr>
        <p:txBody>
          <a:bodyPr lIns="0" tIns="0" rIns="0" bIns="0" rtlCol="0" anchor="t">
            <a:spAutoFit/>
          </a:bodyPr>
          <a:lstStyle/>
          <a:p>
            <a:pPr algn="ctr">
              <a:lnSpc>
                <a:spcPts val="2492"/>
              </a:lnSpc>
            </a:pPr>
            <a:r>
              <a:rPr lang="en-US" sz="1780" b="1">
                <a:solidFill>
                  <a:srgbClr val="231F20"/>
                </a:solidFill>
                <a:latin typeface="Decalotype Medium"/>
                <a:ea typeface="Decalotype Medium"/>
                <a:cs typeface="Decalotype Medium"/>
                <a:sym typeface="Decalotype Medium"/>
              </a:rPr>
              <a:t>Digital Egypt Pioneers Initiative</a:t>
            </a:r>
          </a:p>
          <a:p>
            <a:pPr marL="0" lvl="0" indent="0" algn="l">
              <a:lnSpc>
                <a:spcPts val="2492"/>
              </a:lnSpc>
            </a:pPr>
            <a:endParaRPr lang="en-US" sz="1780" b="1">
              <a:solidFill>
                <a:srgbClr val="231F20"/>
              </a:solidFill>
              <a:latin typeface="Decalotype Medium"/>
              <a:ea typeface="Decalotype Medium"/>
              <a:cs typeface="Decalotype Medium"/>
              <a:sym typeface="Decalotype Medium"/>
            </a:endParaRPr>
          </a:p>
        </p:txBody>
      </p:sp>
      <p:sp>
        <p:nvSpPr>
          <p:cNvPr id="7" name="Freeform 7"/>
          <p:cNvSpPr/>
          <p:nvPr/>
        </p:nvSpPr>
        <p:spPr>
          <a:xfrm>
            <a:off x="826851" y="140754"/>
            <a:ext cx="1464526" cy="1346419"/>
          </a:xfrm>
          <a:custGeom>
            <a:avLst/>
            <a:gdLst/>
            <a:ahLst/>
            <a:cxnLst/>
            <a:rect l="l" t="t" r="r" b="b"/>
            <a:pathLst>
              <a:path w="1464526" h="1346419">
                <a:moveTo>
                  <a:pt x="0" y="0"/>
                </a:moveTo>
                <a:lnTo>
                  <a:pt x="1464526" y="0"/>
                </a:lnTo>
                <a:lnTo>
                  <a:pt x="1464526" y="1346419"/>
                </a:lnTo>
                <a:lnTo>
                  <a:pt x="0" y="1346419"/>
                </a:lnTo>
                <a:lnTo>
                  <a:pt x="0" y="0"/>
                </a:lnTo>
                <a:close/>
              </a:path>
            </a:pathLst>
          </a:custGeom>
          <a:blipFill>
            <a:blip r:embed="rId5"/>
            <a:stretch>
              <a:fillRect/>
            </a:stretch>
          </a:blipFill>
        </p:spPr>
        <p:txBody>
          <a:bodyPr/>
          <a:lstStyle/>
          <a:p>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webextension1.xml><?xml version="1.0" encoding="utf-8"?>
<we:webextension xmlns:we="http://schemas.microsoft.com/office/webextensions/webextension/2010/11" id="{16F9614F-9461-4CE3-BEFD-D5F886503C5A}">
  <we:reference id="wa200003233" version="2.0.0.3" store="en-US" storeType="OMEX"/>
  <we:alternateReferences>
    <we:reference id="WA200003233" version="2.0.0.3" store="" storeType="OMEX"/>
  </we:alternateReferences>
  <we:properties>
    <we:property name="artifactViewState" value="&quot;live&quot;"/>
    <we:property name="backgroundColor" value="&quot;#12239E&quot;"/>
    <we:property name="bookmark" value="&quot;H4sIAAAAAAAAA+1ZWXPbNhD+Kx4+azogwDNvPpJpOrHjRq7z0PFoFgclJBSpgqQa1aP/3gVBybGs2JZvJdYTuVjsfvvtQdg496SuJjnMjmCsvDfeXll+HYP5uuN7Pa9wspCrNOIiizmwgBGSqIjjajmpdVlU3ptzrwYzVPWprhrIrSEU/n3W8yDPj2Fo3zLIK9XzJspUZQG5/k85ZVyqTaPmPU99m+SlAWuyX0OtrNkpquM7QvB/Y+gRRK2nqq9E7aSUCSJ94GEYBSD81KfUwq6cQotsrYo13brfL4sadIFurCyWSnIfYhnGjEWMMs5CK890XncqfPb228RgdBjzbGLJOSknR+jT6ViV0wVo2vPemXLcKnfsVg3/p1FmhhusHVU5zXOvv1jA5z8XD9dZKq2Jotb1zL4gr1CXZqCljf+kRUbmmIG+ypGMduN+mTfj1tmK67IxQn1S2cVLa3+OSTk21nTr42Pnw0NxhyHTKpeedfPRSGX2Zq2fA20WCaKrYe4Oh0YNoe5eLy8+GECUv2uKDgObzy1CTJP3Jp3bNUcPnfc2JfPzSBnVcVlIvYji/Qrm6mHpbtEDz9WPdy/Lam5/Z66bNmV2PQHXkTwq/903CntVWoJ6y5bYlVMoBEpXcdw//UuQhwonziq6t9jJw9kAs1M143Y6rRQDuQrbslXpYph3E+liOLjMeyJvKmxtJffA7I/A1Hb08S9Y43Yi4O7yyYr//tHbYnJTFDd++W5O7iMfw9LMbl+7m9bLWdt8KU14HEYi9kEkVDFJfHXjjO3AaYHpuV9tryXOgcR9gzblv05py7Jo6teavnOddCUNCU8k4YwqkaiUpj6jN5b0Dwvpd41OjBjNPqipyq/iXa5fXVpAPQWj3UGq+0BsGnP3WVza8S7RcGBPZ1btOyitcOdCYJe7AHBp9gv1FKDuJi3lr7bUz1oAt2vTnzV6Nyp44PMs4EyoTGYq9QmP/ddRsQWj4hCxYIT54K8Kvb9Oidcp8ZhTIvNJQH0S0Qy4j4cLAvy5z8iHIEa6UDvvD15mgz7un34O4OtJ+U7V4oo6CWIpSMIDxvw4AsIgju7+6XsJbG5eTmDkdpePFYUB+IxFSYSHmCRIs4zS4O6JPFRQNebW43c3z3e6LdVqCCdljR/oZSBVvWZSPWqOHjkWR38QCYbnRp+QhMScBiKM4UXQvzsdDnanoHPgOrfq28v+mlAc+Ryk4AGHBPyQRlEEIrr5y/wU5HeVgq+DPajFaIvJXxOKI1+GgrEwoqmgOIGikEt58/XMU5Dfb4TA/TufFme+7SR+JQxHuqBCgoQoixKpqExCSeRzn0X/KPnA3hE21V3Yhq4i+rkWynRKl9i3Rv2UkADiMJIkiYgQPA2f/Qx+4/+pHyj2kAaUpGmYQiJCzjjnIXsRjfYZ8Dg+OFa4rahhuM3NtiYU13BZnODRWEWBH0RcECZELKzVa4OaoIUjmOphe9eyktA2pxcSb9zWFj6UTV1NQKhjKNy15sTh06rVwzRCIZXsntvL7Q8aK8ABOIW8aW+B7dX+4uYRf/8D+x+YIFIgAAA=&quot;"/>
    <we:property name="creatorSessionId" value="&quot;94462b92-3dab-4bac-a547-559696315631&quot;"/>
    <we:property name="creatorTenantId" value="&quot;0280a459-0521-4ae1-86ac-586968ee5f02&quot;"/>
    <we:property name="creatorUserId" value="&quot;10032001BF9C8129&quot;"/>
    <we:property name="datasetId" value="&quot;4a3266de-f1a4-4fac-b2de-f342cf04f04d&quot;"/>
    <we:property name="embedUrl" value="&quot;/reportEmbed?reportId=9bc3ef2b-ad37-4797-b3c7-c486b795c3d2&amp;config=eyJjbHVzdGVyVXJsIjoiaHR0cHM6Ly9XQUJJLVNPVVRILUFGUklDQS1OT1JUSC1BLVBSSU1BUlktcmVkaXJlY3QuYW5hbHlzaXMud2luZG93cy5uZXQiLCJlbWJlZEZlYXR1cmVzIjp7InVzYWdlTWV0cmljc1ZOZXh0Ijp0cnVlfX0%3D&amp;disableSensitivityBanner=true&amp;storytellingChangeViewModeShortcutKeys=true&quot;"/>
    <we:property name="initialStateBookmark" value="&quot;H4sIAAAAAAAAA+1ZbW/bNhD+K4aAoRtgDKIkimK/uXkBui5NkBTZhyEw+HKy1cqSQUlZ3MD/fUdKWRInjl0vcZxh3yTqeLx77h4ej7r2dFZNczH7LCbgvfc+lOW3iTDfesTre0U3dnz86Whw+mn4eXB0gMPltM7KovLeX3u1MCOoz7OqEbnVgIN/XvQ9kecnYmTfUpFX0PemYKqyEHn2HVph/FSbBuZ9D66meWmEVXlWixqs2ksUx3dcm/wa4opC1dklnIGq29EEAs2VZkksKVEaYiY0ilWtgLPsURGr2i2/Vxa1yApcxo4RyaSSPI0FT0OiExqFsR1Ps7zuROTs4Gpq0Dv0eTa1qOyhraPSZErknvPCQNUafe3tlXkzcU8H98bPysYoOIXUfSrqrJ6hpvFMmkwPJ6JoUvS0MVkxGqpb9b2fg1+8OUJ1YkoE0s35rZRDC1dTuS/j8q89AzgFffTn/X+MHOhLUSjQDywcjEYGRqLuXg9e1/zDpuhCSx96c4EjFerMu9S5jeKX1kldFk29Nxamtskpv2IW2JjhtNJoMB9mLmz7mbnJn6C/4NgOozG/uEl/nPD1ToJ3+dc6t2UbL+b2KychVTJkUaK5jlXMVUJ2nDZHQo2R9sOP+2+SNmdqDLrJQQ8PCr2aOdt16AiwFixaPEDPRL6euSuJrvKmwswC3Rr2lim/IpK7wvp7fGlZDyADxiBNYp+J1OdcB9tk/aNZtkPVcKl93ZazJmFfGLBjfHDuDh21NuCiFGZX+PdDkL8Es9aDuKWPFKDShJJI4PlU+wmVTK+kz/+J+4NMfz4rShfG0gwzTR4PcWk24Y/aqRL26hRaE+aWQ5EPWsc++EKkEAepTJJgOYe6LlYFUZgABZ/SSGK7FwGjiPxrM+yO46toRmyCd95wxiI/lBEhNNACXaKpf+vN/fRvYbGmnN/01ZhLh6acOHy6zn+Ckgum9r02WX0b8T/GePLqIlvo7AaQjwvuV+sHv31xSz/ZbPS9c5E37m4BVf+eoTMtodwwir87FBkepd5ZYZshF/Pt7jx3A0Ok4DTWScRUyliQppKmywLzIjYua206+xIsOYRh04YsoIorJjnfqn1rYCgZ0JQwxXWKIPqJihXZmo1Ptogrt/VayBwOrtbc0snilv6cOWA3S9yo4ySMUhXFXGs8ctCYMbkT541N2hF8VFYvSn7JJrCwYZJNyrAwegfq74uA0SZAFNFY0oAEMgqCSAVxmDxx4OwYmIZSJMoXEQ81Z1wpppfuEuuVl/Hd8rKWu9uqPuNnrD79JSJ75WSaQ/2MNeqZL43JG7j9WrcZ+S+TfvmZ3HFdBzqIEx1EXKRplLAEVjeXO3wjuzKSokvVszxTYDqhe5G1SomAhHLqkyQKGSMBAUmtqidVT8UIPovLbORajwc6qQoBsI2IA64Z5wg4+JvX1SMQVWNgXaAHed7rplQPblwvR719yMWsd5QVG3Wm/4IdL+hHm+EBD4MED65YjygA4TbFdwN2bSsUrtI7RaR7P71l5B+64hpvK3Zrmzdxp098KJu6mgoFJ6JoS/S01ZWBk0PIRaHbjQhcZB6tke5PsecWQVAyPEavmGD/H3vOLGfc3zwv5YPKHgAA&quot;"/>
    <we:property name="isFiltersActionButtonVisible" value="true"/>
    <we:property name="isVisualContainerHeaderHidden" value="false"/>
    <we:property name="pageDisplayName" value="&quot;Energy Consumption &amp; Costing&quot;"/>
    <we:property name="pageName" value="&quot;23c0d1ab5564ac191221&quot;"/>
    <we:property name="reportEmbeddedTime" value="&quot;2026-06-19T09:09:44.581Z&quot;"/>
    <we:property name="reportName" value="&quot;Dashboard &amp; Reborts&quot;"/>
    <we:property name="reportState" value="&quot;CONNECTED&quot;"/>
    <we:property name="reportUrl" value="&quot;/links/HyXwUWyi9a?ctid=0280a459-0521-4ae1-86ac-586968ee5f02&amp;pbi_source=linkShare&amp;fromEntryPoint=shar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550</TotalTime>
  <Words>1037</Words>
  <Application>Microsoft Office PowerPoint</Application>
  <PresentationFormat>Custom</PresentationFormat>
  <Paragraphs>134</Paragraphs>
  <Slides>16</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Decalotype Medium</vt:lpstr>
      <vt:lpstr>Oswald</vt:lpstr>
      <vt:lpstr>Gagalin</vt:lpstr>
      <vt:lpstr>Aptos</vt:lpstr>
      <vt:lpstr>Decalotype</vt:lpstr>
      <vt:lpstr>Decalotype Bold</vt:lpstr>
      <vt:lpstr>Arial</vt:lpstr>
      <vt:lpstr>Oswald Bold</vt:lpstr>
      <vt:lpstr>Canva Sans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DEPI PROJECT</dc:title>
  <dc:creator>Mohamed Emad</dc:creator>
  <cp:lastModifiedBy>Mohamed Emad</cp:lastModifiedBy>
  <cp:revision>20</cp:revision>
  <dcterms:created xsi:type="dcterms:W3CDTF">2006-08-16T00:00:00Z</dcterms:created>
  <dcterms:modified xsi:type="dcterms:W3CDTF">2026-06-19T12:05:46Z</dcterms:modified>
  <dc:identifier>DAHGX3mZmzg</dc:identifier>
</cp:coreProperties>
</file>